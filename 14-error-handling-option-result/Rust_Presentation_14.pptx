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libri (MS) Bold" charset="1" panose="020F0702030404030204"/>
      <p:regular r:id="rId38"/>
    </p:embeddedFont>
    <p:embeddedFont>
      <p:font typeface="Calibri (MS)" charset="1" panose="020F0502020204030204"/>
      <p:regular r:id="rId39"/>
    </p:embeddedFont>
    <p:embeddedFont>
      <p:font typeface="Cambria Bold" charset="1" panose="02040803050406030204"/>
      <p:regular r:id="rId40"/>
    </p:embeddedFont>
    <p:embeddedFont>
      <p:font typeface="Calibri (MS) Italics" charset="1" panose="020F05020202040A0204"/>
      <p:regular r:id="rId42"/>
    </p:embeddedFont>
    <p:embeddedFont>
      <p:font typeface="Courier New" charset="1" panose="02070309020205020404"/>
      <p:regular r:id="rId44"/>
    </p:embeddedFont>
    <p:embeddedFont>
      <p:font typeface="Sarabun Bold" charset="1" panose="00000800000000000000"/>
      <p:regular r:id="rId57"/>
    </p:embeddedFont>
    <p:embeddedFont>
      <p:font typeface="Sarabun" charset="1" panose="00000500000000000000"/>
      <p:regular r:id="rId58"/>
    </p:embeddedFont>
    <p:embeddedFont>
      <p:font typeface="Sarabun Semi-Bold" charset="1" panose="00000700000000000000"/>
      <p:regular r:id="rId60"/>
    </p:embeddedFont>
    <p:embeddedFont>
      <p:font typeface="Cambria" charset="1" panose="02040503050406030204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3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4.xml" Type="http://schemas.openxmlformats.org/officeDocument/2006/relationships/notesSlide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fonts/font74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A141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8B2E2E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4652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C9A227">
                <a:alpha val="588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E8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432" y="2385606"/>
            <a:ext cx="16088868" cy="4404792"/>
            <a:chOff x="0" y="0"/>
            <a:chExt cx="21451824" cy="5873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5873055"/>
            </a:xfrm>
            <a:custGeom>
              <a:avLst/>
              <a:gdLst/>
              <a:ahLst/>
              <a:cxnLst/>
              <a:rect r="r" b="b" t="t" l="l"/>
              <a:pathLst>
                <a:path h="5873055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5873055"/>
                  </a:lnTo>
                  <a:lnTo>
                    <a:pt x="0" y="5873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44" r="0" b="117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451824" cy="588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กลุ่ม 14  —  Error Handling: Option &amp; Result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 กันต์ธร บุตรเบ้า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81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น.ส. ฉันทณัฏฐ วิชพันธุ์ 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น.ส. ณัฐกฤตา บุญมี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 ณัฐวีร์ บุญยินดี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B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540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4614" y="4800600"/>
            <a:ext cx="3610737" cy="411480"/>
            <a:chOff x="0" y="0"/>
            <a:chExt cx="481431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3099" y="297551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Rust’s Error handling philosophy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75757" y="3872608"/>
            <a:ext cx="1189308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ต้องการให้ข้อผิดพลาดเป็นชนิดข้อมูลที่เห็นได้ชัดเจน และออกแบบขั้นตอนเพื่อรับมือ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แสดงให้เห็น return type จากฟังก์ชันอย่างชัดเจน ทำให้นักพัฒนารู้ว่าต้องมีการรับมือกับปัญหาที่อาจเกิดขึ้นได้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03192" y="5746922"/>
            <a:ext cx="6160344" cy="781050"/>
            <a:chOff x="0" y="0"/>
            <a:chExt cx="12400176" cy="1572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00176" cy="1572178"/>
            </a:xfrm>
            <a:custGeom>
              <a:avLst/>
              <a:gdLst/>
              <a:ahLst/>
              <a:cxnLst/>
              <a:rect r="r" b="b" t="t" l="l"/>
              <a:pathLst>
                <a:path h="1572178" w="12400176">
                  <a:moveTo>
                    <a:pt x="0" y="36281"/>
                  </a:moveTo>
                  <a:cubicBezTo>
                    <a:pt x="0" y="16251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16251"/>
                    <a:pt x="12400176" y="36281"/>
                  </a:cubicBezTo>
                  <a:lnTo>
                    <a:pt x="12400176" y="1535897"/>
                  </a:lnTo>
                  <a:cubicBezTo>
                    <a:pt x="12400176" y="1555927"/>
                    <a:pt x="12348349" y="1572178"/>
                    <a:pt x="12284467" y="1572178"/>
                  </a:cubicBezTo>
                  <a:lnTo>
                    <a:pt x="115709" y="1572178"/>
                  </a:lnTo>
                  <a:cubicBezTo>
                    <a:pt x="51828" y="1572178"/>
                    <a:pt x="0" y="1555927"/>
                    <a:pt x="0" y="153589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6092" y="5955710"/>
            <a:ext cx="8133588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function(a: i32) -&gt; Option&lt;i32&gt;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2180" y="6662454"/>
            <a:ext cx="118930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ซึ่งช่วยให้นักพัฒนามองเห็นได้ว่าอาจจะเกิดข้อผิดพลาดอะไรได้บ้าง และกำหนดการทำงานเพื่อรับมือกับปัญหานั้นอย่างไร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180" y="3486845"/>
            <a:ext cx="1144666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การพัฒนาโปรแกรมต้องคำนึงถึงความผิดพลาดที่อาจเกิดขึ้น การรับมือแก้ไข้เพื่อให้โปรแกรมทำงานต่อไปได้จึงมี่ส่วนสำคัญอย่างมาก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06407" y="297551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Rust’s Error handling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04946" y="5811285"/>
            <a:ext cx="6160344" cy="2355314"/>
            <a:chOff x="0" y="0"/>
            <a:chExt cx="12400176" cy="4741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00176" cy="4741019"/>
            </a:xfrm>
            <a:custGeom>
              <a:avLst/>
              <a:gdLst/>
              <a:ahLst/>
              <a:cxnLst/>
              <a:rect r="r" b="b" t="t" l="l"/>
              <a:pathLst>
                <a:path h="4741019" w="12400176">
                  <a:moveTo>
                    <a:pt x="0" y="109408"/>
                  </a:moveTo>
                  <a:cubicBezTo>
                    <a:pt x="0" y="49006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49006"/>
                    <a:pt x="12400176" y="109408"/>
                  </a:cubicBezTo>
                  <a:lnTo>
                    <a:pt x="12400176" y="4631611"/>
                  </a:lnTo>
                  <a:cubicBezTo>
                    <a:pt x="12400176" y="4692013"/>
                    <a:pt x="12348349" y="4741019"/>
                    <a:pt x="12284467" y="4741019"/>
                  </a:cubicBezTo>
                  <a:lnTo>
                    <a:pt x="115709" y="4741019"/>
                  </a:lnTo>
                  <a:cubicBezTo>
                    <a:pt x="51828" y="4741019"/>
                    <a:pt x="0" y="4692013"/>
                    <a:pt x="0" y="463161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247860" y="6250945"/>
            <a:ext cx="55641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Option&lt;T&gt; {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Some(T),  // the value exists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None,     // no value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22180" y="3486845"/>
            <a:ext cx="11446665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Rust มีชนิดข้อมูลที่สำคัญ 2 ชนิดในการรับมือกับสถานการณ์ที่อาจเจอข้อมูบที่ต้องการ หรือต้องผบเจอกับข้อผิดพลาด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ใช้สำหรับรับมือกับความเป็นไปได้ที่เกิดขึ้นจากข้อมูลที่ต้องการไม่มีอยู่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ใช้รับมือกับปัญหาที่เกิดขึ้นจากการทำงานที่ล้มเหลว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222710" y="5811285"/>
            <a:ext cx="6160344" cy="2355314"/>
            <a:chOff x="0" y="0"/>
            <a:chExt cx="12400176" cy="47410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00176" cy="4741019"/>
            </a:xfrm>
            <a:custGeom>
              <a:avLst/>
              <a:gdLst/>
              <a:ahLst/>
              <a:cxnLst/>
              <a:rect r="r" b="b" t="t" l="l"/>
              <a:pathLst>
                <a:path h="4741019" w="12400176">
                  <a:moveTo>
                    <a:pt x="0" y="109408"/>
                  </a:moveTo>
                  <a:cubicBezTo>
                    <a:pt x="0" y="49006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49006"/>
                    <a:pt x="12400176" y="109408"/>
                  </a:cubicBezTo>
                  <a:lnTo>
                    <a:pt x="12400176" y="4631611"/>
                  </a:lnTo>
                  <a:cubicBezTo>
                    <a:pt x="12400176" y="4692013"/>
                    <a:pt x="12348349" y="4741019"/>
                    <a:pt x="12284467" y="4741019"/>
                  </a:cubicBezTo>
                  <a:lnTo>
                    <a:pt x="115709" y="4741019"/>
                  </a:lnTo>
                  <a:cubicBezTo>
                    <a:pt x="51828" y="4741019"/>
                    <a:pt x="0" y="4692013"/>
                    <a:pt x="0" y="463161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65624" y="6250945"/>
            <a:ext cx="581743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Result&lt;T, E&gt; {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Ok(T),   // success with value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Err(E),  // failure with error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Match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flow construct ใช้ในการเปรียบเทียบ variant ของข้อมูลชนิด enum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ตรวจสอบผลลัพธ์เป็น variant ของข้อมูล enum ใด และการดำเนินการจะแยกแต่ละกรณีออกจากกัน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ใช้กำหนดการทำงานตามผลลัพธ์ที่ได้เปรียบเทียบ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ใช้ช่วยกำหนดการทำงานสำหรับเหตุการณ์ต่างๆที่อาจเกิดขึ้นได้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780526" y="1582136"/>
            <a:ext cx="9220901" cy="4078435"/>
            <a:chOff x="0" y="0"/>
            <a:chExt cx="12294535" cy="54379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94536" cy="5437914"/>
            </a:xfrm>
            <a:custGeom>
              <a:avLst/>
              <a:gdLst/>
              <a:ahLst/>
              <a:cxnLst/>
              <a:rect r="r" b="b" t="t" l="l"/>
              <a:pathLst>
                <a:path h="5437914" w="12294536">
                  <a:moveTo>
                    <a:pt x="0" y="125490"/>
                  </a:moveTo>
                  <a:cubicBezTo>
                    <a:pt x="0" y="56209"/>
                    <a:pt x="51387" y="0"/>
                    <a:pt x="114723" y="0"/>
                  </a:cubicBezTo>
                  <a:lnTo>
                    <a:pt x="12179812" y="0"/>
                  </a:lnTo>
                  <a:cubicBezTo>
                    <a:pt x="12243149" y="0"/>
                    <a:pt x="12294536" y="56209"/>
                    <a:pt x="12294536" y="125490"/>
                  </a:cubicBezTo>
                  <a:lnTo>
                    <a:pt x="12294536" y="5312424"/>
                  </a:lnTo>
                  <a:cubicBezTo>
                    <a:pt x="12294536" y="5381704"/>
                    <a:pt x="12243149" y="5437914"/>
                    <a:pt x="12179812" y="5437914"/>
                  </a:cubicBezTo>
                  <a:lnTo>
                    <a:pt x="114723" y="5437914"/>
                  </a:lnTo>
                  <a:cubicBezTo>
                    <a:pt x="51387" y="5437914"/>
                    <a:pt x="0" y="5381704"/>
                    <a:pt x="0" y="531242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991408" y="1797506"/>
            <a:ext cx="9296592" cy="36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variant: Result&lt;String, String&gt; =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Result::Ok("hello world!".to_string());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match variant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Ok(value) =&gt; println!("Result: 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Err(_error) =&gt; println!("Error: something wrong"),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778240" y="6309360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8240" y="6789420"/>
            <a:ext cx="8819388" cy="844187"/>
            <a:chOff x="0" y="0"/>
            <a:chExt cx="11759184" cy="11255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125582"/>
            </a:xfrm>
            <a:custGeom>
              <a:avLst/>
              <a:gdLst/>
              <a:ahLst/>
              <a:cxnLst/>
              <a:rect r="r" b="b" t="t" l="l"/>
              <a:pathLst>
                <a:path h="1125582" w="11759185">
                  <a:moveTo>
                    <a:pt x="0" y="61395"/>
                  </a:moveTo>
                  <a:cubicBezTo>
                    <a:pt x="0" y="27500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7500"/>
                    <a:pt x="11759185" y="61395"/>
                  </a:cubicBezTo>
                  <a:lnTo>
                    <a:pt x="11759185" y="1064187"/>
                  </a:lnTo>
                  <a:cubicBezTo>
                    <a:pt x="11759185" y="1098082"/>
                    <a:pt x="11710036" y="1125582"/>
                    <a:pt x="11649456" y="1125582"/>
                  </a:cubicBezTo>
                  <a:lnTo>
                    <a:pt x="109728" y="1125582"/>
                  </a:lnTo>
                  <a:cubicBezTo>
                    <a:pt x="49149" y="1125582"/>
                    <a:pt x="0" y="1098082"/>
                    <a:pt x="0" y="106418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21140" y="6998208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Result: hello world!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Option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819413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เป็นข้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อมูลชนิด enum ใช้แทนที่ค่าที่อาจมีหรือไม่มีอยู่ โดยมีSome(T) แทนการมีค่า และ None แทนการไม่มีค่า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ให้ผลลัพธ์ชนิด Option ระบุไว้ชัดเจนว่า มีค่าที่ต้องการหรือไม่มี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ช่วยให้แบ่งแยกการทำงานได้อย่างชัดเจนเมื่อไม่สามารถหาค่าที่ต้องการได้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จะใช้ในกรณีที่ ผลลัพธ์ต้องรับมือการไม่มีค่าส่งกลับมา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93292"/>
            <a:ext cx="8819388" cy="5473781"/>
            <a:chOff x="0" y="0"/>
            <a:chExt cx="11759184" cy="72983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7298375"/>
            </a:xfrm>
            <a:custGeom>
              <a:avLst/>
              <a:gdLst/>
              <a:ahLst/>
              <a:cxnLst/>
              <a:rect r="r" b="b" t="t" l="l"/>
              <a:pathLst>
                <a:path h="7298375" w="11759185">
                  <a:moveTo>
                    <a:pt x="0" y="168424"/>
                  </a:moveTo>
                  <a:cubicBezTo>
                    <a:pt x="0" y="75440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75440"/>
                    <a:pt x="11759185" y="168424"/>
                  </a:cubicBezTo>
                  <a:lnTo>
                    <a:pt x="11759185" y="7129951"/>
                  </a:lnTo>
                  <a:cubicBezTo>
                    <a:pt x="11759185" y="7222935"/>
                    <a:pt x="11710036" y="7298375"/>
                    <a:pt x="11649456" y="7298375"/>
                  </a:cubicBezTo>
                  <a:lnTo>
                    <a:pt x="109728" y="7298375"/>
                  </a:lnTo>
                  <a:cubicBezTo>
                    <a:pt x="49149" y="7298375"/>
                    <a:pt x="0" y="7222935"/>
                    <a:pt x="0" y="712995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86900" y="1402080"/>
            <a:ext cx="8184663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get_user(id: u32) -&gt; Option&lt;String&gt;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id == 1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return Some("John".to_string());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None;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get_user(1)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Some(value)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None =&gt; println!("{}","Not found!"),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169537" y="6945609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69537" y="7425669"/>
            <a:ext cx="8819388" cy="747270"/>
            <a:chOff x="0" y="0"/>
            <a:chExt cx="11759184" cy="996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996359"/>
            </a:xfrm>
            <a:custGeom>
              <a:avLst/>
              <a:gdLst/>
              <a:ahLst/>
              <a:cxnLst/>
              <a:rect r="r" b="b" t="t" l="l"/>
              <a:pathLst>
                <a:path h="996359" w="11759185">
                  <a:moveTo>
                    <a:pt x="0" y="54347"/>
                  </a:moveTo>
                  <a:cubicBezTo>
                    <a:pt x="0" y="24343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4343"/>
                    <a:pt x="11759185" y="54347"/>
                  </a:cubicBezTo>
                  <a:lnTo>
                    <a:pt x="11759185" y="942012"/>
                  </a:lnTo>
                  <a:cubicBezTo>
                    <a:pt x="11759185" y="972017"/>
                    <a:pt x="11710036" y="996359"/>
                    <a:pt x="11649456" y="996359"/>
                  </a:cubicBezTo>
                  <a:lnTo>
                    <a:pt x="109728" y="996359"/>
                  </a:lnTo>
                  <a:cubicBezTo>
                    <a:pt x="49149" y="996359"/>
                    <a:pt x="0" y="972017"/>
                    <a:pt x="0" y="94201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12437" y="7634457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John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เป็นข้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อมูลชนิด enum ใช้แทนที่ผลลัพธ์จากการทำงานสำเร็จหรือล้มเหลว โดยมี Ok(T) และ Err(E)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ผลลัพธ์ชนิด Result ระบุไว้ชัดเจนว่า ค่าที่ได้มานั้นมาจากการทำงานที่สำเร็จหรือเกิดจากความล้มเหลว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ช่วยให้แบ่งแยกการทำงานได้อย่างชัดเจนเมื่อค่าที่ได้คืนเกิดจาก การทำงานสำเร็จ หรือ การล้มเหลว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ใช้ในรับมือกับผลลัพธ์ที่เกิดจากความล้มเหลว เพื่อให้โปรแกรมทำงานต่อไปได้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1312" y="1193292"/>
            <a:ext cx="8819388" cy="5451397"/>
            <a:chOff x="0" y="0"/>
            <a:chExt cx="11759184" cy="7268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7268530"/>
            </a:xfrm>
            <a:custGeom>
              <a:avLst/>
              <a:gdLst/>
              <a:ahLst/>
              <a:cxnLst/>
              <a:rect r="r" b="b" t="t" l="l"/>
              <a:pathLst>
                <a:path h="7268530" w="11759185">
                  <a:moveTo>
                    <a:pt x="0" y="167735"/>
                  </a:moveTo>
                  <a:cubicBezTo>
                    <a:pt x="0" y="75131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75131"/>
                    <a:pt x="11759185" y="167735"/>
                  </a:cubicBezTo>
                  <a:lnTo>
                    <a:pt x="11759185" y="7100794"/>
                  </a:lnTo>
                  <a:cubicBezTo>
                    <a:pt x="11759185" y="7193398"/>
                    <a:pt x="11710036" y="7268530"/>
                    <a:pt x="11649456" y="7268530"/>
                  </a:cubicBezTo>
                  <a:lnTo>
                    <a:pt x="109728" y="7268530"/>
                  </a:lnTo>
                  <a:cubicBezTo>
                    <a:pt x="49149" y="7268530"/>
                    <a:pt x="0" y="7193398"/>
                    <a:pt x="0" y="710079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04212" y="1402080"/>
            <a:ext cx="8138160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divide(a: i32,b: i32) -&gt; Result&lt;i32,String&gt;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b == 0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Err("B can’t be zero".to_string())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Ok(a / b);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divide(10,2)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Err(error) =&gt; println!("{error}"),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863598" y="6926968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63598" y="7407028"/>
            <a:ext cx="8819388" cy="802651"/>
            <a:chOff x="0" y="0"/>
            <a:chExt cx="11759184" cy="10702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070201"/>
            </a:xfrm>
            <a:custGeom>
              <a:avLst/>
              <a:gdLst/>
              <a:ahLst/>
              <a:cxnLst/>
              <a:rect r="r" b="b" t="t" l="l"/>
              <a:pathLst>
                <a:path h="1070201" w="11759185">
                  <a:moveTo>
                    <a:pt x="0" y="58375"/>
                  </a:moveTo>
                  <a:cubicBezTo>
                    <a:pt x="0" y="26147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6147"/>
                    <a:pt x="11759185" y="58375"/>
                  </a:cubicBezTo>
                  <a:lnTo>
                    <a:pt x="11759185" y="1011826"/>
                  </a:lnTo>
                  <a:cubicBezTo>
                    <a:pt x="11759185" y="1044054"/>
                    <a:pt x="11710036" y="1070201"/>
                    <a:pt x="11649456" y="1070201"/>
                  </a:cubicBezTo>
                  <a:lnTo>
                    <a:pt x="109728" y="1070201"/>
                  </a:lnTo>
                  <a:cubicBezTo>
                    <a:pt x="49149" y="1070201"/>
                    <a:pt x="0" y="1044054"/>
                    <a:pt x="0" y="101182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06498" y="7615816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68313" y="3327654"/>
            <a:ext cx="9706786" cy="3702438"/>
            <a:chOff x="0" y="0"/>
            <a:chExt cx="11759184" cy="4485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9185" cy="4485280"/>
            </a:xfrm>
            <a:custGeom>
              <a:avLst/>
              <a:gdLst/>
              <a:ahLst/>
              <a:cxnLst/>
              <a:rect r="r" b="b" t="t" l="l"/>
              <a:pathLst>
                <a:path h="4485280" w="11759185">
                  <a:moveTo>
                    <a:pt x="0" y="244652"/>
                  </a:moveTo>
                  <a:cubicBezTo>
                    <a:pt x="0" y="109584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109584"/>
                    <a:pt x="11759185" y="244652"/>
                  </a:cubicBezTo>
                  <a:lnTo>
                    <a:pt x="11759185" y="4240628"/>
                  </a:lnTo>
                  <a:cubicBezTo>
                    <a:pt x="11759185" y="4375696"/>
                    <a:pt x="11710036" y="4485280"/>
                    <a:pt x="11649456" y="4485280"/>
                  </a:cubicBezTo>
                  <a:lnTo>
                    <a:pt x="109728" y="4485280"/>
                  </a:lnTo>
                  <a:cubicBezTo>
                    <a:pt x="49149" y="4485280"/>
                    <a:pt x="0" y="4375696"/>
                    <a:pt x="0" y="4240628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915634" y="3807997"/>
            <a:ext cx="9845796" cy="322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divide(a: i32,b: i32) -&gt; Result&lt;i32,String&gt;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b == 0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Err("B </a:t>
            </a: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can’t be zero".to_string())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Ok(a / b);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325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423230" y="7093944"/>
            <a:ext cx="12295285" cy="4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41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ฟังก์ชันใช้ในหน้าต่อไป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Propagation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เมื่อได้รับผลลัพธ์กลับมา ทำการส่งต่อผลนั้นให้ฟังก์ชันก่อนหน้าในการตัดสินใจการทำงานอย่างไรต่อไป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แทนที่รับมือกับผลลัพธ์ที่มีโอกาสล้มเหลวเอง ทำการส่งผลความล้มเหลวกลับขึ้นฟังก์ชันก่อนหน้าที่มีข้อมูลที่เหมาะต่อการตัดสินใจการทำงานมากกว่า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แก้ไขปัญหากฟังก์ชันปัจจุบันไม่รู้บริบทมากพอที่จะตัดสินใจด้วยตัวเอง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หากไม่สามารถแก้ไขปัญหาได้ ควรส่งปัญหากลับขึ้นและใช้ข้อมูลที่มีมาตัดสินใจการทำงาน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944383" y="1193292"/>
            <a:ext cx="8819388" cy="6547776"/>
            <a:chOff x="0" y="0"/>
            <a:chExt cx="11759184" cy="8730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8730369"/>
            </a:xfrm>
            <a:custGeom>
              <a:avLst/>
              <a:gdLst/>
              <a:ahLst/>
              <a:cxnLst/>
              <a:rect r="r" b="b" t="t" l="l"/>
              <a:pathLst>
                <a:path h="8730369" w="11759185">
                  <a:moveTo>
                    <a:pt x="0" y="201470"/>
                  </a:moveTo>
                  <a:cubicBezTo>
                    <a:pt x="0" y="90242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90242"/>
                    <a:pt x="11759185" y="201470"/>
                  </a:cubicBezTo>
                  <a:lnTo>
                    <a:pt x="11759185" y="8528899"/>
                  </a:lnTo>
                  <a:cubicBezTo>
                    <a:pt x="11759185" y="8640127"/>
                    <a:pt x="11710036" y="8730369"/>
                    <a:pt x="11649456" y="8730369"/>
                  </a:cubicBezTo>
                  <a:lnTo>
                    <a:pt x="109728" y="8730369"/>
                  </a:lnTo>
                  <a:cubicBezTo>
                    <a:pt x="49149" y="8730369"/>
                    <a:pt x="0" y="8640127"/>
                    <a:pt x="0" y="852889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87283" y="1402080"/>
            <a:ext cx="8133588" cy="614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calculate() -&gt; Result&lt;i32, 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divide(10,0)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println!("success!!");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Ok(value);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return Err(error),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calculate()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println!("Result:{value}"),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println!("Error:{error}"),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944383" y="7907274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44383" y="8387334"/>
            <a:ext cx="8819388" cy="788805"/>
            <a:chOff x="0" y="0"/>
            <a:chExt cx="11759184" cy="1051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051741"/>
            </a:xfrm>
            <a:custGeom>
              <a:avLst/>
              <a:gdLst/>
              <a:ahLst/>
              <a:cxnLst/>
              <a:rect r="r" b="b" t="t" l="l"/>
              <a:pathLst>
                <a:path h="1051741" w="11759185">
                  <a:moveTo>
                    <a:pt x="0" y="57368"/>
                  </a:moveTo>
                  <a:cubicBezTo>
                    <a:pt x="0" y="25696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5696"/>
                    <a:pt x="11759185" y="57368"/>
                  </a:cubicBezTo>
                  <a:lnTo>
                    <a:pt x="11759185" y="994373"/>
                  </a:lnTo>
                  <a:cubicBezTo>
                    <a:pt x="11759185" y="1026045"/>
                    <a:pt x="11710036" y="1051741"/>
                    <a:pt x="11649456" y="1051741"/>
                  </a:cubicBezTo>
                  <a:lnTo>
                    <a:pt x="109728" y="1051741"/>
                  </a:lnTo>
                  <a:cubicBezTo>
                    <a:pt x="49149" y="1051741"/>
                    <a:pt x="0" y="1026045"/>
                    <a:pt x="0" y="99437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87283" y="8596122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Error:B can’t be zero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? Operater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796116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? ใช้ร่วมกับฟังก์ชันที่ return เป็น Result หรื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 Option ในการ propagates error ด้วยตัวอักษรเดียว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ทำให้การพบเจอ error สามารถเขียนการส่งผลลัพธ์ที่ error นั้นได้ง่ายขึ้น แทนที่จะเป็นการเขียน match blocks เยอะ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ลดการเขียน match block ในกรณีที่ต้องส่งผลลัพธ์ทันทีที่เป็น error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หากผลเป็นสำเร็จจะใช้ค่าในผลลัพธ์มาทำงานต่อ แต่หากเป็นผลล้มเหลว ฟังก์ชันปัจจุบันจะไม่ทำงานต่อและ return ผลลัพธ์กลับทันที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78240" y="1028700"/>
            <a:ext cx="8819388" cy="6384043"/>
            <a:chOff x="0" y="0"/>
            <a:chExt cx="11759184" cy="85120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8512058"/>
            </a:xfrm>
            <a:custGeom>
              <a:avLst/>
              <a:gdLst/>
              <a:ahLst/>
              <a:cxnLst/>
              <a:rect r="r" b="b" t="t" l="l"/>
              <a:pathLst>
                <a:path h="8512058" w="11759185">
                  <a:moveTo>
                    <a:pt x="0" y="196432"/>
                  </a:moveTo>
                  <a:cubicBezTo>
                    <a:pt x="0" y="87985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87985"/>
                    <a:pt x="11759185" y="196432"/>
                  </a:cubicBezTo>
                  <a:lnTo>
                    <a:pt x="11759185" y="8315626"/>
                  </a:lnTo>
                  <a:cubicBezTo>
                    <a:pt x="11759185" y="8424072"/>
                    <a:pt x="11710036" y="8512058"/>
                    <a:pt x="11649456" y="8512058"/>
                  </a:cubicBezTo>
                  <a:lnTo>
                    <a:pt x="109728" y="8512058"/>
                  </a:lnTo>
                  <a:cubicBezTo>
                    <a:pt x="49149" y="8512058"/>
                    <a:pt x="0" y="8424072"/>
                    <a:pt x="0" y="831562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21140" y="1237488"/>
            <a:ext cx="8476488" cy="578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calculator() -&gt; Result&lt;i32,String&gt;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let value = divide(10,2)? 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println!("Result is Ok, and continue this path");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println!("value: {}", value);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return Ok(value + 100)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calculator()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println!("{error}"),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780526" y="7479418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80526" y="7959478"/>
            <a:ext cx="8819388" cy="1411843"/>
            <a:chOff x="0" y="0"/>
            <a:chExt cx="11759184" cy="18824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882457"/>
            </a:xfrm>
            <a:custGeom>
              <a:avLst/>
              <a:gdLst/>
              <a:ahLst/>
              <a:cxnLst/>
              <a:rect r="r" b="b" t="t" l="l"/>
              <a:pathLst>
                <a:path h="1882457" w="11759185">
                  <a:moveTo>
                    <a:pt x="0" y="102680"/>
                  </a:moveTo>
                  <a:cubicBezTo>
                    <a:pt x="0" y="45992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45992"/>
                    <a:pt x="11759185" y="102680"/>
                  </a:cubicBezTo>
                  <a:lnTo>
                    <a:pt x="11759185" y="1779778"/>
                  </a:lnTo>
                  <a:cubicBezTo>
                    <a:pt x="11759185" y="1836465"/>
                    <a:pt x="11710036" y="1882457"/>
                    <a:pt x="11649456" y="1882457"/>
                  </a:cubicBezTo>
                  <a:lnTo>
                    <a:pt x="109728" y="1882457"/>
                  </a:lnTo>
                  <a:cubicBezTo>
                    <a:pt x="49149" y="1882457"/>
                    <a:pt x="0" y="1836465"/>
                    <a:pt x="0" y="1779778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23426" y="8168266"/>
            <a:ext cx="8133588" cy="132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Result is Ok, and </a:t>
            </a: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continue this path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value: 5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105</a:t>
            </a:r>
          </a:p>
          <a:p>
            <a:pPr algn="l">
              <a:lnSpc>
                <a:spcPts val="2690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7173468"/>
            <a:chOff x="0" y="0"/>
            <a:chExt cx="12984480" cy="9564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9564625"/>
            </a:xfrm>
            <a:custGeom>
              <a:avLst/>
              <a:gdLst/>
              <a:ahLst/>
              <a:cxnLst/>
              <a:rect r="r" b="b" t="t" l="l"/>
              <a:pathLst>
                <a:path h="9564625" w="12984480">
                  <a:moveTo>
                    <a:pt x="0" y="147148"/>
                  </a:moveTo>
                  <a:cubicBezTo>
                    <a:pt x="0" y="65910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65910"/>
                    <a:pt x="12984480" y="147148"/>
                  </a:cubicBezTo>
                  <a:lnTo>
                    <a:pt x="12984480" y="9417476"/>
                  </a:lnTo>
                  <a:cubicBezTo>
                    <a:pt x="12984480" y="9498715"/>
                    <a:pt x="12935331" y="9564625"/>
                    <a:pt x="12874752" y="9564625"/>
                  </a:cubicBezTo>
                  <a:lnTo>
                    <a:pt x="109728" y="9564625"/>
                  </a:lnTo>
                  <a:cubicBezTo>
                    <a:pt x="49149" y="9564625"/>
                    <a:pt x="0" y="9498715"/>
                    <a:pt x="0" y="94174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6420" y="3028550"/>
            <a:ext cx="9052560" cy="433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cause_panic(5);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//Option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find_first_a("Hello World!"){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Some(index) =&gt; println!("The first 'a' is at index {}", index),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None =&gt; println!("No 'a' found in the text."),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00854" y="2537460"/>
            <a:ext cx="6796774" cy="7173468"/>
            <a:chOff x="0" y="0"/>
            <a:chExt cx="9062365" cy="95646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62365" cy="9564625"/>
            </a:xfrm>
            <a:custGeom>
              <a:avLst/>
              <a:gdLst/>
              <a:ahLst/>
              <a:cxnLst/>
              <a:rect r="r" b="b" t="t" l="l"/>
              <a:pathLst>
                <a:path h="9564625" w="9062365">
                  <a:moveTo>
                    <a:pt x="0" y="147148"/>
                  </a:moveTo>
                  <a:cubicBezTo>
                    <a:pt x="0" y="65910"/>
                    <a:pt x="34303" y="0"/>
                    <a:pt x="76583" y="0"/>
                  </a:cubicBezTo>
                  <a:lnTo>
                    <a:pt x="8985782" y="0"/>
                  </a:lnTo>
                  <a:cubicBezTo>
                    <a:pt x="9028063" y="0"/>
                    <a:pt x="9062365" y="65910"/>
                    <a:pt x="9062365" y="147148"/>
                  </a:cubicBezTo>
                  <a:lnTo>
                    <a:pt x="9062365" y="9417476"/>
                  </a:lnTo>
                  <a:cubicBezTo>
                    <a:pt x="9062365" y="9498715"/>
                    <a:pt x="9028063" y="9564625"/>
                    <a:pt x="8985782" y="9564625"/>
                  </a:cubicBezTo>
                  <a:lnTo>
                    <a:pt x="76583" y="9564625"/>
                  </a:lnTo>
                  <a:cubicBezTo>
                    <a:pt x="34303" y="9564625"/>
                    <a:pt x="0" y="9498715"/>
                    <a:pt x="0" y="94174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049153" y="3326892"/>
            <a:ext cx="6300176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//Panic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cause_panic(value: i32){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if value == 0{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panic!("Panic!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The value was zero, which is not allowed here");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println!("Value{} is fine.",value);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ption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find_first_a(text: &amp;str) -&gt; Option&lt;usize&gt;{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text.find('a')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5421" y="15773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652307" cy="3406503"/>
            <a:chOff x="0" y="0"/>
            <a:chExt cx="10203075" cy="4542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03076" cy="4542005"/>
            </a:xfrm>
            <a:custGeom>
              <a:avLst/>
              <a:gdLst/>
              <a:ahLst/>
              <a:cxnLst/>
              <a:rect r="r" b="b" t="t" l="l"/>
              <a:pathLst>
                <a:path h="4542005" w="10203076">
                  <a:moveTo>
                    <a:pt x="0" y="69877"/>
                  </a:moveTo>
                  <a:cubicBezTo>
                    <a:pt x="0" y="31299"/>
                    <a:pt x="38621" y="0"/>
                    <a:pt x="86223" y="0"/>
                  </a:cubicBezTo>
                  <a:lnTo>
                    <a:pt x="10116852" y="0"/>
                  </a:lnTo>
                  <a:cubicBezTo>
                    <a:pt x="10164455" y="0"/>
                    <a:pt x="10203076" y="31299"/>
                    <a:pt x="10203076" y="69877"/>
                  </a:cubicBezTo>
                  <a:lnTo>
                    <a:pt x="10203076" y="4472127"/>
                  </a:lnTo>
                  <a:cubicBezTo>
                    <a:pt x="10203076" y="4510706"/>
                    <a:pt x="10164455" y="4542005"/>
                    <a:pt x="10116852" y="4542005"/>
                  </a:cubicBezTo>
                  <a:lnTo>
                    <a:pt x="86223" y="4542005"/>
                  </a:lnTo>
                  <a:cubicBezTo>
                    <a:pt x="38621" y="4542005"/>
                    <a:pt x="0" y="4510706"/>
                    <a:pt x="0" y="447212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343656"/>
            <a:ext cx="905256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println!("{:?}",divide(5.0,2.0));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println!("{:?}",divide(5.0,0.0));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48681" y="2537460"/>
            <a:ext cx="9048947" cy="6557799"/>
            <a:chOff x="0" y="0"/>
            <a:chExt cx="12065263" cy="87437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65263" cy="8743732"/>
            </a:xfrm>
            <a:custGeom>
              <a:avLst/>
              <a:gdLst/>
              <a:ahLst/>
              <a:cxnLst/>
              <a:rect r="r" b="b" t="t" l="l"/>
              <a:pathLst>
                <a:path h="8743732" w="12065263">
                  <a:moveTo>
                    <a:pt x="0" y="134519"/>
                  </a:moveTo>
                  <a:cubicBezTo>
                    <a:pt x="0" y="60253"/>
                    <a:pt x="45670" y="0"/>
                    <a:pt x="101960" y="0"/>
                  </a:cubicBezTo>
                  <a:lnTo>
                    <a:pt x="11963303" y="0"/>
                  </a:lnTo>
                  <a:cubicBezTo>
                    <a:pt x="12019593" y="0"/>
                    <a:pt x="12065263" y="60253"/>
                    <a:pt x="12065263" y="134519"/>
                  </a:cubicBezTo>
                  <a:lnTo>
                    <a:pt x="12065263" y="8609212"/>
                  </a:lnTo>
                  <a:cubicBezTo>
                    <a:pt x="12065263" y="8683478"/>
                    <a:pt x="12019593" y="8743732"/>
                    <a:pt x="11963303" y="8743732"/>
                  </a:cubicBezTo>
                  <a:lnTo>
                    <a:pt x="101960" y="8743732"/>
                  </a:lnTo>
                  <a:cubicBezTo>
                    <a:pt x="45670" y="8743732"/>
                    <a:pt x="0" y="8683478"/>
                    <a:pt x="0" y="860921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968835" y="2725687"/>
            <a:ext cx="7942993" cy="578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//Result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#[derive(Debug)]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struct Divisio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nError{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message: String,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divide(numerator: f64, denominator: f64) -&gt; Result&lt;f64, DivisionError&gt;{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if denominator == 0.0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Err(DivisionError{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message: "Cannot divide by Zero ".to_string(),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})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Ok(numerator / denominator)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5421" y="15773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92299"/>
            <a:ext cx="11425781" cy="1725350"/>
            <a:chOff x="0" y="0"/>
            <a:chExt cx="15234375" cy="2300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4376" cy="2300467"/>
            </a:xfrm>
            <a:custGeom>
              <a:avLst/>
              <a:gdLst/>
              <a:ahLst/>
              <a:cxnLst/>
              <a:rect r="r" b="b" t="t" l="l"/>
              <a:pathLst>
                <a:path h="2300467" w="15234376">
                  <a:moveTo>
                    <a:pt x="0" y="35392"/>
                  </a:moveTo>
                  <a:cubicBezTo>
                    <a:pt x="0" y="15853"/>
                    <a:pt x="57665" y="0"/>
                    <a:pt x="128741" y="0"/>
                  </a:cubicBezTo>
                  <a:lnTo>
                    <a:pt x="15105635" y="0"/>
                  </a:lnTo>
                  <a:cubicBezTo>
                    <a:pt x="15176711" y="0"/>
                    <a:pt x="15234376" y="15853"/>
                    <a:pt x="15234376" y="35392"/>
                  </a:cubicBezTo>
                  <a:lnTo>
                    <a:pt x="15234376" y="2265075"/>
                  </a:lnTo>
                  <a:cubicBezTo>
                    <a:pt x="15234376" y="2284615"/>
                    <a:pt x="15176711" y="2300467"/>
                    <a:pt x="15105635" y="2300467"/>
                  </a:cubicBezTo>
                  <a:lnTo>
                    <a:pt x="128741" y="2300467"/>
                  </a:lnTo>
                  <a:cubicBezTo>
                    <a:pt x="57665" y="2300467"/>
                    <a:pt x="0" y="2284615"/>
                    <a:pt x="0" y="2265075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772742"/>
            <a:ext cx="106299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std::fs::File;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f = File::open("hello.txt").unwrap();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4500180"/>
            <a:ext cx="11425781" cy="2202427"/>
            <a:chOff x="0" y="0"/>
            <a:chExt cx="15234375" cy="29365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4376" cy="2936570"/>
            </a:xfrm>
            <a:custGeom>
              <a:avLst/>
              <a:gdLst/>
              <a:ahLst/>
              <a:cxnLst/>
              <a:rect r="r" b="b" t="t" l="l"/>
              <a:pathLst>
                <a:path h="2936570" w="15234376">
                  <a:moveTo>
                    <a:pt x="0" y="45178"/>
                  </a:moveTo>
                  <a:cubicBezTo>
                    <a:pt x="0" y="20236"/>
                    <a:pt x="57665" y="0"/>
                    <a:pt x="128741" y="0"/>
                  </a:cubicBezTo>
                  <a:lnTo>
                    <a:pt x="15105635" y="0"/>
                  </a:lnTo>
                  <a:cubicBezTo>
                    <a:pt x="15176711" y="0"/>
                    <a:pt x="15234376" y="20236"/>
                    <a:pt x="15234376" y="45178"/>
                  </a:cubicBezTo>
                  <a:lnTo>
                    <a:pt x="15234376" y="2891392"/>
                  </a:lnTo>
                  <a:cubicBezTo>
                    <a:pt x="15234376" y="2916334"/>
                    <a:pt x="15176711" y="2936570"/>
                    <a:pt x="15105635" y="2936570"/>
                  </a:cubicBezTo>
                  <a:lnTo>
                    <a:pt x="128741" y="2936570"/>
                  </a:lnTo>
                  <a:cubicBezTo>
                    <a:pt x="57665" y="2936570"/>
                    <a:pt x="0" y="2916334"/>
                    <a:pt x="0" y="289139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4682422"/>
            <a:ext cx="1062990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std::fs::File;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f = File::open("hello.txt").expect("Failed to open it ");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9739" y="17297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29715"/>
            <a:ext cx="10587400" cy="2339234"/>
            <a:chOff x="0" y="0"/>
            <a:chExt cx="14116533" cy="3118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6534" cy="3118979"/>
            </a:xfrm>
            <a:custGeom>
              <a:avLst/>
              <a:gdLst/>
              <a:ahLst/>
              <a:cxnLst/>
              <a:rect r="r" b="b" t="t" l="l"/>
              <a:pathLst>
                <a:path h="3118979" w="14116534">
                  <a:moveTo>
                    <a:pt x="0" y="47984"/>
                  </a:moveTo>
                  <a:cubicBezTo>
                    <a:pt x="0" y="21493"/>
                    <a:pt x="53434" y="0"/>
                    <a:pt x="119295" y="0"/>
                  </a:cubicBezTo>
                  <a:lnTo>
                    <a:pt x="13997239" y="0"/>
                  </a:lnTo>
                  <a:cubicBezTo>
                    <a:pt x="14063100" y="0"/>
                    <a:pt x="14116534" y="21493"/>
                    <a:pt x="14116534" y="47984"/>
                  </a:cubicBezTo>
                  <a:lnTo>
                    <a:pt x="14116534" y="3070994"/>
                  </a:lnTo>
                  <a:cubicBezTo>
                    <a:pt x="14116534" y="3097485"/>
                    <a:pt x="14063100" y="3118979"/>
                    <a:pt x="13997239" y="3118979"/>
                  </a:cubicBezTo>
                  <a:lnTo>
                    <a:pt x="119295" y="3118979"/>
                  </a:lnTo>
                  <a:cubicBezTo>
                    <a:pt x="53434" y="3118979"/>
                    <a:pt x="0" y="3097485"/>
                    <a:pt x="0" y="307099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9739" y="2880360"/>
            <a:ext cx="10333461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// ? operator + Error Propagation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 calculate_division_then_add_one(5.0,2.0));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 calculate_division_then_add_one(5.0,0.0));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5109461"/>
            <a:ext cx="10587400" cy="2248022"/>
            <a:chOff x="0" y="0"/>
            <a:chExt cx="14116533" cy="29973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16534" cy="2997363"/>
            </a:xfrm>
            <a:custGeom>
              <a:avLst/>
              <a:gdLst/>
              <a:ahLst/>
              <a:cxnLst/>
              <a:rect r="r" b="b" t="t" l="l"/>
              <a:pathLst>
                <a:path h="2997363" w="14116534">
                  <a:moveTo>
                    <a:pt x="0" y="46113"/>
                  </a:moveTo>
                  <a:cubicBezTo>
                    <a:pt x="0" y="20655"/>
                    <a:pt x="53434" y="0"/>
                    <a:pt x="119295" y="0"/>
                  </a:cubicBezTo>
                  <a:lnTo>
                    <a:pt x="13997239" y="0"/>
                  </a:lnTo>
                  <a:cubicBezTo>
                    <a:pt x="14063100" y="0"/>
                    <a:pt x="14116534" y="20655"/>
                    <a:pt x="14116534" y="46113"/>
                  </a:cubicBezTo>
                  <a:lnTo>
                    <a:pt x="14116534" y="2951249"/>
                  </a:lnTo>
                  <a:cubicBezTo>
                    <a:pt x="14116534" y="2976707"/>
                    <a:pt x="14063100" y="2997363"/>
                    <a:pt x="13997239" y="2997363"/>
                  </a:cubicBezTo>
                  <a:lnTo>
                    <a:pt x="119295" y="2997363"/>
                  </a:lnTo>
                  <a:cubicBezTo>
                    <a:pt x="53434" y="2997363"/>
                    <a:pt x="0" y="2976707"/>
                    <a:pt x="0" y="295124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9739" y="5219594"/>
            <a:ext cx="1017362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calculate_divisio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n_then_add_one(num: f64, den: f64)-&gt;Result&lt;f64,DivisionError&gt;{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result = divide(num, den)?;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Ok(result +1.0)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0295" y="2537460"/>
            <a:ext cx="6401272" cy="6557799"/>
            <a:chOff x="0" y="0"/>
            <a:chExt cx="8535030" cy="874373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535030" cy="8743731"/>
              <a:chOff x="0" y="0"/>
              <a:chExt cx="8535030" cy="874373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35030" cy="8743732"/>
              </a:xfrm>
              <a:custGeom>
                <a:avLst/>
                <a:gdLst/>
                <a:ahLst/>
                <a:cxnLst/>
                <a:rect r="r" b="b" t="t" l="l"/>
                <a:pathLst>
                  <a:path h="8743732" w="8535030">
                    <a:moveTo>
                      <a:pt x="0" y="134519"/>
                    </a:moveTo>
                    <a:cubicBezTo>
                      <a:pt x="0" y="60253"/>
                      <a:pt x="32307" y="0"/>
                      <a:pt x="72127" y="0"/>
                    </a:cubicBezTo>
                    <a:lnTo>
                      <a:pt x="8462903" y="0"/>
                    </a:lnTo>
                    <a:cubicBezTo>
                      <a:pt x="8502723" y="0"/>
                      <a:pt x="8535030" y="60253"/>
                      <a:pt x="8535030" y="134519"/>
                    </a:cubicBezTo>
                    <a:lnTo>
                      <a:pt x="8535030" y="8609212"/>
                    </a:lnTo>
                    <a:cubicBezTo>
                      <a:pt x="8535030" y="8683478"/>
                      <a:pt x="8502723" y="8743732"/>
                      <a:pt x="8462903" y="8743732"/>
                    </a:cubicBezTo>
                    <a:lnTo>
                      <a:pt x="72127" y="8743732"/>
                    </a:lnTo>
                    <a:cubicBezTo>
                      <a:pt x="32307" y="8743732"/>
                      <a:pt x="0" y="8683478"/>
                      <a:pt x="0" y="8609212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599320" y="263670"/>
              <a:ext cx="7506554" cy="8178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#[derive(Debug)]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struct Divisio</a:t>
              </a: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nError{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message: String,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fn divide(numerator: f64, denominator: f64) -&gt; Result&lt;f64, DivisionError&gt;{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denominator == 0.0 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Err(DivisionError{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message: "Cannot divide by Zero ".to_string(),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})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}else 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Ok(numerator / denominator)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944783"/>
        </p:xfrm>
        <a:graphic>
          <a:graphicData uri="http://schemas.openxmlformats.org/drawingml/2006/table">
            <a:tbl>
              <a:tblPr/>
              <a:tblGrid>
                <a:gridCol w="1184756"/>
                <a:gridCol w="3953138"/>
                <a:gridCol w="3666582"/>
                <a:gridCol w="4007399"/>
                <a:gridCol w="4099953"/>
              </a:tblGrid>
              <a:tr h="7421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62025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Enum Types 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Option&lt;T&gt;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(Some/None) สำหรับค่าว่าง และ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Result&lt;T, E&gt;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(Ok/Err) สำหรับข้อผิดพลาดที่จัดการได้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แกะค่าข้อมูลด้วย Pattern Matching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ใช้ไวยากรณ์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match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และ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if let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การส่งต่อข้อผิดพลาดอัตโนมัติด้วย ? Operator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การสั่งหยุดโปรแกรมด้วย panic!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จัดการข้อผิดพลาดด้วยบล็อก try-catch-finally</a:t>
                      </a:r>
                      <a:endParaRPr lang="en-US" sz="1100"/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ใส่คำสั่งที่มีโอกาสเกิดข้อผิดพลาด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catch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ดักจับและจัดการ Exception ตามลำดับ Polymorphism (เรียงจากคลาสลูกไปคลาสแม่)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finally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ประมวลผลเสมอ ไม่ว่าจะเกิด Exception หรือไม่ก็ตาม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ระบุข้อผิดพลาดบนส่วนหัวเมธอด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ด้วย throws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throws และบล็อก do-catch</a:t>
                      </a:r>
                      <a:r>
                        <a:rPr lang="en-US" sz="1950">
                          <a:solidFill>
                            <a:srgbClr val="8B2E2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throws ประกาศฟังก์ชันที่อาจเกิด Error และใช้บล็อก do-catch ดักจับและจัดการ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การใช้งานคำสั่ง try มี 3 รูปแบบ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1E1E1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เรียกฟังก์ชันที่เสี่ยงตามปกติภายในบล็อก do-catch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try?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แปลงข้อผิดพลาดเป็นค่าว่าง (nil)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try!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บังคับแกะค่าผลลัพธ์ทันทีเมื่อมั่นใจว่าจะไม่เกิด Error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มีไวยากรณ์จัดการค่าว่าง (nil)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if let / guard let, ?. และ ?? เพื่อจัดการ nil โดยไม่ต้องใช้ระบบ Error Handling เต็มรูปแบบ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try-except-else-finally</a:t>
                      </a:r>
                      <a:endParaRPr lang="en-US" sz="1100"/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ใส่คำสั่งที่มีโอกาสเกิดข้อผิดพลาด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except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ดักจับ Exception ตามประเภทที่กำหนด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else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ประมวลผลเฉพาะเมื่อไม่พบ Exception ในบล็อก try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finally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ประมวลผลเสมอ 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ใช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้ raise ในการโยน Exception เมื่อเกิดเงื่อนไขผิดปกติ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ตรวจสอบค่าว่างด้วย is None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5573183"/>
        </p:xfrm>
        <a:graphic>
          <a:graphicData uri="http://schemas.openxmlformats.org/drawingml/2006/table">
            <a:tbl>
              <a:tblPr/>
              <a:tblGrid>
                <a:gridCol w="1385231"/>
                <a:gridCol w="4481662"/>
                <a:gridCol w="3339995"/>
                <a:gridCol w="3771223"/>
                <a:gridCol w="3933718"/>
              </a:tblGrid>
              <a:tr h="7425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4830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มอง Error เป็นค่าข้อมูลปกติเหมือนการคืนค่าจากฟังก์ชันทั่วไป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Semi-Bold"/>
                          <a:ea typeface="Sarabun Semi-Bold"/>
                          <a:cs typeface="Sarabun Semi-Bold"/>
                          <a:sym typeface="Sarabun Semi-Bold"/>
                        </a:rPr>
                        <a:t>? Operator ทำงานแบบ Short-circuiting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จะคืนค่า Err กลับไปยังฟังก์ชันผู้เรียกทันทีอัตโนมัติ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ำสั่ง panic!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จะสั่งหยุดหน่วยการทำงานปัจจุบันทันทีเมื่อเกิดข้อผิดพลาดที่จัดการต่อไม่ได้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throw ทำงาน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ระบบจะหยุดทำงานในขอบเขตปัจจุบันทันที และถอยย้อนยกเลิก Stack Frame ตามลำดับการเรียก เพื่อค้นหาบล็อก catch ที่มีชนิด Exception ตรงกันมาจัดการ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raise ทำงาน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หยุดประมวลผลทันทีแล้วถอยย้อน Stack เพื่อหาบล็อก except ที่ตรงกัน ส่งผลให้ Control Flow กระโดดข้ามไปมา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สนับสนุนการเขียนโปรแกรมตามลำดับลอจิกปกติไปก่อน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แล้วค่อยใช้ try-except ดักจับ Error ตอน Runtime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เป็นการส่งคืนค่าข้อผิดพลาดในรูปแบบ Value Passing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โดยส่งคืนค่า Error โดยตรงโดยไม่ต้องผ่านกระบวนการถอยย้อน Stack (คล้าย Result ในภาษา Rust)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ดลำดับการทำงานแบบ Short-circuiting เมื่อเกิดข้อผิดพลาด 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มีการ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แกะค่า Error ด้วย Pattern Matching ในบล็อก catch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258983"/>
        </p:xfrm>
        <a:graphic>
          <a:graphicData uri="http://schemas.openxmlformats.org/drawingml/2006/table">
            <a:tbl>
              <a:tblPr/>
              <a:tblGrid>
                <a:gridCol w="1385231"/>
                <a:gridCol w="3297039"/>
                <a:gridCol w="3901219"/>
                <a:gridCol w="4337736"/>
                <a:gridCol w="3990603"/>
              </a:tblGrid>
              <a:tr h="7423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55166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Type 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System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แยกข้อมูลที่มีค่ากับค่าว่างออกจากกันชัดเจน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โดยจัดการค่าว่างด้วย Option&lt;T&gt; 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ตัวแปรจะอยู่ในสถานะใดสถานะหนึ่งได้เพียงอย่างเดียวในขณะนั้น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เช่น Option (Some หรือ None) และ Result (Ok หรือ Err)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บังคับให้จัดการผลลัพธ์ด้วย #[must_use]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ถ้าละเลยคอมไพเลอร์จะแจ้งเตือนทันที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เป็นลำดับชั้นชนิดข้อมู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ล มีคลาสสูงสุดคือ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java.lang.Throwable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แบ่งเป็น 2 ประเภทหลัก java.lang.Error java.lang.Exception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 Checked Exceptions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ที่บังคับให้ตรวจสอบหรือจัดการตั้งแต่ขั้นตอนคอมไพล์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เป็นการดักจับข้อผิดพลาดด้วย Polymorphism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โดยบล็อก catch (Exception e) สามารถดักจับ Exception ย่อยทุกตัวที่สืบทอดมาจากคลาส Exception ได้ทันที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เป็นการตรวจสอบชนิดข้อผิดพลาดแบบไดนามิก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โดยจะจับคู่ประเภทข้อผิดพลาดขณะรันไทม์เท่านั้น ไม่มีการบังคับตรวจสอบในขั้นตอนคอมไพล์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เป็นลำดับชั้นคลาสสืบทอด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โดยข้อผิดพลาดทั้งหมดสืบทอดมาจากคลาสสูงสุดคือ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BaseException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โดยมีคลาสย่อยหลักคือ Exception สำหรับจัดการข้อผิดพลาดทั่วไป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มีการประยุกต์ใช้ Subtype Polymorphism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โดยบล็อกดักจับคลาสแม่ (Exception) สามารถรับและจัดการ Exception คลาสลูกทุกประเภทได้โดยอัตโนมัติ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เป็นการนิยามข้อผิดพลาดผ่าน Enum ที่นำโปรโตคอล Error มาใช้งาน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รองรับการใส่ Associated Values เพื่อระบุรายละเอียดหรือสาเหตุของข้อผิดพลาดขณะรันไทม์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มีกลไก Type Transformation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โดยใช้ try? แปลงผลลัพธ์เป็น Optional (T?) โดยเปลี่ยนทุก Error เป็นค่าว่าง (nil) ทันที โดยไม่ต้องเขียน do-catch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5916083"/>
        </p:xfrm>
        <a:graphic>
          <a:graphicData uri="http://schemas.openxmlformats.org/drawingml/2006/table">
            <a:tbl>
              <a:tblPr/>
              <a:tblGrid>
                <a:gridCol w="1732004"/>
                <a:gridCol w="3752165"/>
                <a:gridCol w="3722719"/>
                <a:gridCol w="3951262"/>
                <a:gridCol w="3753679"/>
              </a:tblGrid>
              <a:tr h="7424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51736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Memor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y Management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คืนทรัพยากรอัตโนมัติด้วยหลัก Ownership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คืนทรัพยากรทันทีที่ Option หรือ Result หมดขอบเขตการทำงาน 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 Null Pointer Optimization (NPO)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ไม่มีการสร้าง Overhead บน Heap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เพราะโครงสร้าง Enum เป็น Value Type จึงประมวลผลและส่งผ่านบน Stack โดยตรง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เกิด Overhead บน Heap สูง 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คำสั่ง throw บังคับให้ JVM สร้างออบเจกต์ Exception บน Heap พร้อมบันทึก Stack Trace ทำให้เกิด Runtime Overhead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คืนหน่วยความจำด้วย Garbage Collector (GC)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ออบเจกต์ Exception ที่ประมวลผลเสร็จแล้วในบล็อก catch จะถูก GC เคลียร์ออกจาก Heap Memory และคืนพื้นที่ให้อัตโนมัติ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เกิด Overhead บน Heap สูง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โดยคำสั่ง raise จองพื้นที่บน Heap เพื่อสร้าง Traceback Object สำหรับบันทึก Stack Frame ส่งผลให้เกิด Runtime Overhead สูง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คืนหน่วยความจำอัตโนมัติ (Python 3)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ลบตัวแปรอ้างอิง Exception ให้อัตโนมัติทันทีที่หลุดออกจากบล็อก except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ส่งผ่านค่าแบบ Value Type บน Stack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ไม่เสีย Heap Overhead ในการสร้าง Exception Object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throw ทำงาน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ระบบจะคืนพื้นที่ตัวแปร Local บน Stack และทำลาย Reference Objects ก่อนกระโดดไปยังบล็อก catch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944783"/>
        </p:xfrm>
        <a:graphic>
          <a:graphicData uri="http://schemas.openxmlformats.org/drawingml/2006/table">
            <a:tbl>
              <a:tblPr/>
              <a:tblGrid>
                <a:gridCol w="1732004"/>
                <a:gridCol w="4362115"/>
                <a:gridCol w="3593092"/>
                <a:gridCol w="2990078"/>
                <a:gridCol w="4234540"/>
              </a:tblGrid>
              <a:tr h="7421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62025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afety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การันตีความถูกต้องของโปรแกรมตั้งแต่ขั้นตอนคอมไพล์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โดยถ้าโค้ดผ่านการคอมไพล์ จะไม่มีทางเกิดข้อผิดพลาดชนิดนั้นขณะรันไทม์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บังคับให้จัดการทุก Variant ของ Enum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โดยบังคับจัดการทุกเคสที่เป็นไปได้ทั้งหมด ป้องกันการมองข้ามบางกรณีไป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การันตีว่า Error ไม่ถูกละเลย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โดยจะบังคับให้ต้องจัดการค่า Result ที่คืนกลับมา ห้ามปล่อยผ่านหรือละเลย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ป้องกันความผิดพลาดของระบบด้วย panic!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เพื่อป้องกันระบบทำงานต่อด้วยข้อมูลที่ผิดพลาด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มีความเสี่ยงที่โปรแกรมจะทำงานผิดพลาดและล่มลง ถ้าไม่ได้เขียนบล็อก catch ดักจับไว้ให้ครอบคลุม Error นั้น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เสี่ยงเกิด NullPointerException ได้ง่าย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เพราะคอมไพเลอร์บังคับตรวจจับเฉพาะ Checked Exceptions เท่านั้น 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มีความเสี่ยงที่โปรแกรมทำงานผิดพลาดและล่มลง ถ้าไม่ได้เขียนบล็อก except ดักจับไว้ให้ครอบคลุม Error  นั้น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คอมไพเลอร์ปฏิเสธการประมวลผลทันที  ถ้าเรียกใช้ฟังก์ชันที่มี throws โดยไม่ใส่คำสั่ง try หรือไม่มีบล็อก do-catch ที่คอยจัดการอย่างถูกต้อง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 Error ครบทุกกรณี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ถ้าระบุเคสไม่ครบ จะต้องเพิ่มบล็อก catch ทั่วไปเป็นค่าเริ่มต้น (Fallback) เพื่อรองรับข้อผิดพลาดที่เหลือทั้งหมด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ป้องกัน Null Pointer Dereference ตั้งแต่ขั้นตอนการคอมไพล์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โดยบังคับให้ต้องแกะค่าจาก Optional ก่อนนำไปใช้งานเสมอ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5548" y="2570633"/>
            <a:ext cx="3810615" cy="570582"/>
            <a:chOff x="0" y="0"/>
            <a:chExt cx="1360089" cy="2036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0089" cy="203659"/>
            </a:xfrm>
            <a:custGeom>
              <a:avLst/>
              <a:gdLst/>
              <a:ahLst/>
              <a:cxnLst/>
              <a:rect r="r" b="b" t="t" l="l"/>
              <a:pathLst>
                <a:path h="203659" w="1360089">
                  <a:moveTo>
                    <a:pt x="1360089" y="101829"/>
                  </a:moveTo>
                  <a:lnTo>
                    <a:pt x="1360089" y="101829"/>
                  </a:lnTo>
                  <a:cubicBezTo>
                    <a:pt x="1360089" y="128836"/>
                    <a:pt x="1349360" y="154737"/>
                    <a:pt x="1330264" y="173834"/>
                  </a:cubicBezTo>
                  <a:cubicBezTo>
                    <a:pt x="1311167" y="192930"/>
                    <a:pt x="1285266" y="203659"/>
                    <a:pt x="1258259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258259" y="0"/>
                  </a:lnTo>
                  <a:cubicBezTo>
                    <a:pt x="1314498" y="0"/>
                    <a:pt x="1360089" y="45591"/>
                    <a:pt x="13600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600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5548" y="3289122"/>
            <a:ext cx="8783482" cy="1845568"/>
            <a:chOff x="0" y="0"/>
            <a:chExt cx="525791" cy="1104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791" cy="110481"/>
            </a:xfrm>
            <a:custGeom>
              <a:avLst/>
              <a:gdLst/>
              <a:ahLst/>
              <a:cxnLst/>
              <a:rect r="r" b="b" t="t" l="l"/>
              <a:pathLst>
                <a:path h="110481" w="525791">
                  <a:moveTo>
                    <a:pt x="525791" y="35257"/>
                  </a:moveTo>
                  <a:lnTo>
                    <a:pt x="525791" y="75225"/>
                  </a:lnTo>
                  <a:cubicBezTo>
                    <a:pt x="525791" y="84575"/>
                    <a:pt x="522077" y="93543"/>
                    <a:pt x="515465" y="100155"/>
                  </a:cubicBezTo>
                  <a:cubicBezTo>
                    <a:pt x="508853" y="106767"/>
                    <a:pt x="499885" y="110481"/>
                    <a:pt x="490535" y="110481"/>
                  </a:cubicBezTo>
                  <a:lnTo>
                    <a:pt x="35257" y="110481"/>
                  </a:lnTo>
                  <a:cubicBezTo>
                    <a:pt x="25906" y="110481"/>
                    <a:pt x="16938" y="106767"/>
                    <a:pt x="10326" y="100155"/>
                  </a:cubicBezTo>
                  <a:cubicBezTo>
                    <a:pt x="3715" y="93543"/>
                    <a:pt x="0" y="84575"/>
                    <a:pt x="0" y="75225"/>
                  </a:cubicBezTo>
                  <a:lnTo>
                    <a:pt x="0" y="35257"/>
                  </a:lnTo>
                  <a:cubicBezTo>
                    <a:pt x="0" y="25906"/>
                    <a:pt x="3715" y="16938"/>
                    <a:pt x="10326" y="10326"/>
                  </a:cubicBezTo>
                  <a:cubicBezTo>
                    <a:pt x="16938" y="3715"/>
                    <a:pt x="25906" y="0"/>
                    <a:pt x="35257" y="0"/>
                  </a:cubicBezTo>
                  <a:lnTo>
                    <a:pt x="490535" y="0"/>
                  </a:lnTo>
                  <a:cubicBezTo>
                    <a:pt x="499885" y="0"/>
                    <a:pt x="508853" y="3715"/>
                    <a:pt x="515465" y="10326"/>
                  </a:cubicBezTo>
                  <a:cubicBezTo>
                    <a:pt x="522077" y="16938"/>
                    <a:pt x="525791" y="25906"/>
                    <a:pt x="525791" y="35257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5791" cy="14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51307" y="3540711"/>
            <a:ext cx="8275081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แยกโค้ดปกติกับโค้ดจัดการข้อผิดพลาดด้วย try-catch/except เพื่อให้อ่านง่าย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มองข้อผิดพลาดเป็นค่าข้อมูลธรรมดาที่ส่งคืนจากฟังก์ชันและใช้ ? ช่วยย่อโค้ด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ให้ความยืดหยุ่นด้วย do-catch และใช้ try? แปลงข้อผิดพลาดเป็นค่าว่าง (nil) ได้ทันที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2679" y="1865783"/>
            <a:ext cx="165091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วิเคราะห์ความแตกต่างที่ส</a:t>
            </a:r>
            <a:r>
              <a:rPr lang="en-US" sz="27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ำคัญ และเหตุผลด้านการออกแบบภาษาของภาษา Rust, Java, Python และ Swift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2515" y="2689236"/>
            <a:ext cx="347847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ด้านไวยากรณ์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และรูปแบบโค้ด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5548" y="5872908"/>
            <a:ext cx="2802782" cy="570582"/>
            <a:chOff x="0" y="0"/>
            <a:chExt cx="1000372" cy="2036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0372" cy="203659"/>
            </a:xfrm>
            <a:custGeom>
              <a:avLst/>
              <a:gdLst/>
              <a:ahLst/>
              <a:cxnLst/>
              <a:rect r="r" b="b" t="t" l="l"/>
              <a:pathLst>
                <a:path h="203659" w="1000372">
                  <a:moveTo>
                    <a:pt x="1000372" y="101829"/>
                  </a:moveTo>
                  <a:lnTo>
                    <a:pt x="1000372" y="101829"/>
                  </a:lnTo>
                  <a:cubicBezTo>
                    <a:pt x="1000372" y="158068"/>
                    <a:pt x="954781" y="203659"/>
                    <a:pt x="898543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898543" y="0"/>
                  </a:lnTo>
                  <a:cubicBezTo>
                    <a:pt x="925549" y="0"/>
                    <a:pt x="951450" y="10728"/>
                    <a:pt x="970547" y="29825"/>
                  </a:cubicBezTo>
                  <a:cubicBezTo>
                    <a:pt x="989644" y="48922"/>
                    <a:pt x="1000372" y="74823"/>
                    <a:pt x="1000372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00372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5548" y="6591397"/>
            <a:ext cx="8458200" cy="1671789"/>
            <a:chOff x="0" y="0"/>
            <a:chExt cx="506320" cy="100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6319" cy="100079"/>
            </a:xfrm>
            <a:custGeom>
              <a:avLst/>
              <a:gdLst/>
              <a:ahLst/>
              <a:cxnLst/>
              <a:rect r="r" b="b" t="t" l="l"/>
              <a:pathLst>
                <a:path h="100079" w="506319">
                  <a:moveTo>
                    <a:pt x="506319" y="36613"/>
                  </a:moveTo>
                  <a:lnTo>
                    <a:pt x="506319" y="63466"/>
                  </a:lnTo>
                  <a:cubicBezTo>
                    <a:pt x="506319" y="73176"/>
                    <a:pt x="502462" y="82489"/>
                    <a:pt x="495596" y="89355"/>
                  </a:cubicBezTo>
                  <a:cubicBezTo>
                    <a:pt x="488730" y="96221"/>
                    <a:pt x="479417" y="100079"/>
                    <a:pt x="469707" y="100079"/>
                  </a:cubicBezTo>
                  <a:lnTo>
                    <a:pt x="36613" y="100079"/>
                  </a:lnTo>
                  <a:cubicBezTo>
                    <a:pt x="26902" y="100079"/>
                    <a:pt x="17590" y="96221"/>
                    <a:pt x="10724" y="89355"/>
                  </a:cubicBezTo>
                  <a:cubicBezTo>
                    <a:pt x="3857" y="82489"/>
                    <a:pt x="0" y="73176"/>
                    <a:pt x="0" y="63466"/>
                  </a:cubicBezTo>
                  <a:lnTo>
                    <a:pt x="0" y="36613"/>
                  </a:lnTo>
                  <a:cubicBezTo>
                    <a:pt x="0" y="26902"/>
                    <a:pt x="3857" y="17590"/>
                    <a:pt x="10724" y="10724"/>
                  </a:cubicBezTo>
                  <a:cubicBezTo>
                    <a:pt x="17590" y="3857"/>
                    <a:pt x="26902" y="0"/>
                    <a:pt x="36613" y="0"/>
                  </a:cubicBezTo>
                  <a:lnTo>
                    <a:pt x="469707" y="0"/>
                  </a:lnTo>
                  <a:cubicBezTo>
                    <a:pt x="479417" y="0"/>
                    <a:pt x="488730" y="3857"/>
                    <a:pt x="495596" y="10724"/>
                  </a:cubicBezTo>
                  <a:cubicBezTo>
                    <a:pt x="502462" y="17590"/>
                    <a:pt x="506319" y="26902"/>
                    <a:pt x="506319" y="36613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6320" cy="138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51307" y="6776865"/>
            <a:ext cx="7987754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ใช้วิธีกระโดดย้อน Stack เพื่อค้นหาจุดดักจับข้อผิดพลาด ทำให้ทิศทางโปรแกรมข้ามไปมาและคาดเดาได้ยาก ส่วน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 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ส่งข้อผิดพลาดกลับตามลำดับการทำงานปกติ ทำให้โปรแกรมทำงานตรงไปตรงมาและคาดเดาง่าย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8189" y="5991511"/>
            <a:ext cx="300497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ลำดับการทำงาน 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24252" y="2570633"/>
            <a:ext cx="4921129" cy="570582"/>
            <a:chOff x="0" y="0"/>
            <a:chExt cx="1756455" cy="2036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56455" cy="203659"/>
            </a:xfrm>
            <a:custGeom>
              <a:avLst/>
              <a:gdLst/>
              <a:ahLst/>
              <a:cxnLst/>
              <a:rect r="r" b="b" t="t" l="l"/>
              <a:pathLst>
                <a:path h="203659" w="1756455">
                  <a:moveTo>
                    <a:pt x="1756455" y="97538"/>
                  </a:moveTo>
                  <a:lnTo>
                    <a:pt x="1756455" y="106120"/>
                  </a:lnTo>
                  <a:cubicBezTo>
                    <a:pt x="1756455" y="131989"/>
                    <a:pt x="1746178" y="156798"/>
                    <a:pt x="1727886" y="175090"/>
                  </a:cubicBezTo>
                  <a:cubicBezTo>
                    <a:pt x="1709594" y="193382"/>
                    <a:pt x="1684785" y="203659"/>
                    <a:pt x="1658916" y="203659"/>
                  </a:cubicBezTo>
                  <a:lnTo>
                    <a:pt x="97538" y="203659"/>
                  </a:lnTo>
                  <a:cubicBezTo>
                    <a:pt x="43669" y="203659"/>
                    <a:pt x="0" y="159989"/>
                    <a:pt x="0" y="106120"/>
                  </a:cubicBezTo>
                  <a:lnTo>
                    <a:pt x="0" y="97538"/>
                  </a:lnTo>
                  <a:cubicBezTo>
                    <a:pt x="0" y="43669"/>
                    <a:pt x="43669" y="0"/>
                    <a:pt x="97538" y="0"/>
                  </a:cubicBezTo>
                  <a:lnTo>
                    <a:pt x="1658916" y="0"/>
                  </a:lnTo>
                  <a:cubicBezTo>
                    <a:pt x="1712785" y="0"/>
                    <a:pt x="1756455" y="43669"/>
                    <a:pt x="1756455" y="97538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56455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4252" y="3289122"/>
            <a:ext cx="8458200" cy="1845568"/>
            <a:chOff x="0" y="0"/>
            <a:chExt cx="506320" cy="1104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6319" cy="110481"/>
            </a:xfrm>
            <a:custGeom>
              <a:avLst/>
              <a:gdLst/>
              <a:ahLst/>
              <a:cxnLst/>
              <a:rect r="r" b="b" t="t" l="l"/>
              <a:pathLst>
                <a:path h="110481" w="506319">
                  <a:moveTo>
                    <a:pt x="506319" y="36613"/>
                  </a:moveTo>
                  <a:lnTo>
                    <a:pt x="506319" y="73869"/>
                  </a:lnTo>
                  <a:cubicBezTo>
                    <a:pt x="506319" y="83579"/>
                    <a:pt x="502462" y="92892"/>
                    <a:pt x="495596" y="99758"/>
                  </a:cubicBezTo>
                  <a:cubicBezTo>
                    <a:pt x="488730" y="106624"/>
                    <a:pt x="479417" y="110481"/>
                    <a:pt x="469707" y="110481"/>
                  </a:cubicBezTo>
                  <a:lnTo>
                    <a:pt x="36613" y="110481"/>
                  </a:lnTo>
                  <a:cubicBezTo>
                    <a:pt x="26902" y="110481"/>
                    <a:pt x="17590" y="106624"/>
                    <a:pt x="10724" y="99758"/>
                  </a:cubicBezTo>
                  <a:cubicBezTo>
                    <a:pt x="3857" y="92892"/>
                    <a:pt x="0" y="83579"/>
                    <a:pt x="0" y="73869"/>
                  </a:cubicBezTo>
                  <a:lnTo>
                    <a:pt x="0" y="36613"/>
                  </a:lnTo>
                  <a:cubicBezTo>
                    <a:pt x="0" y="26902"/>
                    <a:pt x="3857" y="17590"/>
                    <a:pt x="10724" y="10724"/>
                  </a:cubicBezTo>
                  <a:cubicBezTo>
                    <a:pt x="17590" y="3857"/>
                    <a:pt x="26902" y="0"/>
                    <a:pt x="36613" y="0"/>
                  </a:cubicBezTo>
                  <a:lnTo>
                    <a:pt x="469707" y="0"/>
                  </a:lnTo>
                  <a:cubicBezTo>
                    <a:pt x="479417" y="0"/>
                    <a:pt x="488730" y="3857"/>
                    <a:pt x="495596" y="10724"/>
                  </a:cubicBezTo>
                  <a:cubicBezTo>
                    <a:pt x="502462" y="17590"/>
                    <a:pt x="506319" y="26902"/>
                    <a:pt x="506319" y="36613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6320" cy="14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659475" y="3540711"/>
            <a:ext cx="7712864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เน้นการเขียนไว โดยตรวจข้อผิดพลาดตอนรันโปรแกรม จึงเสี่ยงล่มสูง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เพิ่มความปลอดภัยด้วยการบังคับเช็กบางส่วนตอนคอมไพล์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เน้นความปลอดภัยสูงสุด โดยบังคับรับมือทุกเคสข้อผิดพลาดตั้งแต่ตอนเขียนโค้ด เพื่อป้องกันโปรแกรมล่มและปัญหาหน่วยความจำ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81219" y="2669997"/>
            <a:ext cx="515390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ด้านความป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ลอดภัยและระบบชนิดข้อมูล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24252" y="5872908"/>
            <a:ext cx="4535334" cy="570582"/>
            <a:chOff x="0" y="0"/>
            <a:chExt cx="1618756" cy="2036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18756" cy="203659"/>
            </a:xfrm>
            <a:custGeom>
              <a:avLst/>
              <a:gdLst/>
              <a:ahLst/>
              <a:cxnLst/>
              <a:rect r="r" b="b" t="t" l="l"/>
              <a:pathLst>
                <a:path h="203659" w="1618756">
                  <a:moveTo>
                    <a:pt x="1618756" y="101829"/>
                  </a:moveTo>
                  <a:lnTo>
                    <a:pt x="1618756" y="101829"/>
                  </a:lnTo>
                  <a:cubicBezTo>
                    <a:pt x="1618756" y="158068"/>
                    <a:pt x="1573166" y="203659"/>
                    <a:pt x="1516927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516927" y="0"/>
                  </a:lnTo>
                  <a:cubicBezTo>
                    <a:pt x="1573166" y="0"/>
                    <a:pt x="1618756" y="45591"/>
                    <a:pt x="1618756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18756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24252" y="6591397"/>
            <a:ext cx="7329538" cy="1671789"/>
            <a:chOff x="0" y="0"/>
            <a:chExt cx="438756" cy="1000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756" cy="100079"/>
            </a:xfrm>
            <a:custGeom>
              <a:avLst/>
              <a:gdLst/>
              <a:ahLst/>
              <a:cxnLst/>
              <a:rect r="r" b="b" t="t" l="l"/>
              <a:pathLst>
                <a:path h="100079" w="438756">
                  <a:moveTo>
                    <a:pt x="438756" y="42251"/>
                  </a:moveTo>
                  <a:lnTo>
                    <a:pt x="438756" y="57828"/>
                  </a:lnTo>
                  <a:cubicBezTo>
                    <a:pt x="438756" y="69034"/>
                    <a:pt x="434305" y="79780"/>
                    <a:pt x="426381" y="87704"/>
                  </a:cubicBezTo>
                  <a:cubicBezTo>
                    <a:pt x="418458" y="95627"/>
                    <a:pt x="407711" y="100079"/>
                    <a:pt x="396506" y="100079"/>
                  </a:cubicBezTo>
                  <a:lnTo>
                    <a:pt x="42251" y="100079"/>
                  </a:lnTo>
                  <a:cubicBezTo>
                    <a:pt x="31045" y="100079"/>
                    <a:pt x="20298" y="95627"/>
                    <a:pt x="12375" y="87704"/>
                  </a:cubicBezTo>
                  <a:cubicBezTo>
                    <a:pt x="4451" y="79780"/>
                    <a:pt x="0" y="69034"/>
                    <a:pt x="0" y="57828"/>
                  </a:cubicBezTo>
                  <a:lnTo>
                    <a:pt x="0" y="42251"/>
                  </a:lnTo>
                  <a:cubicBezTo>
                    <a:pt x="0" y="31045"/>
                    <a:pt x="4451" y="20298"/>
                    <a:pt x="12375" y="12375"/>
                  </a:cubicBezTo>
                  <a:cubicBezTo>
                    <a:pt x="20298" y="4451"/>
                    <a:pt x="31045" y="0"/>
                    <a:pt x="42251" y="0"/>
                  </a:cubicBezTo>
                  <a:lnTo>
                    <a:pt x="396506" y="0"/>
                  </a:lnTo>
                  <a:cubicBezTo>
                    <a:pt x="407711" y="0"/>
                    <a:pt x="418458" y="4451"/>
                    <a:pt x="426381" y="12375"/>
                  </a:cubicBezTo>
                  <a:cubicBezTo>
                    <a:pt x="434305" y="20298"/>
                    <a:pt x="438756" y="31045"/>
                    <a:pt x="438756" y="42251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756" cy="138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59475" y="6776865"/>
            <a:ext cx="6907509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เน้นความสะดวก ยอมเสียความเร็วจากการสร้าง Exception Object บน Heap Memory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เน้นความเร็วสูงสุด โดยส่งข้อผิดพลาดผ่าน Stack โดยตรง ทำให้ไม่กินทรัพยากรเพิ่ม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219" y="5991511"/>
            <a:ext cx="48307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ด้านประสิทธิภาพและหน่วยความจำ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</a:p>
        </p:txBody>
      </p: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01998" y="3041205"/>
            <a:ext cx="5991137" cy="4840022"/>
            <a:chOff x="0" y="0"/>
            <a:chExt cx="358638" cy="289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638" cy="289739"/>
            </a:xfrm>
            <a:custGeom>
              <a:avLst/>
              <a:gdLst/>
              <a:ahLst/>
              <a:cxnLst/>
              <a:rect r="r" b="b" t="t" l="l"/>
              <a:pathLst>
                <a:path h="289739" w="358638">
                  <a:moveTo>
                    <a:pt x="358638" y="60735"/>
                  </a:moveTo>
                  <a:lnTo>
                    <a:pt x="358638" y="229004"/>
                  </a:lnTo>
                  <a:cubicBezTo>
                    <a:pt x="358638" y="245112"/>
                    <a:pt x="352239" y="260560"/>
                    <a:pt x="340849" y="271950"/>
                  </a:cubicBezTo>
                  <a:cubicBezTo>
                    <a:pt x="329459" y="283340"/>
                    <a:pt x="314011" y="289739"/>
                    <a:pt x="297903" y="289739"/>
                  </a:cubicBezTo>
                  <a:lnTo>
                    <a:pt x="60735" y="289739"/>
                  </a:lnTo>
                  <a:cubicBezTo>
                    <a:pt x="44627" y="289739"/>
                    <a:pt x="29179" y="283340"/>
                    <a:pt x="17789" y="271950"/>
                  </a:cubicBezTo>
                  <a:cubicBezTo>
                    <a:pt x="6399" y="260560"/>
                    <a:pt x="0" y="245112"/>
                    <a:pt x="0" y="229004"/>
                  </a:cubicBezTo>
                  <a:lnTo>
                    <a:pt x="0" y="60735"/>
                  </a:lnTo>
                  <a:cubicBezTo>
                    <a:pt x="0" y="44627"/>
                    <a:pt x="6399" y="29179"/>
                    <a:pt x="17789" y="17789"/>
                  </a:cubicBezTo>
                  <a:cubicBezTo>
                    <a:pt x="29179" y="6399"/>
                    <a:pt x="44627" y="0"/>
                    <a:pt x="60735" y="0"/>
                  </a:cubicBezTo>
                  <a:lnTo>
                    <a:pt x="297903" y="0"/>
                  </a:lnTo>
                  <a:cubicBezTo>
                    <a:pt x="314011" y="0"/>
                    <a:pt x="329459" y="6399"/>
                    <a:pt x="340849" y="17789"/>
                  </a:cubicBezTo>
                  <a:cubicBezTo>
                    <a:pt x="352239" y="29179"/>
                    <a:pt x="358638" y="44627"/>
                    <a:pt x="358638" y="6073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8638" cy="3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72731" y="3095838"/>
            <a:ext cx="7326389" cy="4056937"/>
            <a:chOff x="0" y="0"/>
            <a:chExt cx="438568" cy="2428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568" cy="242861"/>
            </a:xfrm>
            <a:custGeom>
              <a:avLst/>
              <a:gdLst/>
              <a:ahLst/>
              <a:cxnLst/>
              <a:rect r="r" b="b" t="t" l="l"/>
              <a:pathLst>
                <a:path h="242861" w="438568">
                  <a:moveTo>
                    <a:pt x="438568" y="49666"/>
                  </a:moveTo>
                  <a:lnTo>
                    <a:pt x="438568" y="193195"/>
                  </a:lnTo>
                  <a:cubicBezTo>
                    <a:pt x="438568" y="206367"/>
                    <a:pt x="433335" y="219000"/>
                    <a:pt x="424021" y="228314"/>
                  </a:cubicBezTo>
                  <a:cubicBezTo>
                    <a:pt x="414707" y="237628"/>
                    <a:pt x="402074" y="242861"/>
                    <a:pt x="388902" y="242861"/>
                  </a:cubicBezTo>
                  <a:lnTo>
                    <a:pt x="49666" y="242861"/>
                  </a:lnTo>
                  <a:cubicBezTo>
                    <a:pt x="36494" y="242861"/>
                    <a:pt x="23861" y="237628"/>
                    <a:pt x="14547" y="228314"/>
                  </a:cubicBezTo>
                  <a:cubicBezTo>
                    <a:pt x="5233" y="219000"/>
                    <a:pt x="0" y="206367"/>
                    <a:pt x="0" y="193195"/>
                  </a:cubicBezTo>
                  <a:lnTo>
                    <a:pt x="0" y="49666"/>
                  </a:lnTo>
                  <a:cubicBezTo>
                    <a:pt x="0" y="36494"/>
                    <a:pt x="5233" y="23861"/>
                    <a:pt x="14547" y="14547"/>
                  </a:cubicBezTo>
                  <a:cubicBezTo>
                    <a:pt x="23861" y="5233"/>
                    <a:pt x="36494" y="0"/>
                    <a:pt x="49666" y="0"/>
                  </a:cubicBezTo>
                  <a:lnTo>
                    <a:pt x="388902" y="0"/>
                  </a:lnTo>
                  <a:cubicBezTo>
                    <a:pt x="402074" y="0"/>
                    <a:pt x="414707" y="5233"/>
                    <a:pt x="424021" y="14547"/>
                  </a:cubicBezTo>
                  <a:cubicBezTo>
                    <a:pt x="433335" y="23861"/>
                    <a:pt x="438568" y="36494"/>
                    <a:pt x="438568" y="49666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8568" cy="280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56956" y="3966434"/>
            <a:ext cx="5461008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การมอง Error เป็นค่าข้อมูลทั่วไป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ในการคืนค่าผ่าน Result&lt;T, E&gt; จะเหมือนข้อมูลปกติ จะไม่เกิดการกระโดดข้ามลำดับการทำงานไปมาเหมือน Exception ในภาษาอื่น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? Operator ทำงานแบบ Short-circuiting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โดยจะแกะค่าเมื่อสำเร็จ หรือส่ง Error กลับทันทีเมื่อพบข้อผิดพลาด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การสั่งหยุดโปรแกรมด้วย panic!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จะสั่งหยุดหน่วยการทำงานปัจจุบันทันทีเมื่อเกิดข้อผิดพลาดที่จัดการต่อไม่ได้ โดยระบบจะถอยย้อน Stack เพื่อเคลียร์ตัวแปรและคืนทรัพยากร ก่อนปิดการทำงานลง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7689" y="4091236"/>
            <a:ext cx="6889318" cy="26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จัดการข้อผิดพลาดผ่านชนิดข้อมูล Option และ Result ซึ่งนิยามด้วย Enum และ Generic (&lt;T, E&gt;)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โดยจะสร้างประเภทข้อมูลที่ยืดหยุ่น รองรับค่าสำเร็จและข้อผิดพลาดได้ทุกชนิด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แกะค่าด้วย Pattern Matching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โดยใช้ match และ if let ในการเช็กข้อผิดพลาด และแกะค่าจาก Option หรือ Result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ส่งต่อข้อผิดพลาดด้วย ? Operator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เป็นการย่อโค้ดแทน match เพื่อคืนค่าข้อผิดพลาดกลับให้อัตโนมัติทันที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การสั่งหยุดโปรแกรมด้วย panic!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429975" y="3301578"/>
            <a:ext cx="1716317" cy="570582"/>
            <a:chOff x="0" y="0"/>
            <a:chExt cx="612590" cy="2036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590" cy="203659"/>
            </a:xfrm>
            <a:custGeom>
              <a:avLst/>
              <a:gdLst/>
              <a:ahLst/>
              <a:cxnLst/>
              <a:rect r="r" b="b" t="t" l="l"/>
              <a:pathLst>
                <a:path h="203659" w="612590">
                  <a:moveTo>
                    <a:pt x="612590" y="101829"/>
                  </a:moveTo>
                  <a:lnTo>
                    <a:pt x="612590" y="101829"/>
                  </a:lnTo>
                  <a:cubicBezTo>
                    <a:pt x="612590" y="158068"/>
                    <a:pt x="566999" y="203659"/>
                    <a:pt x="510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510760" y="0"/>
                  </a:lnTo>
                  <a:cubicBezTo>
                    <a:pt x="537767" y="0"/>
                    <a:pt x="563668" y="10728"/>
                    <a:pt x="582765" y="29825"/>
                  </a:cubicBezTo>
                  <a:cubicBezTo>
                    <a:pt x="601861" y="48922"/>
                    <a:pt x="612590" y="74823"/>
                    <a:pt x="612590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12590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69055" y="3380636"/>
            <a:ext cx="10381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Syntax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59242" y="3246945"/>
            <a:ext cx="2189811" cy="570582"/>
            <a:chOff x="0" y="0"/>
            <a:chExt cx="781590" cy="2036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1590" cy="203659"/>
            </a:xfrm>
            <a:custGeom>
              <a:avLst/>
              <a:gdLst/>
              <a:ahLst/>
              <a:cxnLst/>
              <a:rect r="r" b="b" t="t" l="l"/>
              <a:pathLst>
                <a:path h="203659" w="781590">
                  <a:moveTo>
                    <a:pt x="781590" y="101829"/>
                  </a:moveTo>
                  <a:lnTo>
                    <a:pt x="781590" y="101829"/>
                  </a:lnTo>
                  <a:cubicBezTo>
                    <a:pt x="781590" y="128836"/>
                    <a:pt x="770861" y="154737"/>
                    <a:pt x="751764" y="173834"/>
                  </a:cubicBezTo>
                  <a:cubicBezTo>
                    <a:pt x="732668" y="192930"/>
                    <a:pt x="706767" y="203659"/>
                    <a:pt x="679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679760" y="0"/>
                  </a:lnTo>
                  <a:cubicBezTo>
                    <a:pt x="735999" y="0"/>
                    <a:pt x="781590" y="45591"/>
                    <a:pt x="781590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81590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098321" y="3326002"/>
            <a:ext cx="231786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Semantics</a:t>
            </a:r>
          </a:p>
        </p:txBody>
      </p:sp>
    </p:spTree>
  </p:cSld>
  <p:clrMapOvr>
    <a:masterClrMapping/>
  </p:clrMapOvr>
  <p:transition spd="fast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43067" y="3123476"/>
            <a:ext cx="5434881" cy="3710280"/>
            <a:chOff x="0" y="0"/>
            <a:chExt cx="414664" cy="283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664" cy="283091"/>
            </a:xfrm>
            <a:custGeom>
              <a:avLst/>
              <a:gdLst/>
              <a:ahLst/>
              <a:cxnLst/>
              <a:rect r="r" b="b" t="t" l="l"/>
              <a:pathLst>
                <a:path h="283091" w="414664">
                  <a:moveTo>
                    <a:pt x="414664" y="66951"/>
                  </a:moveTo>
                  <a:lnTo>
                    <a:pt x="414664" y="216140"/>
                  </a:lnTo>
                  <a:cubicBezTo>
                    <a:pt x="414664" y="233896"/>
                    <a:pt x="407610" y="250925"/>
                    <a:pt x="395054" y="263481"/>
                  </a:cubicBezTo>
                  <a:cubicBezTo>
                    <a:pt x="382499" y="276037"/>
                    <a:pt x="365469" y="283091"/>
                    <a:pt x="347713" y="283091"/>
                  </a:cubicBezTo>
                  <a:lnTo>
                    <a:pt x="66951" y="283091"/>
                  </a:lnTo>
                  <a:cubicBezTo>
                    <a:pt x="49194" y="283091"/>
                    <a:pt x="32165" y="276037"/>
                    <a:pt x="19609" y="263481"/>
                  </a:cubicBezTo>
                  <a:cubicBezTo>
                    <a:pt x="7054" y="250925"/>
                    <a:pt x="0" y="233896"/>
                    <a:pt x="0" y="216140"/>
                  </a:cubicBezTo>
                  <a:lnTo>
                    <a:pt x="0" y="66951"/>
                  </a:lnTo>
                  <a:cubicBezTo>
                    <a:pt x="0" y="49194"/>
                    <a:pt x="7054" y="32165"/>
                    <a:pt x="19609" y="19609"/>
                  </a:cubicBezTo>
                  <a:cubicBezTo>
                    <a:pt x="32165" y="7054"/>
                    <a:pt x="49194" y="0"/>
                    <a:pt x="66951" y="0"/>
                  </a:cubicBezTo>
                  <a:lnTo>
                    <a:pt x="347713" y="0"/>
                  </a:lnTo>
                  <a:cubicBezTo>
                    <a:pt x="365469" y="0"/>
                    <a:pt x="382499" y="7054"/>
                    <a:pt x="395054" y="19609"/>
                  </a:cubicBezTo>
                  <a:cubicBezTo>
                    <a:pt x="407610" y="32165"/>
                    <a:pt x="414664" y="49194"/>
                    <a:pt x="414664" y="66951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4664" cy="321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85967" y="4118874"/>
            <a:ext cx="4768980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แยกข้อมูลที่มีค่ากับค่าว่างออกจากกันชัดเจน</a:t>
            </a:r>
            <a:r>
              <a:rPr lang="en-US" b="true" sz="1899">
                <a:solidFill>
                  <a:srgbClr val="222222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โดยจัดการค่าว่างด้วย Option&lt;T&gt;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ตัวแปรจะอยู่ในสถานะใดสถานะหนึ่งได้เพียงอย่างเดียวในขณะนั้น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เช่น Option (Some หรือ None) และ Result (Ok หรือ Err)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บังคับให้จัดการผลลัพธ์ด้วย #[must_use]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ถ้าละเลยคอมไพเลอร์จะแจ้งเตือนทันที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98025" y="3329216"/>
            <a:ext cx="2517614" cy="570582"/>
            <a:chOff x="0" y="0"/>
            <a:chExt cx="898589" cy="2036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8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98589">
                  <a:moveTo>
                    <a:pt x="898589" y="101829"/>
                  </a:moveTo>
                  <a:lnTo>
                    <a:pt x="898589" y="101829"/>
                  </a:lnTo>
                  <a:cubicBezTo>
                    <a:pt x="898589" y="128836"/>
                    <a:pt x="887861" y="154737"/>
                    <a:pt x="868764" y="173834"/>
                  </a:cubicBezTo>
                  <a:cubicBezTo>
                    <a:pt x="849668" y="192930"/>
                    <a:pt x="823767" y="203659"/>
                    <a:pt x="796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96760" y="0"/>
                  </a:lnTo>
                  <a:cubicBezTo>
                    <a:pt x="852999" y="0"/>
                    <a:pt x="898589" y="45591"/>
                    <a:pt x="898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98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37105" y="3408274"/>
            <a:ext cx="23675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Type System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87304" y="3123476"/>
            <a:ext cx="8257630" cy="4917151"/>
            <a:chOff x="0" y="0"/>
            <a:chExt cx="630030" cy="3751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030" cy="375174"/>
            </a:xfrm>
            <a:custGeom>
              <a:avLst/>
              <a:gdLst/>
              <a:ahLst/>
              <a:cxnLst/>
              <a:rect r="r" b="b" t="t" l="l"/>
              <a:pathLst>
                <a:path h="375174" w="630030">
                  <a:moveTo>
                    <a:pt x="630030" y="44065"/>
                  </a:moveTo>
                  <a:lnTo>
                    <a:pt x="630030" y="331109"/>
                  </a:lnTo>
                  <a:cubicBezTo>
                    <a:pt x="630030" y="342796"/>
                    <a:pt x="625388" y="354004"/>
                    <a:pt x="617124" y="362267"/>
                  </a:cubicBezTo>
                  <a:cubicBezTo>
                    <a:pt x="608860" y="370531"/>
                    <a:pt x="597652" y="375174"/>
                    <a:pt x="585966" y="375174"/>
                  </a:cubicBezTo>
                  <a:lnTo>
                    <a:pt x="44065" y="375174"/>
                  </a:lnTo>
                  <a:cubicBezTo>
                    <a:pt x="19728" y="375174"/>
                    <a:pt x="0" y="355445"/>
                    <a:pt x="0" y="331109"/>
                  </a:cubicBezTo>
                  <a:lnTo>
                    <a:pt x="0" y="44065"/>
                  </a:lnTo>
                  <a:cubicBezTo>
                    <a:pt x="0" y="19728"/>
                    <a:pt x="19728" y="0"/>
                    <a:pt x="44065" y="0"/>
                  </a:cubicBezTo>
                  <a:lnTo>
                    <a:pt x="585966" y="0"/>
                  </a:lnTo>
                  <a:cubicBezTo>
                    <a:pt x="610302" y="0"/>
                    <a:pt x="630030" y="19728"/>
                    <a:pt x="630030" y="4406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30030" cy="41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42262" y="3329216"/>
            <a:ext cx="3628502" cy="570582"/>
            <a:chOff x="0" y="0"/>
            <a:chExt cx="1295089" cy="2036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5089" cy="203659"/>
            </a:xfrm>
            <a:custGeom>
              <a:avLst/>
              <a:gdLst/>
              <a:ahLst/>
              <a:cxnLst/>
              <a:rect r="r" b="b" t="t" l="l"/>
              <a:pathLst>
                <a:path h="203659" w="1295089">
                  <a:moveTo>
                    <a:pt x="1295089" y="101829"/>
                  </a:moveTo>
                  <a:lnTo>
                    <a:pt x="1295089" y="101829"/>
                  </a:lnTo>
                  <a:cubicBezTo>
                    <a:pt x="1295089" y="158068"/>
                    <a:pt x="1249498" y="203659"/>
                    <a:pt x="11932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193260" y="0"/>
                  </a:lnTo>
                  <a:cubicBezTo>
                    <a:pt x="1249498" y="0"/>
                    <a:pt x="1295089" y="45591"/>
                    <a:pt x="12950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950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781341" y="3408274"/>
            <a:ext cx="367879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Memory / Resource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42262" y="4118874"/>
            <a:ext cx="7802348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คืนหน่วยความจำด้วย Ownership</a:t>
            </a:r>
            <a:r>
              <a:rPr lang="en-US" sz="1899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โดยค่าข้อมูลใน Option หรือ Result จะถูก Deallocate อัตโนมัติทันทีเมื่อตัวแปรหมด Scope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ประหยัดพื้นที่ด้วย NPO (Null Pointer Optimization)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โดยถ้า T เป็น Pointer คอมไพเลอร์จะบีบขนาด Option&lt;T&gt; ให้เท่ากับ Pointer ปกติ โดยไม่เสียพื้นที่เก็บสถานะ None เพิ่มเติม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จัดเก็บค่าตัวแปรบน Stack เป็นหลัก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โดยตัวแปร Enum มีพฤติกรรมเป็น Value Type จะจัดเก็บและส่งผ่านบน Stack โดยตรง (ยกเว้นสมาชิกภายในอ้างอิงไป Heap)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คืนทรัพยากรเมื่อ Panic ด้วย Drop</a:t>
            </a:r>
            <a:r>
              <a:rPr lang="en-US" b="true" sz="1899">
                <a:solidFill>
                  <a:srgbClr val="222222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Trait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นั่นคือ เมื่อเกิด panic! รันไทม์จะไล่ทำลายตัวแปรใน Stack ย้อนกลับทีละตัวผ่าน Drop Trait เพื่อคืนหน่วยความจำและทรัพยากรทั้งหมดให้ระบบอย่างปลอดภัย</a:t>
            </a:r>
          </a:p>
        </p:txBody>
      </p:sp>
    </p:spTree>
  </p:cSld>
  <p:clrMapOvr>
    <a:masterClrMapping/>
  </p:clrMapOvr>
  <p:transition spd="fast">
    <p:wipe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0031" y="2900397"/>
            <a:ext cx="5777781" cy="3655646"/>
            <a:chOff x="0" y="0"/>
            <a:chExt cx="440826" cy="2789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826" cy="278922"/>
            </a:xfrm>
            <a:custGeom>
              <a:avLst/>
              <a:gdLst/>
              <a:ahLst/>
              <a:cxnLst/>
              <a:rect r="r" b="b" t="t" l="l"/>
              <a:pathLst>
                <a:path h="278922" w="440826">
                  <a:moveTo>
                    <a:pt x="440826" y="62978"/>
                  </a:moveTo>
                  <a:lnTo>
                    <a:pt x="440826" y="215945"/>
                  </a:lnTo>
                  <a:cubicBezTo>
                    <a:pt x="440826" y="250726"/>
                    <a:pt x="412630" y="278922"/>
                    <a:pt x="377848" y="278922"/>
                  </a:cubicBezTo>
                  <a:lnTo>
                    <a:pt x="62978" y="278922"/>
                  </a:lnTo>
                  <a:cubicBezTo>
                    <a:pt x="28196" y="278922"/>
                    <a:pt x="0" y="250726"/>
                    <a:pt x="0" y="215945"/>
                  </a:cubicBezTo>
                  <a:lnTo>
                    <a:pt x="0" y="62978"/>
                  </a:lnTo>
                  <a:cubicBezTo>
                    <a:pt x="0" y="28196"/>
                    <a:pt x="28196" y="0"/>
                    <a:pt x="62978" y="0"/>
                  </a:cubicBezTo>
                  <a:lnTo>
                    <a:pt x="377848" y="0"/>
                  </a:lnTo>
                  <a:cubicBezTo>
                    <a:pt x="412630" y="0"/>
                    <a:pt x="440826" y="28196"/>
                    <a:pt x="440826" y="62978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0826" cy="317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54925" y="2900397"/>
            <a:ext cx="9423045" cy="6631072"/>
            <a:chOff x="0" y="0"/>
            <a:chExt cx="718948" cy="5059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948" cy="505944"/>
            </a:xfrm>
            <a:custGeom>
              <a:avLst/>
              <a:gdLst/>
              <a:ahLst/>
              <a:cxnLst/>
              <a:rect r="r" b="b" t="t" l="l"/>
              <a:pathLst>
                <a:path h="505944" w="718948">
                  <a:moveTo>
                    <a:pt x="718948" y="38615"/>
                  </a:moveTo>
                  <a:lnTo>
                    <a:pt x="718948" y="467329"/>
                  </a:lnTo>
                  <a:cubicBezTo>
                    <a:pt x="718948" y="488655"/>
                    <a:pt x="701659" y="505944"/>
                    <a:pt x="680333" y="505944"/>
                  </a:cubicBezTo>
                  <a:lnTo>
                    <a:pt x="38615" y="505944"/>
                  </a:lnTo>
                  <a:cubicBezTo>
                    <a:pt x="17288" y="505944"/>
                    <a:pt x="0" y="488655"/>
                    <a:pt x="0" y="467329"/>
                  </a:cubicBezTo>
                  <a:lnTo>
                    <a:pt x="0" y="38615"/>
                  </a:lnTo>
                  <a:cubicBezTo>
                    <a:pt x="0" y="17288"/>
                    <a:pt x="17288" y="0"/>
                    <a:pt x="38615" y="0"/>
                  </a:cubicBezTo>
                  <a:lnTo>
                    <a:pt x="680333" y="0"/>
                  </a:lnTo>
                  <a:cubicBezTo>
                    <a:pt x="701659" y="0"/>
                    <a:pt x="718948" y="17288"/>
                    <a:pt x="718948" y="3861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8948" cy="544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909883" y="3862098"/>
            <a:ext cx="9001945" cy="53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ความปลอดภัย (Safety)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กำจัดปัญหา Null Pointer Exception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โดยบังคับใช้ Option&lt;T&gt; แทน null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ป้องกันการนำข้อมูลที่ไม่ถูกต้องไปใช้งาน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โดยบังคับตรวจสอบและแกะค่าจาก Option หรือ Result ก่อนนำไปใช้งานเสมอ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ป้องกันระบบเสียหายด้วย panic!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โดยสั่งหยุดโปรแกรมทันทีเมื่อเจอข้อผิดพลาดที่จัดการต่อไม่ได้ เพื่อไม่ให้โปรแกรมฝืนทำงานต่อด้วยข้อมูลที่ผิด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ความน่าเชื่อถือ (Reliability)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การทำงานเป็นไปตามลำดับ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โดยเป็นการคืนค่าเหมือนฟังก์ชันปกติ ไม่มีการกระโดดข้ามขั้นตอนแบบกะทันหัน ทำให้อ่านและตรวจสอบโค้ดได้ง่าย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ป้องกันการละเลยข้อผิดพลาดด้วย #[must_use]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โดยจะบังคับให้จัดการผลลัพธ์เสมอ ถ้าละเลยหรือไม่นำค่าไปจัดการต่อ คอมไพเลอร์จะแจ้งเตือนทันที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ประสิทธิภาพ (Performance)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ไม่มี Runtime Overhead บน Heap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เพราะเป็นการจัดเก็บและส่งผ่าน Result และ Option บน Stack Frame เหมือนการคืนค่าฟังก์ชันทั่วไป จึงไม่มีภาระการจอง Heap Memory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989" y="3895794"/>
            <a:ext cx="5231442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การซ่อนรายละเอียดข้อมูล (Data Abstraction) 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ในภาษา Rust จะซ่อนค่าข้อมูลและสถานะ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ข้อผิดพลาดไว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้ภายในโครงส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ร้าง Option หรือ Result โดยไม่ให้เข้าถึงตำแหน่งหน่วยความจำโดยตรง แต่จะบังคับให้เข้าถึงและใช้งานผ่านอินเทอร์เฟซที่ภาษากำหนดไว้เท่านั้น 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เช่น การใช้ Pattern Matching หรือเมธอดสำหรับการแกะค่า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64989" y="3106137"/>
            <a:ext cx="2517614" cy="570582"/>
            <a:chOff x="0" y="0"/>
            <a:chExt cx="898589" cy="2036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98589">
                  <a:moveTo>
                    <a:pt x="898589" y="101829"/>
                  </a:moveTo>
                  <a:lnTo>
                    <a:pt x="898589" y="101829"/>
                  </a:lnTo>
                  <a:cubicBezTo>
                    <a:pt x="898589" y="128836"/>
                    <a:pt x="887861" y="154737"/>
                    <a:pt x="868764" y="173834"/>
                  </a:cubicBezTo>
                  <a:cubicBezTo>
                    <a:pt x="849668" y="192930"/>
                    <a:pt x="823767" y="203659"/>
                    <a:pt x="796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96760" y="0"/>
                  </a:lnTo>
                  <a:cubicBezTo>
                    <a:pt x="852999" y="0"/>
                    <a:pt x="898589" y="45591"/>
                    <a:pt x="898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98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04068" y="3185194"/>
            <a:ext cx="191229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Abstraction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909883" y="3106137"/>
            <a:ext cx="2262656" cy="570582"/>
            <a:chOff x="0" y="0"/>
            <a:chExt cx="807589" cy="2036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7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07589">
                  <a:moveTo>
                    <a:pt x="807589" y="101829"/>
                  </a:moveTo>
                  <a:lnTo>
                    <a:pt x="807589" y="101829"/>
                  </a:lnTo>
                  <a:cubicBezTo>
                    <a:pt x="807589" y="128836"/>
                    <a:pt x="796861" y="154737"/>
                    <a:pt x="777764" y="173834"/>
                  </a:cubicBezTo>
                  <a:cubicBezTo>
                    <a:pt x="758668" y="192930"/>
                    <a:pt x="732767" y="203659"/>
                    <a:pt x="705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05760" y="0"/>
                  </a:lnTo>
                  <a:cubicBezTo>
                    <a:pt x="761999" y="0"/>
                    <a:pt x="807589" y="45591"/>
                    <a:pt x="807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7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248962" y="3185194"/>
            <a:ext cx="173018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Why Rust?</a:t>
            </a:r>
          </a:p>
        </p:txBody>
      </p: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6646" y="-7782"/>
            <a:ext cx="16911828" cy="3989394"/>
            <a:chOff x="0" y="0"/>
            <a:chExt cx="22549104" cy="5319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7" r="0" b="53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1 — การใช้ unwrap() และ “ ? “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2976" y="1986915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2588895"/>
            <a:ext cx="8162949" cy="4722130"/>
            <a:chOff x="0" y="0"/>
            <a:chExt cx="10607040" cy="6135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6135997"/>
            </a:xfrm>
            <a:custGeom>
              <a:avLst/>
              <a:gdLst/>
              <a:ahLst/>
              <a:cxnLst/>
              <a:rect r="r" b="b" t="t" l="l"/>
              <a:pathLst>
                <a:path h="6135997" w="10607040">
                  <a:moveTo>
                    <a:pt x="0" y="175314"/>
                  </a:moveTo>
                  <a:cubicBezTo>
                    <a:pt x="0" y="78526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78526"/>
                    <a:pt x="10607040" y="175314"/>
                  </a:cubicBezTo>
                  <a:lnTo>
                    <a:pt x="10607040" y="5960683"/>
                  </a:lnTo>
                  <a:cubicBezTo>
                    <a:pt x="10607040" y="6057471"/>
                    <a:pt x="10557891" y="6135997"/>
                    <a:pt x="10497312" y="6135997"/>
                  </a:cubicBezTo>
                  <a:lnTo>
                    <a:pt x="109728" y="6135997"/>
                  </a:lnTo>
                  <a:cubicBezTo>
                    <a:pt x="49149" y="6135997"/>
                    <a:pt x="0" y="6057471"/>
                    <a:pt x="0" y="596068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6293" y="2766268"/>
            <a:ext cx="7701962" cy="295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read_port(input: &amp;str) -&gt; u16 {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input.trim().parse().unwrap()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config = "abc"; 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port = read_port(config);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println!("Starting server on port {}",port);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052560" y="1986915"/>
            <a:ext cx="7955280" cy="548640"/>
            <a:chOff x="0" y="0"/>
            <a:chExt cx="10607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52560" y="2588895"/>
            <a:ext cx="8545068" cy="4722130"/>
            <a:chOff x="0" y="0"/>
            <a:chExt cx="11107010" cy="61378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7010" cy="6137898"/>
            </a:xfrm>
            <a:custGeom>
              <a:avLst/>
              <a:gdLst/>
              <a:ahLst/>
              <a:cxnLst/>
              <a:rect r="r" b="b" t="t" l="l"/>
              <a:pathLst>
                <a:path h="6137898" w="11107010">
                  <a:moveTo>
                    <a:pt x="0" y="175369"/>
                  </a:moveTo>
                  <a:cubicBezTo>
                    <a:pt x="0" y="78550"/>
                    <a:pt x="51466" y="0"/>
                    <a:pt x="114900" y="0"/>
                  </a:cubicBezTo>
                  <a:lnTo>
                    <a:pt x="10992110" y="0"/>
                  </a:lnTo>
                  <a:cubicBezTo>
                    <a:pt x="11055545" y="0"/>
                    <a:pt x="11107010" y="78550"/>
                    <a:pt x="11107010" y="175369"/>
                  </a:cubicBezTo>
                  <a:lnTo>
                    <a:pt x="11107010" y="5962529"/>
                  </a:lnTo>
                  <a:cubicBezTo>
                    <a:pt x="11107010" y="6059347"/>
                    <a:pt x="11055545" y="6137898"/>
                    <a:pt x="10992110" y="6137898"/>
                  </a:cubicBezTo>
                  <a:lnTo>
                    <a:pt x="114900" y="6137898"/>
                  </a:lnTo>
                  <a:cubicBezTo>
                    <a:pt x="51466" y="6137898"/>
                    <a:pt x="0" y="6059347"/>
                    <a:pt x="0" y="596252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266301" y="2682413"/>
            <a:ext cx="8117586" cy="446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std::num::ParseIntError;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read_port(input: &amp;str) -&gt; Result&lt;u16, ParseIntError&gt;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port: u16 = input.trim().parse()?;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Ok(port)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config = "abc";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read_port(config)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Ok(port) =&gt; println!("Starting server on port {}", port),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Err(e) =&gt; println!("Invalid config: {}", e),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7468362"/>
            <a:ext cx="16911828" cy="2194560"/>
            <a:chOff x="0" y="0"/>
            <a:chExt cx="22549104" cy="2926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7674102"/>
            <a:ext cx="16226028" cy="480060"/>
            <a:chOff x="0" y="0"/>
            <a:chExt cx="21634704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634704" cy="640080"/>
            </a:xfrm>
            <a:custGeom>
              <a:avLst/>
              <a:gdLst/>
              <a:ahLst/>
              <a:cxnLst/>
              <a:rect r="r" b="b" t="t" l="l"/>
              <a:pathLst>
                <a:path h="640080" w="21634704">
                  <a:moveTo>
                    <a:pt x="0" y="0"/>
                  </a:moveTo>
                  <a:lnTo>
                    <a:pt x="21634704" y="0"/>
                  </a:lnTo>
                  <a:lnTo>
                    <a:pt x="216347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594" r="0" b="-6085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163470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33272" y="8068437"/>
            <a:ext cx="1622602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เพร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าะถ้าใช้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.unwrap()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แล้วผลลัพธ์เป็น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โปรแกรมจะ panic และหยุดทำงานทันที แต่ถ้าใช้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แทน ตัว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จะถูกส่งกลับไปยังฟังก์ชันที่เรียกใช้งาน (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caller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 เพื่อให้ฟังก์ชันนั้นเลือกได้เองว่าจะจัดการ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อย่างไร เช่น แสดงข้อความแจ้งเตือน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5503" y="-104513"/>
            <a:ext cx="17132828" cy="3303594"/>
            <a:chOff x="0" y="0"/>
            <a:chExt cx="22843771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43772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843772">
                  <a:moveTo>
                    <a:pt x="0" y="0"/>
                  </a:moveTo>
                  <a:lnTo>
                    <a:pt x="22843772" y="0"/>
                  </a:lnTo>
                  <a:lnTo>
                    <a:pt x="22843772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1289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843771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2 — การผูก Error String กับการใช้ Error variant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4657" y="1867472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4657" y="2416112"/>
            <a:ext cx="8162949" cy="5187497"/>
            <a:chOff x="0" y="0"/>
            <a:chExt cx="10607040" cy="6740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6740700"/>
            </a:xfrm>
            <a:custGeom>
              <a:avLst/>
              <a:gdLst/>
              <a:ahLst/>
              <a:cxnLst/>
              <a:rect r="r" b="b" t="t" l="l"/>
              <a:pathLst>
                <a:path h="6740700" w="10607040">
                  <a:moveTo>
                    <a:pt x="0" y="192591"/>
                  </a:moveTo>
                  <a:cubicBezTo>
                    <a:pt x="0" y="86265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86265"/>
                    <a:pt x="10607040" y="192591"/>
                  </a:cubicBezTo>
                  <a:lnTo>
                    <a:pt x="10607040" y="6548109"/>
                  </a:lnTo>
                  <a:cubicBezTo>
                    <a:pt x="10607040" y="6654435"/>
                    <a:pt x="10557891" y="6740700"/>
                    <a:pt x="10497312" y="6740700"/>
                  </a:cubicBezTo>
                  <a:lnTo>
                    <a:pt x="109728" y="6740700"/>
                  </a:lnTo>
                  <a:cubicBezTo>
                    <a:pt x="49149" y="6740700"/>
                    <a:pt x="0" y="6654435"/>
                    <a:pt x="0" y="654810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5150" y="2497121"/>
            <a:ext cx="7701962" cy="53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find_user(id: u32) -&gt; Result&lt;String, String&gt;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if id == 1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Ok("Alice".to_string())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 else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Err("user not found".to_string())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match find_user(2)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Ok(name) =&gt; println!("Hello {}", name),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Err(err) =&gt;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if err.contains("not found")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println!("Creating a new user...");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} else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println!("Something else went wrong");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}}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</a:p>
          <a:p>
            <a:pPr algn="l">
              <a:lnSpc>
                <a:spcPts val="2345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051417" y="1867472"/>
            <a:ext cx="7955280" cy="548640"/>
            <a:chOff x="0" y="0"/>
            <a:chExt cx="10607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51417" y="2448497"/>
            <a:ext cx="8545068" cy="7017520"/>
            <a:chOff x="0" y="0"/>
            <a:chExt cx="11107010" cy="9121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7010" cy="9121480"/>
            </a:xfrm>
            <a:custGeom>
              <a:avLst/>
              <a:gdLst/>
              <a:ahLst/>
              <a:cxnLst/>
              <a:rect r="r" b="b" t="t" l="l"/>
              <a:pathLst>
                <a:path h="9121480" w="11107010">
                  <a:moveTo>
                    <a:pt x="0" y="260614"/>
                  </a:moveTo>
                  <a:cubicBezTo>
                    <a:pt x="0" y="116733"/>
                    <a:pt x="51466" y="0"/>
                    <a:pt x="114900" y="0"/>
                  </a:cubicBezTo>
                  <a:lnTo>
                    <a:pt x="10992110" y="0"/>
                  </a:lnTo>
                  <a:cubicBezTo>
                    <a:pt x="11055545" y="0"/>
                    <a:pt x="11107010" y="116733"/>
                    <a:pt x="11107010" y="260614"/>
                  </a:cubicBezTo>
                  <a:lnTo>
                    <a:pt x="11107010" y="8860867"/>
                  </a:lnTo>
                  <a:cubicBezTo>
                    <a:pt x="11107010" y="9004747"/>
                    <a:pt x="11055545" y="9121480"/>
                    <a:pt x="10992110" y="9121480"/>
                  </a:cubicBezTo>
                  <a:lnTo>
                    <a:pt x="114900" y="9121480"/>
                  </a:lnTo>
                  <a:cubicBezTo>
                    <a:pt x="51466" y="9121480"/>
                    <a:pt x="0" y="9004747"/>
                    <a:pt x="0" y="886086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265158" y="2589984"/>
            <a:ext cx="8117586" cy="666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AppError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UserNotFound,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DatabaseDown,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find_user(id: u32) -&gt; Result&lt;String, AppError&gt;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id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1 =&gt; Ok("Alice".to_string()),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99 =&gt; Err(AppError::DatabaseDown),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_ =&gt; Err(AppError::UserNotFound),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id = 2;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find_user(id)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Ok(name) =&gt; println!("Hello {}", name),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Err(AppError::UserNotFound) =&gt; println!("Creating a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new user..."),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Err(AppError::DatabaseDown) =&gt; println!("Try again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later"),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7823347"/>
            <a:ext cx="8162949" cy="2001245"/>
            <a:chOff x="0" y="0"/>
            <a:chExt cx="10883931" cy="2668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3932" cy="2668327"/>
            </a:xfrm>
            <a:custGeom>
              <a:avLst/>
              <a:gdLst/>
              <a:ahLst/>
              <a:cxnLst/>
              <a:rect r="r" b="b" t="t" l="l"/>
              <a:pathLst>
                <a:path h="2668327" w="10883932">
                  <a:moveTo>
                    <a:pt x="0" y="133416"/>
                  </a:moveTo>
                  <a:cubicBezTo>
                    <a:pt x="0" y="59759"/>
                    <a:pt x="31631" y="0"/>
                    <a:pt x="70618" y="0"/>
                  </a:cubicBezTo>
                  <a:lnTo>
                    <a:pt x="10813314" y="0"/>
                  </a:lnTo>
                  <a:cubicBezTo>
                    <a:pt x="10852300" y="0"/>
                    <a:pt x="10883932" y="59759"/>
                    <a:pt x="10883932" y="133416"/>
                  </a:cubicBezTo>
                  <a:lnTo>
                    <a:pt x="10883932" y="2534910"/>
                  </a:lnTo>
                  <a:cubicBezTo>
                    <a:pt x="10883932" y="2608567"/>
                    <a:pt x="10852300" y="2668327"/>
                    <a:pt x="10813314" y="2668327"/>
                  </a:cubicBezTo>
                  <a:lnTo>
                    <a:pt x="70618" y="2668327"/>
                  </a:lnTo>
                  <a:cubicBezTo>
                    <a:pt x="31631" y="2668326"/>
                    <a:pt x="0" y="2608567"/>
                    <a:pt x="0" y="2534910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81812" y="7362431"/>
            <a:ext cx="8184761" cy="1535962"/>
            <a:chOff x="0" y="0"/>
            <a:chExt cx="10913015" cy="20479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13015" cy="2047949"/>
            </a:xfrm>
            <a:custGeom>
              <a:avLst/>
              <a:gdLst/>
              <a:ahLst/>
              <a:cxnLst/>
              <a:rect r="r" b="b" t="t" l="l"/>
              <a:pathLst>
                <a:path h="2047949" w="10913015">
                  <a:moveTo>
                    <a:pt x="0" y="0"/>
                  </a:moveTo>
                  <a:lnTo>
                    <a:pt x="10913015" y="0"/>
                  </a:lnTo>
                  <a:lnTo>
                    <a:pt x="10913015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214" r="-98246" b="-1214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913015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81812" y="8303767"/>
            <a:ext cx="8066937" cy="131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การเช็ก error ด้วย String ทำให้โค้ดต้องไปพึ่งพาข้อความที่เขียนไว้ ซึ่งคอมไพเลอร์ไม่ได้ช่วยตรวจสอบตรงนี้ ถ้ามีการเปลี่ยนข้อความจาก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not found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such user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โค้ดที่ใช้ตรวจจับ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ก็อาจไม่ทำงานโดยที่เราไม่รู้ตัว แต่ถ้าใช้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enum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เราสามารถกำหนดประเภทของ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ไว้ชัดเจน ทำให้ Rust สามารถตรวจสอบผ่านระบบ type ได้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41931" y="9710928"/>
            <a:ext cx="10972800" cy="411480"/>
            <a:chOff x="0" y="0"/>
            <a:chExt cx="14630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06040"/>
            <a:ext cx="16911828" cy="2379955"/>
            <a:chOff x="0" y="0"/>
            <a:chExt cx="22549104" cy="3173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3173272"/>
            </a:xfrm>
            <a:custGeom>
              <a:avLst/>
              <a:gdLst/>
              <a:ahLst/>
              <a:cxnLst/>
              <a:rect r="r" b="b" t="t" l="l"/>
              <a:pathLst>
                <a:path h="3173272" w="22549104">
                  <a:moveTo>
                    <a:pt x="0" y="118075"/>
                  </a:moveTo>
                  <a:cubicBezTo>
                    <a:pt x="0" y="52888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52888"/>
                    <a:pt x="22549104" y="118075"/>
                  </a:cubicBezTo>
                  <a:lnTo>
                    <a:pt x="22549104" y="3055197"/>
                  </a:lnTo>
                  <a:cubicBezTo>
                    <a:pt x="22549104" y="3120385"/>
                    <a:pt x="22483572" y="3173272"/>
                    <a:pt x="22402800" y="3173272"/>
                  </a:cubicBezTo>
                  <a:lnTo>
                    <a:pt x="146304" y="3173272"/>
                  </a:lnTo>
                  <a:cubicBezTo>
                    <a:pt x="65532" y="3173273"/>
                    <a:pt x="0" y="3120385"/>
                    <a:pt x="0" y="3055197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6088868" cy="480060"/>
            <a:chOff x="0" y="0"/>
            <a:chExt cx="21451824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45182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โจทย์ (Problem)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7280" y="3459480"/>
            <a:ext cx="1608886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เขียนฟังก์ชัน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add_strings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ที่รับข้อความ 2 ตัว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(&amp;str)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แปลงเป็น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i32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แล้วคืนผลบวก โดยมี return type เป็น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Result&lt;i32, ParseIntError&gt;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และต้องใช้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 ? “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ในการส่ง error กลับ </a:t>
            </a:r>
            <a:r>
              <a:rPr lang="en-US" sz="2150" b="true">
                <a:solidFill>
                  <a:srgbClr val="B23B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(ห้ามใช้ unwrap)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42348" y="5696422"/>
            <a:ext cx="7510210" cy="1490703"/>
            <a:chOff x="0" y="0"/>
            <a:chExt cx="22015566" cy="43698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15566" cy="4369875"/>
            </a:xfrm>
            <a:custGeom>
              <a:avLst/>
              <a:gdLst/>
              <a:ahLst/>
              <a:cxnLst/>
              <a:rect r="r" b="b" t="t" l="l"/>
              <a:pathLst>
                <a:path h="4369875" w="22015566">
                  <a:moveTo>
                    <a:pt x="0" y="162600"/>
                  </a:moveTo>
                  <a:cubicBezTo>
                    <a:pt x="0" y="72831"/>
                    <a:pt x="63981" y="0"/>
                    <a:pt x="142842" y="0"/>
                  </a:cubicBezTo>
                  <a:lnTo>
                    <a:pt x="21872724" y="0"/>
                  </a:lnTo>
                  <a:cubicBezTo>
                    <a:pt x="21951584" y="0"/>
                    <a:pt x="22015566" y="72831"/>
                    <a:pt x="22015566" y="162600"/>
                  </a:cubicBezTo>
                  <a:lnTo>
                    <a:pt x="22015566" y="4207275"/>
                  </a:lnTo>
                  <a:cubicBezTo>
                    <a:pt x="22015566" y="4297044"/>
                    <a:pt x="21951584" y="4369875"/>
                    <a:pt x="21872724" y="4369875"/>
                  </a:cubicBezTo>
                  <a:lnTo>
                    <a:pt x="142842" y="4369875"/>
                  </a:lnTo>
                  <a:cubicBezTo>
                    <a:pt x="63981" y="4369875"/>
                    <a:pt x="0" y="4297044"/>
                    <a:pt x="0" y="420727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42348" y="5195788"/>
            <a:ext cx="7955280" cy="480060"/>
            <a:chOff x="0" y="0"/>
            <a:chExt cx="106070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070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Hint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09310" y="5885398"/>
            <a:ext cx="717628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.parse::&lt;i32&gt;()?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กับข้อความแต่ละตัว ถ้าแปลงไม่ได้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 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จะ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return Err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ออกจากฟังก์ชันให้อัตโนมัติ และ อย่าลืม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std::num::ParseIntError;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5535402"/>
            <a:ext cx="8567426" cy="3573018"/>
            <a:chOff x="0" y="0"/>
            <a:chExt cx="11423235" cy="47640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23235" cy="4764024"/>
            </a:xfrm>
            <a:custGeom>
              <a:avLst/>
              <a:gdLst/>
              <a:ahLst/>
              <a:cxnLst/>
              <a:rect r="r" b="b" t="t" l="l"/>
              <a:pathLst>
                <a:path h="4764024" w="11423235">
                  <a:moveTo>
                    <a:pt x="0" y="142921"/>
                  </a:moveTo>
                  <a:cubicBezTo>
                    <a:pt x="0" y="64017"/>
                    <a:pt x="52931" y="0"/>
                    <a:pt x="118171" y="0"/>
                  </a:cubicBezTo>
                  <a:lnTo>
                    <a:pt x="11305064" y="0"/>
                  </a:lnTo>
                  <a:cubicBezTo>
                    <a:pt x="11370304" y="0"/>
                    <a:pt x="11423235" y="64017"/>
                    <a:pt x="11423235" y="142921"/>
                  </a:cubicBezTo>
                  <a:lnTo>
                    <a:pt x="11423235" y="4621103"/>
                  </a:lnTo>
                  <a:cubicBezTo>
                    <a:pt x="11423235" y="4700007"/>
                    <a:pt x="11370304" y="4764024"/>
                    <a:pt x="11305064" y="4764024"/>
                  </a:cubicBezTo>
                  <a:lnTo>
                    <a:pt x="118171" y="4764024"/>
                  </a:lnTo>
                  <a:cubicBezTo>
                    <a:pt x="52931" y="4764024"/>
                    <a:pt x="0" y="4700008"/>
                    <a:pt x="0" y="462110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86466" y="5305850"/>
            <a:ext cx="8270748" cy="399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std::num::ParseIntError;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add_strings(a: &amp;str, b: &amp;str) -&gt; Result&lt;i32, ParseIntError&gt; {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x = a.trim().parse::&lt;i32&gt;()?;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y = b.trim().parse::&lt;i32&gt;()?;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Ok(x + y)}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println!("{:?}", add_strings("10", "20"));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println!("{:?}", add_strings("10", "abc"));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690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5043145"/>
            <a:ext cx="7955280" cy="492258"/>
            <a:chOff x="0" y="0"/>
            <a:chExt cx="10607040" cy="6563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7040" cy="656344"/>
            </a:xfrm>
            <a:custGeom>
              <a:avLst/>
              <a:gdLst/>
              <a:ahLst/>
              <a:cxnLst/>
              <a:rect r="r" b="b" t="t" l="l"/>
              <a:pathLst>
                <a:path h="6563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56344"/>
                  </a:lnTo>
                  <a:lnTo>
                    <a:pt x="0" y="656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132" r="0" b="-2636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607040" cy="70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42348" y="7679383"/>
            <a:ext cx="7510210" cy="1366878"/>
            <a:chOff x="0" y="0"/>
            <a:chExt cx="22015566" cy="40068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015566" cy="4006892"/>
            </a:xfrm>
            <a:custGeom>
              <a:avLst/>
              <a:gdLst/>
              <a:ahLst/>
              <a:cxnLst/>
              <a:rect r="r" b="b" t="t" l="l"/>
              <a:pathLst>
                <a:path h="4006892" w="22015566">
                  <a:moveTo>
                    <a:pt x="0" y="149094"/>
                  </a:moveTo>
                  <a:cubicBezTo>
                    <a:pt x="0" y="66782"/>
                    <a:pt x="63981" y="0"/>
                    <a:pt x="142842" y="0"/>
                  </a:cubicBezTo>
                  <a:lnTo>
                    <a:pt x="21872724" y="0"/>
                  </a:lnTo>
                  <a:cubicBezTo>
                    <a:pt x="21951584" y="0"/>
                    <a:pt x="22015566" y="66782"/>
                    <a:pt x="22015566" y="149094"/>
                  </a:cubicBezTo>
                  <a:lnTo>
                    <a:pt x="22015566" y="3857799"/>
                  </a:lnTo>
                  <a:cubicBezTo>
                    <a:pt x="22015566" y="3940110"/>
                    <a:pt x="21951584" y="4006892"/>
                    <a:pt x="21872724" y="4006892"/>
                  </a:cubicBezTo>
                  <a:lnTo>
                    <a:pt x="142842" y="4006892"/>
                  </a:lnTo>
                  <a:cubicBezTo>
                    <a:pt x="63981" y="4006892"/>
                    <a:pt x="0" y="3940111"/>
                    <a:pt x="0" y="3857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809310" y="7873174"/>
            <a:ext cx="6717030" cy="87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  <a:spcBef>
                <a:spcPct val="0"/>
              </a:spcBef>
            </a:pPr>
            <a:r>
              <a:rPr lang="en-US" sz="21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Ok(30)</a:t>
            </a:r>
          </a:p>
          <a:p>
            <a:pPr algn="l">
              <a:lnSpc>
                <a:spcPts val="3569"/>
              </a:lnSpc>
              <a:spcBef>
                <a:spcPct val="0"/>
              </a:spcBef>
            </a:pPr>
            <a:r>
              <a:rPr lang="en-US" sz="21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Err(ParseIntError { kind: InvalidDigit })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42348" y="7187125"/>
            <a:ext cx="7955280" cy="492258"/>
            <a:chOff x="0" y="0"/>
            <a:chExt cx="10607040" cy="6563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656344"/>
            </a:xfrm>
            <a:custGeom>
              <a:avLst/>
              <a:gdLst/>
              <a:ahLst/>
              <a:cxnLst/>
              <a:rect r="r" b="b" t="t" l="l"/>
              <a:pathLst>
                <a:path h="6563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56344"/>
                  </a:lnTo>
                  <a:lnTo>
                    <a:pt x="0" y="656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132" r="0" b="-2636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607040" cy="70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output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674620"/>
            <a:ext cx="13696106" cy="1566118"/>
            <a:chOff x="0" y="0"/>
            <a:chExt cx="18261474" cy="20881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61474" cy="2088158"/>
            </a:xfrm>
            <a:custGeom>
              <a:avLst/>
              <a:gdLst/>
              <a:ahLst/>
              <a:cxnLst/>
              <a:rect r="r" b="b" t="t" l="l"/>
              <a:pathLst>
                <a:path h="2088158" w="18261474">
                  <a:moveTo>
                    <a:pt x="0" y="0"/>
                  </a:moveTo>
                  <a:lnTo>
                    <a:pt x="18261474" y="0"/>
                  </a:lnTo>
                  <a:lnTo>
                    <a:pt x="18261474" y="2088158"/>
                  </a:lnTo>
                  <a:lnTo>
                    <a:pt x="0" y="2088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88" r="-14466" b="-1235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61474" cy="2126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แบ่งชนิด Error ชัดเจน</a:t>
              </a:r>
              <a:r>
                <a:rPr lang="en-US" sz="2400">
                  <a:solidFill>
                    <a:srgbClr val="8B2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โดยถ้าเกิดข้อผิดพลาด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รุนแรงจะหยุดทำงานทันที (panic!) แต่ถ้าเป็นข้อผิดพลาดที่แก้ไขได้ จะส่งค่ากลับมาควบคุมต่อผ่าน </a:t>
              </a: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หรือ </a:t>
              </a: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" y="4149090"/>
            <a:ext cx="15677388" cy="891540"/>
            <a:chOff x="0" y="0"/>
            <a:chExt cx="20903184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ไม่มี Null เพื่อป้องกันโ</a:t>
              </a: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ปรแกรมล่ม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จะตัดการใช้ null ออกไป แล้วใช้ Option บังคับให้เราจัดการกรณีที่ "ไม่มีข้อมูล" แทน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" y="5692140"/>
            <a:ext cx="15677388" cy="891540"/>
            <a:chOff x="0" y="0"/>
            <a:chExt cx="20903184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ส่งต่อ Error ง่าย ๆ ด้วย</a:t>
              </a: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เครื่องหมาย ?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แค่ใส่ ? ก็สามารถส่ง Error ไปจัดการต่อได้เลย ช่วยให้โค้ดสั้น และอ่านง่าย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14500" y="7166610"/>
            <a:ext cx="14865754" cy="891540"/>
            <a:chOff x="0" y="0"/>
            <a:chExt cx="19821005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821006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821006">
                  <a:moveTo>
                    <a:pt x="0" y="0"/>
                  </a:moveTo>
                  <a:lnTo>
                    <a:pt x="19821006" y="0"/>
                  </a:lnTo>
                  <a:lnTo>
                    <a:pt x="1982100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-5459" b="-2926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9821005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การเชื่อมโยงวิชา PPL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เปลี่ยนจากการรอดัก Error ตอนรันโปรแกรม มาเป็นการบังคับจัดการทุกกรณีผ่าน Type System ตั้งแต่ขั้นตอนคอมไพล์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6860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Rust Programming Language (The Rust Book) — https://doc.rust-lang.org/book/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37147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by Example — https://doc.rust-lang.org/rust-by-example/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4743450"/>
            <a:ext cx="1691182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by Example — https://doc.rust-lang.org/rust-by-example/index.html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57721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Rustify: Rust Error Handling in 2026 — https://rustify.rs/articles/rust-error-handling-result-option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7406640"/>
            <a:ext cx="16911828" cy="548640"/>
            <a:chOff x="0" y="0"/>
            <a:chExt cx="22549104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 https://github.com/670710620/rust-tutorial-2569/tree/main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8B2E2E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C9A227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215615"/>
            <a:ext cx="16088868" cy="4839556"/>
            <a:chOff x="0" y="0"/>
            <a:chExt cx="21451824" cy="6452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6452741"/>
            </a:xfrm>
            <a:custGeom>
              <a:avLst/>
              <a:gdLst/>
              <a:ahLst/>
              <a:cxnLst/>
              <a:rect r="r" b="b" t="t" l="l"/>
              <a:pathLst>
                <a:path h="6452741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52741"/>
                  </a:lnTo>
                  <a:lnTo>
                    <a:pt x="0" y="6452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06" r="0" b="210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1824" cy="6471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9A227"/>
                  </a:solidFill>
                  <a:latin typeface="Cambria"/>
                  <a:ea typeface="Cambria"/>
                  <a:cs typeface="Cambria"/>
                  <a:sym typeface="Cambria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1980251"/>
            <a:chOff x="0" y="0"/>
            <a:chExt cx="21451824" cy="26403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2640335"/>
            </a:xfrm>
            <a:custGeom>
              <a:avLst/>
              <a:gdLst/>
              <a:ahLst/>
              <a:cxnLst/>
              <a:rect r="r" b="b" t="t" l="l"/>
              <a:pathLst>
                <a:path h="2640335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30" r="0" b="-790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451824" cy="2659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D8C8C8"/>
                  </a:solidFill>
                  <a:latin typeface="Cambria"/>
                  <a:ea typeface="Cambria"/>
                  <a:cs typeface="Cambria"/>
                  <a:sym typeface="Cambria"/>
                </a:rPr>
                <a:t>กลุ่ม [14]  —  [Error Handling : Option and Result]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DAHWFksJqjc</dc:identifier>
  <dcterms:modified xsi:type="dcterms:W3CDTF">2011-08-01T06:04:30Z</dcterms:modified>
  <cp:revision>1</cp:revision>
  <dc:title>Rust_Presentation.pptx</dc:title>
</cp:coreProperties>
</file>