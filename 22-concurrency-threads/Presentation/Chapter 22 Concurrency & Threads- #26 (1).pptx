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8288000" cy="10287000"/>
  <p:notesSz cx="6858000" cy="9144000"/>
  <p:embeddedFontLst>
    <p:embeddedFont>
      <p:font typeface="Arimo" panose="020B0604020202020204" charset="0"/>
      <p:regular r:id="rId18"/>
    </p:embeddedFont>
    <p:embeddedFont>
      <p:font typeface="Arimo Bold" panose="020B0604020202020204" charset="0"/>
      <p:regular r:id="rId19"/>
    </p:embeddedFont>
    <p:embeddedFont>
      <p:font typeface="Cloud Soft Bold" panose="020B0604020202020204" charset="0"/>
      <p:regular r:id="rId20"/>
    </p:embeddedFont>
    <p:embeddedFont>
      <p:font typeface="Cloud Soft Semi-Bold" panose="020B0604020202020204" charset="0"/>
      <p:regular r:id="rId21"/>
    </p:embeddedFont>
    <p:embeddedFont>
      <p:font typeface="Prompt" panose="00000500000000000000" pitchFamily="2" charset="-34"/>
      <p:regular r:id="rId22"/>
    </p:embeddedFont>
    <p:embeddedFont>
      <p:font typeface="Th Sarabun New" panose="020B0500040200020003" pitchFamily="34" charset="-34"/>
      <p:regular r:id="rId23"/>
      <p:bold r:id="rId24"/>
      <p:italic r:id="rId25"/>
      <p:boldItalic r:id="rId26"/>
    </p:embeddedFont>
    <p:embeddedFont>
      <p:font typeface="Th Sarabun New Bold" panose="020B0500040200020003" pitchFamily="34" charset="-34"/>
      <p:bold r:id="rId27"/>
    </p:embeddedFont>
    <p:embeddedFont>
      <p:font typeface="เอฟซี มินิมอล" panose="020B0604020202020204" charset="-34"/>
      <p:regular r:id="rId28"/>
    </p:embeddedFont>
    <p:embeddedFont>
      <p:font typeface="เอฟซี มินิมอล Bold" panose="020B0604020202020204" charset="-3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สไตล์สีปานกลาง 2 - เน้น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2" d="100"/>
          <a:sy n="32" d="100"/>
        </p:scale>
        <p:origin x="19" y="6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8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02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4458005"/>
            <a:ext cx="13084230" cy="2818972"/>
          </a:xfrm>
          <a:custGeom>
            <a:avLst/>
            <a:gdLst/>
            <a:ahLst/>
            <a:cxnLst/>
            <a:rect l="l" t="t" r="r" b="b"/>
            <a:pathLst>
              <a:path w="13084230" h="2818972">
                <a:moveTo>
                  <a:pt x="0" y="0"/>
                </a:moveTo>
                <a:lnTo>
                  <a:pt x="13084230" y="0"/>
                </a:lnTo>
                <a:lnTo>
                  <a:pt x="13084230" y="2818972"/>
                </a:lnTo>
                <a:lnTo>
                  <a:pt x="0" y="28189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625" r="-8625"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3" name="TextBox 3"/>
          <p:cNvSpPr txBox="1"/>
          <p:nvPr/>
        </p:nvSpPr>
        <p:spPr>
          <a:xfrm>
            <a:off x="1224211" y="4572769"/>
            <a:ext cx="13084230" cy="308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899"/>
              </a:lnSpc>
              <a:spcBef>
                <a:spcPct val="0"/>
              </a:spcBef>
            </a:pPr>
            <a:r>
              <a:rPr lang="en-US" sz="3499" u="none" strike="noStrike">
                <a:solidFill>
                  <a:srgbClr val="FFFFFF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| 1 | นายกรวิชญ์ บุญชู | Concept + Short Code |</a:t>
            </a:r>
          </a:p>
          <a:p>
            <a:pPr marL="0" lvl="0" indent="0" algn="l">
              <a:lnSpc>
                <a:spcPts val="4899"/>
              </a:lnSpc>
              <a:spcBef>
                <a:spcPct val="0"/>
              </a:spcBef>
            </a:pPr>
            <a:r>
              <a:rPr lang="en-US" sz="3499" u="none" strike="noStrike">
                <a:solidFill>
                  <a:srgbClr val="FFFFFF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| 2 | นายผกาย เมืองแมน | Detailed Code + Live Demo |</a:t>
            </a:r>
          </a:p>
          <a:p>
            <a:pPr marL="0" lvl="0" indent="0" algn="l">
              <a:lnSpc>
                <a:spcPts val="4899"/>
              </a:lnSpc>
              <a:spcBef>
                <a:spcPct val="0"/>
              </a:spcBef>
            </a:pPr>
            <a:r>
              <a:rPr lang="en-US" sz="3499" u="none" strike="noStrike">
                <a:solidFill>
                  <a:srgbClr val="FFFFFF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| 3 | นางสาวศศิธร โตนาม | Rust vs Other Language + PPL |</a:t>
            </a:r>
          </a:p>
          <a:p>
            <a:pPr marL="0" lvl="0" indent="0" algn="l">
              <a:lnSpc>
                <a:spcPts val="4899"/>
              </a:lnSpc>
              <a:spcBef>
                <a:spcPct val="0"/>
              </a:spcBef>
            </a:pPr>
            <a:r>
              <a:rPr lang="en-US" sz="3499" u="none" strike="noStrike">
                <a:solidFill>
                  <a:srgbClr val="FFFFFF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| 4 | นายธนภัทร คงหอม | Exercises + Common Mistakes |</a:t>
            </a:r>
          </a:p>
          <a:p>
            <a:pPr marL="0" lvl="0" indent="0" algn="l">
              <a:lnSpc>
                <a:spcPts val="4899"/>
              </a:lnSpc>
              <a:spcBef>
                <a:spcPct val="0"/>
              </a:spcBef>
            </a:pPr>
            <a:endParaRPr lang="en-US" sz="3499" u="none" strike="noStrike">
              <a:solidFill>
                <a:srgbClr val="FFFFFF"/>
              </a:solidFill>
              <a:latin typeface="Th Sarabun New"/>
              <a:ea typeface="Th Sarabun New"/>
              <a:cs typeface="Th Sarabun New"/>
              <a:sym typeface="Th Sarabun New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6220468" y="-796910"/>
            <a:ext cx="3086100" cy="11387605"/>
            <a:chOff x="0" y="0"/>
            <a:chExt cx="481659" cy="177730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" cy="1777306"/>
            </a:xfrm>
            <a:custGeom>
              <a:avLst/>
              <a:gdLst/>
              <a:ahLst/>
              <a:cxnLst/>
              <a:rect l="l" t="t" r="r" b="b"/>
              <a:pathLst>
                <a:path w="481659" h="1777306">
                  <a:moveTo>
                    <a:pt x="117906" y="0"/>
                  </a:moveTo>
                  <a:lnTo>
                    <a:pt x="363753" y="0"/>
                  </a:lnTo>
                  <a:cubicBezTo>
                    <a:pt x="428871" y="0"/>
                    <a:pt x="481659" y="52788"/>
                    <a:pt x="481659" y="117906"/>
                  </a:cubicBezTo>
                  <a:lnTo>
                    <a:pt x="481659" y="1659400"/>
                  </a:lnTo>
                  <a:cubicBezTo>
                    <a:pt x="481659" y="1724518"/>
                    <a:pt x="428871" y="1777306"/>
                    <a:pt x="363753" y="1777306"/>
                  </a:cubicBezTo>
                  <a:lnTo>
                    <a:pt x="117906" y="1777306"/>
                  </a:lnTo>
                  <a:cubicBezTo>
                    <a:pt x="52788" y="1777306"/>
                    <a:pt x="0" y="1724518"/>
                    <a:pt x="0" y="1659400"/>
                  </a:cubicBezTo>
                  <a:lnTo>
                    <a:pt x="0" y="117906"/>
                  </a:lnTo>
                  <a:cubicBezTo>
                    <a:pt x="0" y="52788"/>
                    <a:pt x="52788" y="0"/>
                    <a:pt x="117906" y="0"/>
                  </a:cubicBezTo>
                  <a:close/>
                </a:path>
              </a:pathLst>
            </a:custGeom>
            <a:solidFill>
              <a:srgbClr val="FFE1B6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81659" cy="1824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1019175"/>
            <a:ext cx="6534626" cy="397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7"/>
              </a:lnSpc>
              <a:spcBef>
                <a:spcPct val="0"/>
              </a:spcBef>
            </a:pPr>
            <a:r>
              <a:rPr lang="en-US" sz="2599" b="1" spc="220">
                <a:solidFill>
                  <a:srgbClr val="FFBD59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517321 PRINCIPLES OF PROGRAMMING LANGUAGES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1406779"/>
            <a:ext cx="4041100" cy="397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7"/>
              </a:lnSpc>
              <a:spcBef>
                <a:spcPct val="0"/>
              </a:spcBef>
            </a:pPr>
            <a:r>
              <a:rPr lang="en-US" sz="2599" b="1" spc="220">
                <a:solidFill>
                  <a:srgbClr val="FFFFFF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RUST TUTORIAL PRESENTATION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3047231"/>
            <a:ext cx="14051091" cy="910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80"/>
              </a:lnSpc>
              <a:spcBef>
                <a:spcPct val="0"/>
              </a:spcBef>
            </a:pPr>
            <a:r>
              <a:rPr lang="en-US" sz="6000" b="1" spc="509">
                <a:solidFill>
                  <a:srgbClr val="FFFFFF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กลุ่ม [22] — [CONCURRENCY &amp; THREADS]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8861171"/>
            <a:ext cx="7104222" cy="397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7"/>
              </a:lnSpc>
              <a:spcBef>
                <a:spcPct val="0"/>
              </a:spcBef>
            </a:pPr>
            <a:r>
              <a:rPr lang="en-US" sz="2599" spc="220">
                <a:solidFill>
                  <a:srgbClr val="FFFFFF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คณะวิทยาศาสตร์ มหาวิทยาลัยศิลปากร | ภาคการศึกษาที่ 1/2569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6948548" y="-421127"/>
            <a:ext cx="3086100" cy="11387605"/>
            <a:chOff x="0" y="0"/>
            <a:chExt cx="481659" cy="177730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81659" cy="1777306"/>
            </a:xfrm>
            <a:custGeom>
              <a:avLst/>
              <a:gdLst/>
              <a:ahLst/>
              <a:cxnLst/>
              <a:rect l="l" t="t" r="r" b="b"/>
              <a:pathLst>
                <a:path w="481659" h="1777306">
                  <a:moveTo>
                    <a:pt x="117906" y="0"/>
                  </a:moveTo>
                  <a:lnTo>
                    <a:pt x="363753" y="0"/>
                  </a:lnTo>
                  <a:cubicBezTo>
                    <a:pt x="428871" y="0"/>
                    <a:pt x="481659" y="52788"/>
                    <a:pt x="481659" y="117906"/>
                  </a:cubicBezTo>
                  <a:lnTo>
                    <a:pt x="481659" y="1659400"/>
                  </a:lnTo>
                  <a:cubicBezTo>
                    <a:pt x="481659" y="1724518"/>
                    <a:pt x="428871" y="1777306"/>
                    <a:pt x="363753" y="1777306"/>
                  </a:cubicBezTo>
                  <a:lnTo>
                    <a:pt x="117906" y="1777306"/>
                  </a:lnTo>
                  <a:cubicBezTo>
                    <a:pt x="52788" y="1777306"/>
                    <a:pt x="0" y="1724518"/>
                    <a:pt x="0" y="1659400"/>
                  </a:cubicBezTo>
                  <a:lnTo>
                    <a:pt x="0" y="117906"/>
                  </a:lnTo>
                  <a:cubicBezTo>
                    <a:pt x="0" y="52788"/>
                    <a:pt x="52788" y="0"/>
                    <a:pt x="117906" y="0"/>
                  </a:cubicBezTo>
                  <a:close/>
                </a:path>
              </a:pathLst>
            </a:custGeom>
            <a:solidFill>
              <a:srgbClr val="F3FFB6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81659" cy="1824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763518" y="-221754"/>
            <a:ext cx="3086100" cy="11387605"/>
            <a:chOff x="0" y="0"/>
            <a:chExt cx="481659" cy="177730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1659" cy="1777306"/>
            </a:xfrm>
            <a:custGeom>
              <a:avLst/>
              <a:gdLst/>
              <a:ahLst/>
              <a:cxnLst/>
              <a:rect l="l" t="t" r="r" b="b"/>
              <a:pathLst>
                <a:path w="481659" h="1777306">
                  <a:moveTo>
                    <a:pt x="117906" y="0"/>
                  </a:moveTo>
                  <a:lnTo>
                    <a:pt x="363753" y="0"/>
                  </a:lnTo>
                  <a:cubicBezTo>
                    <a:pt x="428871" y="0"/>
                    <a:pt x="481659" y="52788"/>
                    <a:pt x="481659" y="117906"/>
                  </a:cubicBezTo>
                  <a:lnTo>
                    <a:pt x="481659" y="1659400"/>
                  </a:lnTo>
                  <a:cubicBezTo>
                    <a:pt x="481659" y="1724518"/>
                    <a:pt x="428871" y="1777306"/>
                    <a:pt x="363753" y="1777306"/>
                  </a:cubicBezTo>
                  <a:lnTo>
                    <a:pt x="117906" y="1777306"/>
                  </a:lnTo>
                  <a:cubicBezTo>
                    <a:pt x="52788" y="1777306"/>
                    <a:pt x="0" y="1724518"/>
                    <a:pt x="0" y="1659400"/>
                  </a:cubicBezTo>
                  <a:lnTo>
                    <a:pt x="0" y="117906"/>
                  </a:lnTo>
                  <a:cubicBezTo>
                    <a:pt x="0" y="52788"/>
                    <a:pt x="52788" y="0"/>
                    <a:pt x="117906" y="0"/>
                  </a:cubicBezTo>
                  <a:close/>
                </a:path>
              </a:pathLst>
            </a:custGeom>
            <a:solidFill>
              <a:srgbClr val="C9FFB6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481659" cy="182493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57275" y="3376911"/>
            <a:ext cx="19802475" cy="7256180"/>
            <a:chOff x="0" y="0"/>
            <a:chExt cx="7096760" cy="26004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096760" cy="2600451"/>
            </a:xfrm>
            <a:custGeom>
              <a:avLst/>
              <a:gdLst/>
              <a:ahLst/>
              <a:cxnLst/>
              <a:rect l="l" t="t" r="r" b="b"/>
              <a:pathLst>
                <a:path w="7096760" h="2600451">
                  <a:moveTo>
                    <a:pt x="0" y="0"/>
                  </a:moveTo>
                  <a:lnTo>
                    <a:pt x="7096760" y="0"/>
                  </a:lnTo>
                  <a:lnTo>
                    <a:pt x="7096760" y="2600451"/>
                  </a:lnTo>
                  <a:lnTo>
                    <a:pt x="0" y="2600451"/>
                  </a:lnTo>
                  <a:close/>
                </a:path>
              </a:pathLst>
            </a:custGeom>
            <a:solidFill>
              <a:srgbClr val="66020D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7096760" cy="26480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1148946"/>
            <a:ext cx="10797661" cy="1768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66020D"/>
                </a:solidFill>
                <a:latin typeface="Cloud Soft Bold"/>
                <a:ea typeface="Cloud Soft Bold"/>
                <a:cs typeface="Cloud Soft Bold"/>
                <a:sym typeface="Cloud Soft Bold"/>
              </a:rPr>
              <a:t>Agenda — โครงสร้างการนำเสนอ Chapter 22: Concurrency &amp; Threads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61038" y="3682482"/>
            <a:ext cx="8188523" cy="552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53"/>
              </a:lnSpc>
              <a:spcBef>
                <a:spcPct val="0"/>
              </a:spcBef>
            </a:pPr>
            <a:endParaRPr/>
          </a:p>
          <a:p>
            <a:pPr algn="just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FFBD59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PART 1: Concept &amp; Short Code Illustration (โดย Korrawit B. — ~5 นาที)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     - แนวคิดหลัก: ความหมายของ Concurrency, 1:1 OS Threads และเหตุผลที่ Rust 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        ออกแบบการจัดการเธรดแบบนี้ 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     - ตัวอย่างโค้ดสั้น: การใช้ std::thread::spawn และ join()</a:t>
            </a:r>
          </a:p>
          <a:p>
            <a:pPr algn="just">
              <a:lnSpc>
                <a:spcPts val="2633"/>
              </a:lnSpc>
              <a:spcBef>
                <a:spcPct val="0"/>
              </a:spcBef>
            </a:pPr>
            <a:r>
              <a:rPr lang="en-US" sz="1880">
                <a:solidFill>
                  <a:srgbClr val="FFFFFF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 </a:t>
            </a:r>
          </a:p>
          <a:p>
            <a:pPr algn="just">
              <a:lnSpc>
                <a:spcPts val="2633"/>
              </a:lnSpc>
              <a:spcBef>
                <a:spcPct val="0"/>
              </a:spcBef>
            </a:pPr>
            <a:endParaRPr lang="en-US" sz="1880">
              <a:solidFill>
                <a:srgbClr val="FFFFFF"/>
              </a:solidFill>
              <a:latin typeface="Th Sarabun New"/>
              <a:ea typeface="Th Sarabun New"/>
              <a:cs typeface="Th Sarabun New"/>
              <a:sym typeface="Th Sarabun New"/>
            </a:endParaRPr>
          </a:p>
          <a:p>
            <a:pPr algn="just">
              <a:lnSpc>
                <a:spcPts val="2633"/>
              </a:lnSpc>
              <a:spcBef>
                <a:spcPct val="0"/>
              </a:spcBef>
            </a:pPr>
            <a:endParaRPr lang="en-US" sz="1880">
              <a:solidFill>
                <a:srgbClr val="FFFFFF"/>
              </a:solidFill>
              <a:latin typeface="Th Sarabun New"/>
              <a:ea typeface="Th Sarabun New"/>
              <a:cs typeface="Th Sarabun New"/>
              <a:sym typeface="Th Sarabun New"/>
            </a:endParaRPr>
          </a:p>
          <a:p>
            <a:pPr algn="just">
              <a:lnSpc>
                <a:spcPts val="2633"/>
              </a:lnSpc>
              <a:spcBef>
                <a:spcPct val="0"/>
              </a:spcBef>
            </a:pPr>
            <a:endParaRPr lang="en-US" sz="1880">
              <a:solidFill>
                <a:srgbClr val="FFFFFF"/>
              </a:solidFill>
              <a:latin typeface="Th Sarabun New"/>
              <a:ea typeface="Th Sarabun New"/>
              <a:cs typeface="Th Sarabun New"/>
              <a:sym typeface="Th Sarabun New"/>
            </a:endParaRPr>
          </a:p>
          <a:p>
            <a:pPr algn="just">
              <a:lnSpc>
                <a:spcPts val="4059"/>
              </a:lnSpc>
              <a:spcBef>
                <a:spcPct val="0"/>
              </a:spcBef>
            </a:pPr>
            <a:r>
              <a:rPr lang="en-US" sz="2899" b="1">
                <a:solidFill>
                  <a:srgbClr val="FFBD59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PART 2: Detailed Code &amp; Live Demo (โดย Phaguy M. — ~5 นาที)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     - โค้ดเชิงลึก: กลไก Message Passing (mpsc::channel) และ Shared State (Arc&lt;Mutex&lt;T&gt;&gt;) </a:t>
            </a:r>
          </a:p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     - Live Demo: สาธิตการรันโปรแกรมสดหน้าชั้นเรียนผ่าน cargo run</a:t>
            </a:r>
          </a:p>
          <a:p>
            <a:pPr algn="just">
              <a:lnSpc>
                <a:spcPts val="2633"/>
              </a:lnSpc>
              <a:spcBef>
                <a:spcPct val="0"/>
              </a:spcBef>
            </a:pPr>
            <a:r>
              <a:rPr lang="en-US" sz="1880">
                <a:solidFill>
                  <a:srgbClr val="FFFFFF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 </a:t>
            </a:r>
          </a:p>
          <a:p>
            <a:pPr algn="just">
              <a:lnSpc>
                <a:spcPts val="3639"/>
              </a:lnSpc>
              <a:spcBef>
                <a:spcPct val="0"/>
              </a:spcBef>
            </a:pPr>
            <a:endParaRPr lang="en-US" sz="1880">
              <a:solidFill>
                <a:srgbClr val="FFFFFF"/>
              </a:solidFill>
              <a:latin typeface="Th Sarabun New"/>
              <a:ea typeface="Th Sarabun New"/>
              <a:cs typeface="Th Sarabun New"/>
              <a:sym typeface="Th Sarabun New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073541" y="3993678"/>
            <a:ext cx="9181883" cy="4695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6"/>
              </a:lnSpc>
              <a:spcBef>
                <a:spcPct val="0"/>
              </a:spcBef>
            </a:pPr>
            <a:r>
              <a:rPr lang="en-US" sz="2897" b="1">
                <a:solidFill>
                  <a:srgbClr val="FFBD59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PART 3: Rust vs Other Languages &amp; PPL Analysis (โดย Sasithorn T. — ~5 นาที)</a:t>
            </a:r>
          </a:p>
          <a:p>
            <a:pPr algn="l">
              <a:lnSpc>
                <a:spcPts val="3341"/>
              </a:lnSpc>
              <a:spcBef>
                <a:spcPct val="0"/>
              </a:spcBef>
            </a:pPr>
            <a:r>
              <a:rPr lang="en-US" sz="2386">
                <a:solidFill>
                  <a:srgbClr val="FFFFFF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      - การเปรียบเทียบภาษา: ตารางเปรียบเทียบ Rust กับ Go, Java และ C++ </a:t>
            </a:r>
          </a:p>
          <a:p>
            <a:pPr algn="l">
              <a:lnSpc>
                <a:spcPts val="3341"/>
              </a:lnSpc>
              <a:spcBef>
                <a:spcPct val="0"/>
              </a:spcBef>
            </a:pPr>
            <a:r>
              <a:rPr lang="en-US" sz="2386">
                <a:solidFill>
                  <a:srgbClr val="FFFFFF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        ในมิติ Execution Model, Safety และ Overhead </a:t>
            </a:r>
          </a:p>
          <a:p>
            <a:pPr algn="l">
              <a:lnSpc>
                <a:spcPts val="3341"/>
              </a:lnSpc>
              <a:spcBef>
                <a:spcPct val="0"/>
              </a:spcBef>
            </a:pPr>
            <a:r>
              <a:rPr lang="en-US" sz="2386">
                <a:solidFill>
                  <a:srgbClr val="FFFFFF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     - วิเคราะห์เชิง PPL: การทำงานของ Ownership (move), Marker Traits (Send/Sync) และ</a:t>
            </a:r>
          </a:p>
          <a:p>
            <a:pPr algn="l">
              <a:lnSpc>
                <a:spcPts val="3341"/>
              </a:lnSpc>
              <a:spcBef>
                <a:spcPct val="0"/>
              </a:spcBef>
            </a:pPr>
            <a:r>
              <a:rPr lang="en-US" sz="2386">
                <a:solidFill>
                  <a:srgbClr val="FFFFFF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        Compile-time Data Race Prevention</a:t>
            </a:r>
          </a:p>
          <a:p>
            <a:pPr algn="l">
              <a:lnSpc>
                <a:spcPts val="3195"/>
              </a:lnSpc>
              <a:spcBef>
                <a:spcPct val="0"/>
              </a:spcBef>
            </a:pPr>
            <a:endParaRPr lang="en-US" sz="2386">
              <a:solidFill>
                <a:srgbClr val="FFFFFF"/>
              </a:solidFill>
              <a:latin typeface="Th Sarabun New"/>
              <a:ea typeface="Th Sarabun New"/>
              <a:cs typeface="Th Sarabun New"/>
              <a:sym typeface="Th Sarabun New"/>
            </a:endParaRPr>
          </a:p>
          <a:p>
            <a:pPr algn="l">
              <a:lnSpc>
                <a:spcPts val="2731"/>
              </a:lnSpc>
              <a:spcBef>
                <a:spcPct val="0"/>
              </a:spcBef>
            </a:pPr>
            <a:endParaRPr lang="en-US" sz="2386">
              <a:solidFill>
                <a:srgbClr val="FFFFFF"/>
              </a:solidFill>
              <a:latin typeface="Th Sarabun New"/>
              <a:ea typeface="Th Sarabun New"/>
              <a:cs typeface="Th Sarabun New"/>
              <a:sym typeface="Th Sarabun New"/>
            </a:endParaRPr>
          </a:p>
          <a:p>
            <a:pPr algn="l">
              <a:lnSpc>
                <a:spcPts val="4056"/>
              </a:lnSpc>
              <a:spcBef>
                <a:spcPct val="0"/>
              </a:spcBef>
            </a:pPr>
            <a:r>
              <a:rPr lang="en-US" sz="2897" b="1">
                <a:solidFill>
                  <a:srgbClr val="FFBD59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PART 4: Common Mistakes, Challenge &amp; Wrap-up (โดย Thanapat K. — ~5 นาที)</a:t>
            </a:r>
          </a:p>
          <a:p>
            <a:pPr algn="l">
              <a:lnSpc>
                <a:spcPts val="3341"/>
              </a:lnSpc>
              <a:spcBef>
                <a:spcPct val="0"/>
              </a:spcBef>
            </a:pPr>
            <a:r>
              <a:rPr lang="en-US" sz="2386">
                <a:solidFill>
                  <a:srgbClr val="FFFFFF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     - ข้อผิดพลาดที่พบบ่อย: ปัญหาการย้าย Ownership เข้า Closure, Deadlock และ Mutex Poisoning </a:t>
            </a:r>
          </a:p>
          <a:p>
            <a:pPr algn="l">
              <a:lnSpc>
                <a:spcPts val="3341"/>
              </a:lnSpc>
              <a:spcBef>
                <a:spcPct val="0"/>
              </a:spcBef>
            </a:pPr>
            <a:r>
              <a:rPr lang="en-US" sz="2386">
                <a:solidFill>
                  <a:srgbClr val="FFFFFF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     - โจทย์ท้าทาย (Challenge): คำถามทดสอบผู้ฟัง พร้อมโค้ดเฉลย </a:t>
            </a:r>
          </a:p>
          <a:p>
            <a:pPr algn="l">
              <a:lnSpc>
                <a:spcPts val="3341"/>
              </a:lnSpc>
              <a:spcBef>
                <a:spcPct val="0"/>
              </a:spcBef>
            </a:pPr>
            <a:r>
              <a:rPr lang="en-US" sz="2386">
                <a:solidFill>
                  <a:srgbClr val="FFFFFF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     - สรุป &amp; อ้างอิง: Key Takeaways, เอกสารอ้างอิง (References) และช่วงถาม-ตอบ (Q&amp;A)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64606" y="9148413"/>
            <a:ext cx="5717194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>
                <a:solidFill>
                  <a:srgbClr val="FFFFFF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517321 Principles of Programming Languages — Rust Tutorial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9835" y="923925"/>
            <a:ext cx="12053763" cy="847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59"/>
              </a:lnSpc>
              <a:spcBef>
                <a:spcPct val="0"/>
              </a:spcBef>
            </a:pPr>
            <a:r>
              <a:rPr lang="en-US" sz="4899" b="1">
                <a:solidFill>
                  <a:srgbClr val="FF9A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PART 1 · MEMBER 1 — Concept &amp; Short Code Illustration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3540" y="1652766"/>
            <a:ext cx="9738012" cy="797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9"/>
              </a:lnSpc>
              <a:spcBef>
                <a:spcPct val="0"/>
              </a:spcBef>
            </a:pPr>
            <a:r>
              <a:rPr lang="en-US" sz="4599" b="1">
                <a:solidFill>
                  <a:srgbClr val="12004E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Concurrency &amp; Threads คืออะไร? (Concept)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64606" y="9148413"/>
            <a:ext cx="5488594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>
                <a:solidFill>
                  <a:srgbClr val="000000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517321 Principles of Programming Languages — Rust Tutorial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09835" y="2710624"/>
            <a:ext cx="7931633" cy="4807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7668" lvl="1" indent="-208834" algn="l">
              <a:lnSpc>
                <a:spcPts val="2708"/>
              </a:lnSpc>
              <a:spcBef>
                <a:spcPct val="0"/>
              </a:spcBef>
              <a:buFont typeface="Arial"/>
              <a:buChar char="•"/>
            </a:pPr>
            <a:r>
              <a:rPr lang="en-US" sz="1934" b="1">
                <a:solidFill>
                  <a:srgbClr val="4C4043"/>
                </a:solidFill>
                <a:latin typeface="Arimo Bold"/>
                <a:ea typeface="Arimo Bold"/>
                <a:cs typeface="Arimo Bold"/>
                <a:sym typeface="Arimo Bold"/>
              </a:rPr>
              <a:t>ความหมาย &amp; ที่มา</a:t>
            </a:r>
            <a:r>
              <a:rPr lang="en-US" sz="1934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: Concurrency คือการจัดการโปรแกรมให้สามารถดำเนินหลายงานไปพร้อมกันหรือสลับกันทำได้ โดย Rust เลือกใช้โมเดล 1:1 OS Threads นั่นคือ 1 Thread ของ Rust จะแมปตรงกับ 1 Native Thread ของระบบปฏิบัติการ (OS)</a:t>
            </a:r>
          </a:p>
          <a:p>
            <a:pPr marL="417668" lvl="1" indent="-208834" algn="l">
              <a:lnSpc>
                <a:spcPts val="2708"/>
              </a:lnSpc>
              <a:spcBef>
                <a:spcPct val="0"/>
              </a:spcBef>
              <a:buFont typeface="Arial"/>
              <a:buChar char="•"/>
            </a:pPr>
            <a:r>
              <a:rPr lang="en-US" sz="1934" b="1">
                <a:solidFill>
                  <a:srgbClr val="4C4043"/>
                </a:solidFill>
                <a:latin typeface="Arimo Bold"/>
                <a:ea typeface="Arimo Bold"/>
                <a:cs typeface="Arimo Bold"/>
                <a:sym typeface="Arimo Bold"/>
              </a:rPr>
              <a:t>เหตุผลที่ Rust ออกแบบแนวคิดนี้</a:t>
            </a:r>
            <a:r>
              <a:rPr lang="en-US" sz="1934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: เพื่อคงปรัชญา Zero-cost Abstractions ทำให้ Rust มี Runtime ขนาดเล็กมาก (Minimal Runtime) ประสิทธิภาพสูง ไม่ต้องมี Garbage Collector หรือ Green Thread Management มาดึงประสิทธิภาพ</a:t>
            </a:r>
          </a:p>
          <a:p>
            <a:pPr marL="417668" lvl="1" indent="-208834" algn="l">
              <a:lnSpc>
                <a:spcPts val="2708"/>
              </a:lnSpc>
              <a:spcBef>
                <a:spcPct val="0"/>
              </a:spcBef>
              <a:buFont typeface="Arial"/>
              <a:buChar char="•"/>
            </a:pPr>
            <a:r>
              <a:rPr lang="en-US" sz="1934" b="1">
                <a:solidFill>
                  <a:srgbClr val="4C4043"/>
                </a:solidFill>
                <a:latin typeface="Arimo Bold"/>
                <a:ea typeface="Arimo Bold"/>
                <a:cs typeface="Arimo Bold"/>
                <a:sym typeface="Arimo Bold"/>
              </a:rPr>
              <a:t>ปัญหาที่แนวคิดนี้ช่วยแก้ไข</a:t>
            </a:r>
            <a:r>
              <a:rPr lang="en-US" sz="1934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: ช่วยป้องกันการเกิด Data Race และ Memory Bugs ตั้งแต่ขั้นตอนการสแกนโค้ด (Compile-time) ด้วยระบบ Ownership และ Borrowing ของ Rust ("Fearless Concurrency")</a:t>
            </a:r>
          </a:p>
          <a:p>
            <a:pPr marL="417668" lvl="1" indent="-208834" algn="l">
              <a:lnSpc>
                <a:spcPts val="2708"/>
              </a:lnSpc>
              <a:spcBef>
                <a:spcPct val="0"/>
              </a:spcBef>
              <a:buFont typeface="Arial"/>
              <a:buChar char="•"/>
            </a:pPr>
            <a:r>
              <a:rPr lang="en-US" sz="1934" b="1">
                <a:solidFill>
                  <a:srgbClr val="4C4043"/>
                </a:solidFill>
                <a:latin typeface="Arimo Bold"/>
                <a:ea typeface="Arimo Bold"/>
                <a:cs typeface="Arimo Bold"/>
                <a:sym typeface="Arimo Bold"/>
              </a:rPr>
              <a:t>จุดสำคัญที่ผู้ฟังต้องจำ</a:t>
            </a:r>
            <a:r>
              <a:rPr lang="en-US" sz="1934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: การสร้างเธรดใช้ std::thread::spawn() และหากต้องการรับประกันว่า Thread ลูกจะทำงานเสร็จสิ้น จำเป็นต้องใช้ .join() เพื่อสั่งให้ Main Thread รอ (Block) จนกว่า Thread ลูกจะทำงานจบ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365375" y="1827709"/>
            <a:ext cx="7785829" cy="5738522"/>
            <a:chOff x="0" y="0"/>
            <a:chExt cx="1444707" cy="10648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44707" cy="1064817"/>
            </a:xfrm>
            <a:custGeom>
              <a:avLst/>
              <a:gdLst/>
              <a:ahLst/>
              <a:cxnLst/>
              <a:rect l="l" t="t" r="r" b="b"/>
              <a:pathLst>
                <a:path w="1444707" h="1064817">
                  <a:moveTo>
                    <a:pt x="46735" y="0"/>
                  </a:moveTo>
                  <a:lnTo>
                    <a:pt x="1397972" y="0"/>
                  </a:lnTo>
                  <a:cubicBezTo>
                    <a:pt x="1423783" y="0"/>
                    <a:pt x="1444707" y="20924"/>
                    <a:pt x="1444707" y="46735"/>
                  </a:cubicBezTo>
                  <a:lnTo>
                    <a:pt x="1444707" y="1018082"/>
                  </a:lnTo>
                  <a:cubicBezTo>
                    <a:pt x="1444707" y="1043893"/>
                    <a:pt x="1423783" y="1064817"/>
                    <a:pt x="1397972" y="1064817"/>
                  </a:cubicBezTo>
                  <a:lnTo>
                    <a:pt x="46735" y="1064817"/>
                  </a:lnTo>
                  <a:cubicBezTo>
                    <a:pt x="20924" y="1064817"/>
                    <a:pt x="0" y="1043893"/>
                    <a:pt x="0" y="1018082"/>
                  </a:cubicBezTo>
                  <a:lnTo>
                    <a:pt x="0" y="46735"/>
                  </a:lnTo>
                  <a:cubicBezTo>
                    <a:pt x="0" y="20924"/>
                    <a:pt x="20924" y="0"/>
                    <a:pt x="46735" y="0"/>
                  </a:cubicBezTo>
                  <a:close/>
                </a:path>
              </a:pathLst>
            </a:custGeom>
            <a:solidFill>
              <a:srgbClr val="66020D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1444707" cy="11314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   use std::thread;</a:t>
              </a:r>
            </a:p>
            <a:p>
              <a:pPr algn="l">
                <a:lnSpc>
                  <a:spcPts val="3219"/>
                </a:lnSpc>
              </a:pPr>
              <a:endParaRPr lang="en-US" sz="22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   fn main() {</a:t>
              </a:r>
            </a:p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        </a:t>
              </a:r>
              <a:r>
                <a:rPr lang="en-US" sz="2299">
                  <a:solidFill>
                    <a:srgbClr val="FFBD59"/>
                  </a:solidFill>
                  <a:latin typeface="Arimo"/>
                  <a:ea typeface="Arimo"/>
                  <a:cs typeface="Arimo"/>
                  <a:sym typeface="Arimo"/>
                </a:rPr>
                <a:t>// 1. สร้าง Thread ใหม่ขึ้นมาทำงานขนานกัน</a:t>
              </a:r>
            </a:p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       let handle = thread::spawn(|| {</a:t>
              </a:r>
            </a:p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           println!("Hello from spawned thread!");</a:t>
              </a:r>
            </a:p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       });</a:t>
              </a:r>
            </a:p>
            <a:p>
              <a:pPr algn="l">
                <a:lnSpc>
                  <a:spcPts val="3219"/>
                </a:lnSpc>
              </a:pPr>
              <a:endParaRPr lang="en-US" sz="22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           println!("Hello from main thread!");</a:t>
              </a:r>
            </a:p>
            <a:p>
              <a:pPr algn="l">
                <a:lnSpc>
                  <a:spcPts val="3219"/>
                </a:lnSpc>
              </a:pPr>
              <a:endParaRPr lang="en-US" sz="22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          </a:t>
              </a:r>
              <a:r>
                <a:rPr lang="en-US" sz="2299">
                  <a:solidFill>
                    <a:srgbClr val="FFBD59"/>
                  </a:solidFill>
                  <a:latin typeface="Arimo"/>
                  <a:ea typeface="Arimo"/>
                  <a:cs typeface="Arimo"/>
                  <a:sym typeface="Arimo"/>
                </a:rPr>
                <a:t> // 2. รอให้ Thread ที่สร้างขึ้นทำงานเสร็จก่อนจบโปรแกรม</a:t>
              </a:r>
            </a:p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           handle.join().unwrap();</a:t>
              </a:r>
            </a:p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   }</a:t>
              </a:r>
            </a:p>
            <a:p>
              <a:pPr algn="l">
                <a:lnSpc>
                  <a:spcPts val="3219"/>
                </a:lnSpc>
              </a:pPr>
              <a:endParaRPr lang="en-US" sz="22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365375" y="8155712"/>
            <a:ext cx="7785829" cy="1337675"/>
            <a:chOff x="0" y="0"/>
            <a:chExt cx="1444707" cy="24821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44707" cy="248214"/>
            </a:xfrm>
            <a:custGeom>
              <a:avLst/>
              <a:gdLst/>
              <a:ahLst/>
              <a:cxnLst/>
              <a:rect l="l" t="t" r="r" b="b"/>
              <a:pathLst>
                <a:path w="1444707" h="248214">
                  <a:moveTo>
                    <a:pt x="46735" y="0"/>
                  </a:moveTo>
                  <a:lnTo>
                    <a:pt x="1397972" y="0"/>
                  </a:lnTo>
                  <a:cubicBezTo>
                    <a:pt x="1423783" y="0"/>
                    <a:pt x="1444707" y="20924"/>
                    <a:pt x="1444707" y="46735"/>
                  </a:cubicBezTo>
                  <a:lnTo>
                    <a:pt x="1444707" y="201479"/>
                  </a:lnTo>
                  <a:cubicBezTo>
                    <a:pt x="1444707" y="227290"/>
                    <a:pt x="1423783" y="248214"/>
                    <a:pt x="1397972" y="248214"/>
                  </a:cubicBezTo>
                  <a:lnTo>
                    <a:pt x="46735" y="248214"/>
                  </a:lnTo>
                  <a:cubicBezTo>
                    <a:pt x="20924" y="248214"/>
                    <a:pt x="0" y="227290"/>
                    <a:pt x="0" y="201479"/>
                  </a:cubicBezTo>
                  <a:lnTo>
                    <a:pt x="0" y="46735"/>
                  </a:lnTo>
                  <a:cubicBezTo>
                    <a:pt x="0" y="20924"/>
                    <a:pt x="20924" y="0"/>
                    <a:pt x="46735" y="0"/>
                  </a:cubicBezTo>
                  <a:close/>
                </a:path>
              </a:pathLst>
            </a:custGeom>
            <a:solidFill>
              <a:srgbClr val="66020D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1444707" cy="3148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   Hello from main thread!</a:t>
              </a:r>
            </a:p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   Hello from spawned thread!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365375" y="7656910"/>
            <a:ext cx="3745327" cy="350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1"/>
              </a:lnSpc>
              <a:spcBef>
                <a:spcPct val="0"/>
              </a:spcBef>
            </a:pPr>
            <a:r>
              <a:rPr lang="en-US" sz="19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ผลลัพธ์ที่คาดหวัง (Expected Output)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254479" y="9588636"/>
            <a:ext cx="7079754" cy="350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1"/>
              </a:lnSpc>
              <a:spcBef>
                <a:spcPct val="0"/>
              </a:spcBef>
            </a:pPr>
            <a:r>
              <a:rPr lang="en-US" sz="19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(หมายเหตุ: ลำดับบรรทัดอาจสลับกันได้ตามการจัดคิวของ OS Scheduler)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9835" y="923925"/>
            <a:ext cx="12053763" cy="8470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59"/>
              </a:lnSpc>
              <a:spcBef>
                <a:spcPct val="0"/>
              </a:spcBef>
            </a:pPr>
            <a:r>
              <a:rPr lang="en-US" sz="4899" b="1">
                <a:solidFill>
                  <a:srgbClr val="FF9A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PART 1 · MEMBER 1 — Concept &amp; Short Code Illustration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3540" y="1652766"/>
            <a:ext cx="8350783" cy="797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9"/>
              </a:lnSpc>
              <a:spcBef>
                <a:spcPct val="0"/>
              </a:spcBef>
            </a:pPr>
            <a:r>
              <a:rPr lang="en-US" sz="4599" b="1">
                <a:solidFill>
                  <a:srgbClr val="12004E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กลไก Thread Lifecycle (spawn, join &amp; move)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64606" y="9148413"/>
            <a:ext cx="5488594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>
                <a:solidFill>
                  <a:srgbClr val="000000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517321 Principles of Programming Languages — Rust Tutorial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09835" y="2686559"/>
            <a:ext cx="7931633" cy="34364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7668" lvl="1" indent="-208834" algn="l">
              <a:lnSpc>
                <a:spcPts val="2708"/>
              </a:lnSpc>
              <a:buFont typeface="Arial"/>
              <a:buChar char="•"/>
            </a:pPr>
            <a:r>
              <a:rPr lang="en-US" sz="1934" b="1" dirty="0">
                <a:solidFill>
                  <a:srgbClr val="4C4043"/>
                </a:solidFill>
                <a:latin typeface="Arimo Bold"/>
                <a:ea typeface="Arimo Bold"/>
                <a:cs typeface="Arimo Bold"/>
                <a:sym typeface="Arimo Bold"/>
              </a:rPr>
              <a:t>thread::spawn &amp; </a:t>
            </a:r>
            <a:r>
              <a:rPr lang="en-US" sz="1934" b="1" dirty="0" err="1">
                <a:solidFill>
                  <a:srgbClr val="4C4043"/>
                </a:solidFill>
                <a:latin typeface="Arimo Bold"/>
                <a:ea typeface="Arimo Bold"/>
                <a:cs typeface="Arimo Bold"/>
                <a:sym typeface="Arimo Bold"/>
              </a:rPr>
              <a:t>JoinHandle</a:t>
            </a:r>
            <a:r>
              <a:rPr lang="en-US" sz="1934" b="1" dirty="0">
                <a:solidFill>
                  <a:srgbClr val="4C4043"/>
                </a:solidFill>
                <a:latin typeface="Arimo Bold"/>
                <a:ea typeface="Arimo Bold"/>
                <a:cs typeface="Arimo Bold"/>
                <a:sym typeface="Arimo Bold"/>
              </a:rPr>
              <a:t>:</a:t>
            </a:r>
            <a:r>
              <a:rPr lang="en-US" sz="1934" dirty="0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934" dirty="0" err="1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การสั่งสร้าง</a:t>
            </a:r>
            <a:r>
              <a:rPr lang="en-US" sz="1934" dirty="0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 OS Thread </a:t>
            </a:r>
            <a:r>
              <a:rPr lang="en-US" sz="1934" dirty="0" err="1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ใหม่จะคืนค่ามาเป็น</a:t>
            </a:r>
            <a:r>
              <a:rPr lang="en-US" sz="1934" dirty="0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934" dirty="0" err="1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JoinHandle</a:t>
            </a:r>
            <a:r>
              <a:rPr lang="en-US" sz="1934" dirty="0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&lt;T&gt; </a:t>
            </a:r>
            <a:r>
              <a:rPr lang="en-US" sz="1934" dirty="0" err="1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ซึ่งใช้เป็นตัวแทนควบคุม</a:t>
            </a:r>
            <a:r>
              <a:rPr lang="en-US" sz="1934" dirty="0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 Thread </a:t>
            </a:r>
            <a:r>
              <a:rPr lang="en-US" sz="1934" dirty="0" err="1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นั้นๆ</a:t>
            </a:r>
            <a:r>
              <a:rPr lang="en-US" sz="1934" dirty="0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marL="417668" lvl="1" indent="-208834" algn="l">
              <a:lnSpc>
                <a:spcPts val="2708"/>
              </a:lnSpc>
              <a:buFont typeface="Arial"/>
              <a:buChar char="•"/>
            </a:pPr>
            <a:r>
              <a:rPr lang="en-US" sz="1934" b="1" dirty="0" err="1">
                <a:solidFill>
                  <a:srgbClr val="4C4043"/>
                </a:solidFill>
                <a:latin typeface="Arimo Bold"/>
                <a:ea typeface="Arimo Bold"/>
                <a:cs typeface="Arimo Bold"/>
                <a:sym typeface="Arimo Bold"/>
              </a:rPr>
              <a:t>ทำไมต้องมี</a:t>
            </a:r>
            <a:r>
              <a:rPr lang="en-US" sz="1934" b="1" dirty="0">
                <a:solidFill>
                  <a:srgbClr val="4C4043"/>
                </a:solidFill>
                <a:latin typeface="Arimo Bold"/>
                <a:ea typeface="Arimo Bold"/>
                <a:cs typeface="Arimo Bold"/>
                <a:sym typeface="Arimo Bold"/>
              </a:rPr>
              <a:t> .join()?: </a:t>
            </a:r>
            <a:r>
              <a:rPr lang="en-US" sz="1934" dirty="0" err="1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หากไม่มี</a:t>
            </a:r>
            <a:r>
              <a:rPr lang="en-US" sz="1934" dirty="0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 .join() </a:t>
            </a:r>
            <a:r>
              <a:rPr lang="en-US" sz="1934" dirty="0" err="1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โปรแกรมหลัก</a:t>
            </a:r>
            <a:r>
              <a:rPr lang="en-US" sz="1934" dirty="0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 (Main Thread) </a:t>
            </a:r>
            <a:r>
              <a:rPr lang="en-US" sz="1934" dirty="0" err="1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จะจบการทำงานทันทีโดยไม่รอ</a:t>
            </a:r>
            <a:r>
              <a:rPr lang="en-US" sz="1934" dirty="0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 Thread </a:t>
            </a:r>
            <a:r>
              <a:rPr lang="en-US" sz="1934" dirty="0" err="1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ลูก</a:t>
            </a:r>
            <a:r>
              <a:rPr lang="en-US" sz="1934" dirty="0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934" dirty="0" err="1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การเรียก</a:t>
            </a:r>
            <a:r>
              <a:rPr lang="en-US" sz="1934" dirty="0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 .join() </a:t>
            </a:r>
            <a:r>
              <a:rPr lang="en-US" sz="1934" dirty="0" err="1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จะทำให้</a:t>
            </a:r>
            <a:r>
              <a:rPr lang="en-US" sz="1934" dirty="0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 Main Thread </a:t>
            </a:r>
            <a:r>
              <a:rPr lang="en-US" sz="1934" dirty="0" err="1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รอจนกว่า</a:t>
            </a:r>
            <a:r>
              <a:rPr lang="en-US" sz="1934" dirty="0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 Thread </a:t>
            </a:r>
            <a:r>
              <a:rPr lang="en-US" sz="1934" dirty="0" err="1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ลูกจะทำงานเสร็จ</a:t>
            </a:r>
            <a:r>
              <a:rPr lang="en-US" sz="1934" dirty="0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marL="417668" lvl="1" indent="-208834" algn="l">
              <a:lnSpc>
                <a:spcPts val="2708"/>
              </a:lnSpc>
              <a:buFont typeface="Arial"/>
              <a:buChar char="•"/>
            </a:pPr>
            <a:r>
              <a:rPr lang="en-US" sz="1934" b="1" dirty="0" err="1">
                <a:solidFill>
                  <a:srgbClr val="4C4043"/>
                </a:solidFill>
                <a:latin typeface="Arimo Bold"/>
                <a:ea typeface="Arimo Bold"/>
                <a:cs typeface="Arimo Bold"/>
                <a:sym typeface="Arimo Bold"/>
              </a:rPr>
              <a:t>การส่งผ่าน</a:t>
            </a:r>
            <a:r>
              <a:rPr lang="en-US" sz="1934" b="1" dirty="0">
                <a:solidFill>
                  <a:srgbClr val="4C4043"/>
                </a:solidFill>
                <a:latin typeface="Arimo Bold"/>
                <a:ea typeface="Arimo Bold"/>
                <a:cs typeface="Arimo Bold"/>
                <a:sym typeface="Arimo Bold"/>
              </a:rPr>
              <a:t> Ownership </a:t>
            </a:r>
            <a:r>
              <a:rPr lang="en-US" sz="1934" b="1" dirty="0" err="1">
                <a:solidFill>
                  <a:srgbClr val="4C4043"/>
                </a:solidFill>
                <a:latin typeface="Arimo Bold"/>
                <a:ea typeface="Arimo Bold"/>
                <a:cs typeface="Arimo Bold"/>
                <a:sym typeface="Arimo Bold"/>
              </a:rPr>
              <a:t>ด้วย</a:t>
            </a:r>
            <a:r>
              <a:rPr lang="en-US" sz="1934" b="1" dirty="0">
                <a:solidFill>
                  <a:srgbClr val="4C4043"/>
                </a:solidFill>
                <a:latin typeface="Arimo Bold"/>
                <a:ea typeface="Arimo Bold"/>
                <a:cs typeface="Arimo Bold"/>
                <a:sym typeface="Arimo Bold"/>
              </a:rPr>
              <a:t> move:</a:t>
            </a:r>
            <a:r>
              <a:rPr lang="en-US" sz="1934" dirty="0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 Closure </a:t>
            </a:r>
            <a:r>
              <a:rPr lang="en-US" sz="1934" dirty="0" err="1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ใน</a:t>
            </a:r>
            <a:r>
              <a:rPr lang="en-US" sz="1934" dirty="0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 Thread </a:t>
            </a:r>
            <a:r>
              <a:rPr lang="en-US" sz="1934" dirty="0" err="1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จำเป็นต้องใช้คีย์เวิร์ด</a:t>
            </a:r>
            <a:r>
              <a:rPr lang="en-US" sz="1934" dirty="0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 move </a:t>
            </a:r>
            <a:r>
              <a:rPr lang="en-US" sz="1934" dirty="0" err="1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เพื่อย้าย</a:t>
            </a:r>
            <a:r>
              <a:rPr lang="en-US" sz="1934" dirty="0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 Ownership </a:t>
            </a:r>
            <a:r>
              <a:rPr lang="en-US" sz="1934" dirty="0" err="1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ของตัวแปรภายนอกเข้ามาใน</a:t>
            </a:r>
            <a:r>
              <a:rPr lang="en-US" sz="1934" dirty="0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 Thread </a:t>
            </a:r>
            <a:r>
              <a:rPr lang="en-US" sz="1934" dirty="0" err="1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ป้องกันปัญหา</a:t>
            </a:r>
            <a:r>
              <a:rPr lang="en-US" sz="1934" dirty="0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 Data Race </a:t>
            </a:r>
            <a:r>
              <a:rPr lang="en-US" sz="1934" dirty="0" err="1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และ</a:t>
            </a:r>
            <a:r>
              <a:rPr lang="en-US" sz="1934" dirty="0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 Lifetime </a:t>
            </a:r>
            <a:r>
              <a:rPr lang="en-US" sz="1934" dirty="0" err="1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ที่ไม่ปลอดภัย</a:t>
            </a:r>
            <a:r>
              <a:rPr lang="en-US" sz="1934" dirty="0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  <a:p>
            <a:pPr marL="417668" lvl="1" indent="-208834" algn="l">
              <a:lnSpc>
                <a:spcPts val="2708"/>
              </a:lnSpc>
              <a:spcBef>
                <a:spcPct val="0"/>
              </a:spcBef>
              <a:buFont typeface="Arial"/>
              <a:buChar char="•"/>
            </a:pPr>
            <a:r>
              <a:rPr lang="en-US" sz="1934" b="1" dirty="0">
                <a:solidFill>
                  <a:srgbClr val="4C4043"/>
                </a:solidFill>
                <a:latin typeface="Arimo Bold"/>
                <a:ea typeface="Arimo Bold"/>
                <a:cs typeface="Arimo Bold"/>
                <a:sym typeface="Arimo Bold"/>
              </a:rPr>
              <a:t>Error Handling:</a:t>
            </a:r>
            <a:r>
              <a:rPr lang="en-US" sz="1934" dirty="0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 .join() </a:t>
            </a:r>
            <a:r>
              <a:rPr lang="en-US" sz="1934" dirty="0" err="1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จะคืนค่าเป็น</a:t>
            </a:r>
            <a:r>
              <a:rPr lang="en-US" sz="1934" dirty="0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 Result </a:t>
            </a:r>
            <a:r>
              <a:rPr lang="en-US" sz="1934" dirty="0" err="1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ทำให้เราจับ</a:t>
            </a:r>
            <a:r>
              <a:rPr lang="en-US" sz="1934" dirty="0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 Error </a:t>
            </a:r>
            <a:r>
              <a:rPr lang="en-US" sz="1934" dirty="0" err="1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หรือตรวจเช็กได้ว่า</a:t>
            </a:r>
            <a:r>
              <a:rPr lang="en-US" sz="1934" dirty="0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 Thread </a:t>
            </a:r>
            <a:r>
              <a:rPr lang="en-US" sz="1934" dirty="0" err="1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ลูกทำงานสำเร็จหรือเกิด</a:t>
            </a:r>
            <a:r>
              <a:rPr lang="en-US" sz="1934" dirty="0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 Panic </a:t>
            </a:r>
            <a:r>
              <a:rPr lang="en-US" sz="1934" dirty="0" err="1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กลางคัน</a:t>
            </a:r>
            <a:r>
              <a:rPr lang="en-US" sz="1934" dirty="0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9365375" y="2027748"/>
            <a:ext cx="8272261" cy="4938368"/>
            <a:chOff x="0" y="0"/>
            <a:chExt cx="1534968" cy="91634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34968" cy="916344"/>
            </a:xfrm>
            <a:custGeom>
              <a:avLst/>
              <a:gdLst/>
              <a:ahLst/>
              <a:cxnLst/>
              <a:rect l="l" t="t" r="r" b="b"/>
              <a:pathLst>
                <a:path w="1534968" h="916344">
                  <a:moveTo>
                    <a:pt x="43987" y="0"/>
                  </a:moveTo>
                  <a:lnTo>
                    <a:pt x="1490981" y="0"/>
                  </a:lnTo>
                  <a:cubicBezTo>
                    <a:pt x="1502647" y="0"/>
                    <a:pt x="1513835" y="4634"/>
                    <a:pt x="1522084" y="12883"/>
                  </a:cubicBezTo>
                  <a:cubicBezTo>
                    <a:pt x="1530333" y="21133"/>
                    <a:pt x="1534968" y="32321"/>
                    <a:pt x="1534968" y="43987"/>
                  </a:cubicBezTo>
                  <a:lnTo>
                    <a:pt x="1534968" y="872357"/>
                  </a:lnTo>
                  <a:cubicBezTo>
                    <a:pt x="1534968" y="884023"/>
                    <a:pt x="1530333" y="895211"/>
                    <a:pt x="1522084" y="903460"/>
                  </a:cubicBezTo>
                  <a:cubicBezTo>
                    <a:pt x="1513835" y="911709"/>
                    <a:pt x="1502647" y="916344"/>
                    <a:pt x="1490981" y="916344"/>
                  </a:cubicBezTo>
                  <a:lnTo>
                    <a:pt x="43987" y="916344"/>
                  </a:lnTo>
                  <a:cubicBezTo>
                    <a:pt x="32321" y="916344"/>
                    <a:pt x="21133" y="911709"/>
                    <a:pt x="12883" y="903460"/>
                  </a:cubicBezTo>
                  <a:cubicBezTo>
                    <a:pt x="4634" y="895211"/>
                    <a:pt x="0" y="884023"/>
                    <a:pt x="0" y="872357"/>
                  </a:cubicBezTo>
                  <a:lnTo>
                    <a:pt x="0" y="43987"/>
                  </a:lnTo>
                  <a:cubicBezTo>
                    <a:pt x="0" y="32321"/>
                    <a:pt x="4634" y="21133"/>
                    <a:pt x="12883" y="12883"/>
                  </a:cubicBezTo>
                  <a:cubicBezTo>
                    <a:pt x="21133" y="4634"/>
                    <a:pt x="32321" y="0"/>
                    <a:pt x="43987" y="0"/>
                  </a:cubicBezTo>
                  <a:close/>
                </a:path>
              </a:pathLst>
            </a:custGeom>
            <a:solidFill>
              <a:srgbClr val="66020D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0319" y="44882"/>
              <a:ext cx="1316302" cy="8265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219"/>
                </a:lnSpc>
              </a:pPr>
              <a:r>
                <a:rPr lang="en-US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   use std::thread;</a:t>
              </a:r>
            </a:p>
            <a:p>
              <a:pPr algn="l">
                <a:lnSpc>
                  <a:spcPts val="3219"/>
                </a:lnSpc>
              </a:pPr>
              <a:r>
                <a:rPr lang="en-US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       </a:t>
              </a:r>
              <a:r>
                <a:rPr lang="en-US" dirty="0" err="1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fn</a:t>
              </a:r>
              <a:r>
                <a:rPr lang="en-US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main() { </a:t>
              </a:r>
            </a:p>
            <a:p>
              <a:pPr algn="l">
                <a:lnSpc>
                  <a:spcPts val="3219"/>
                </a:lnSpc>
              </a:pPr>
              <a:r>
                <a:rPr lang="en-US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           let v = </a:t>
              </a:r>
              <a:r>
                <a:rPr lang="en-US" dirty="0" err="1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vec</a:t>
              </a:r>
              <a:r>
                <a:rPr lang="en-US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![1, 2, 3]; </a:t>
              </a:r>
            </a:p>
            <a:p>
              <a:pPr algn="l">
                <a:lnSpc>
                  <a:spcPts val="3219"/>
                </a:lnSpc>
              </a:pPr>
              <a:endParaRPr lang="en-US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algn="l">
                <a:lnSpc>
                  <a:spcPts val="3219"/>
                </a:lnSpc>
              </a:pPr>
              <a:r>
                <a:rPr lang="en-US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           </a:t>
              </a:r>
              <a:r>
                <a:rPr lang="en-US" dirty="0">
                  <a:solidFill>
                    <a:srgbClr val="FFBD59"/>
                  </a:solidFill>
                  <a:latin typeface="Arimo"/>
                  <a:ea typeface="Arimo"/>
                  <a:cs typeface="Arimo"/>
                  <a:sym typeface="Arimo"/>
                </a:rPr>
                <a:t>// </a:t>
              </a:r>
              <a:r>
                <a:rPr lang="en-US" dirty="0" err="1">
                  <a:solidFill>
                    <a:srgbClr val="FFBD59"/>
                  </a:solidFill>
                  <a:latin typeface="Arimo"/>
                  <a:ea typeface="Arimo"/>
                  <a:cs typeface="Arimo"/>
                  <a:sym typeface="Arimo"/>
                </a:rPr>
                <a:t>ต้องใช้</a:t>
              </a:r>
              <a:r>
                <a:rPr lang="en-US" dirty="0">
                  <a:solidFill>
                    <a:srgbClr val="FFBD59"/>
                  </a:solidFill>
                  <a:latin typeface="Arimo"/>
                  <a:ea typeface="Arimo"/>
                  <a:cs typeface="Arimo"/>
                  <a:sym typeface="Arimo"/>
                </a:rPr>
                <a:t> move </a:t>
              </a:r>
              <a:r>
                <a:rPr lang="en-US" dirty="0" err="1">
                  <a:solidFill>
                    <a:srgbClr val="FFBD59"/>
                  </a:solidFill>
                  <a:latin typeface="Arimo"/>
                  <a:ea typeface="Arimo"/>
                  <a:cs typeface="Arimo"/>
                  <a:sym typeface="Arimo"/>
                </a:rPr>
                <a:t>เพื่อย้าย</a:t>
              </a:r>
              <a:r>
                <a:rPr lang="en-US" dirty="0">
                  <a:solidFill>
                    <a:srgbClr val="FFBD59"/>
                  </a:solidFill>
                  <a:latin typeface="Arimo"/>
                  <a:ea typeface="Arimo"/>
                  <a:cs typeface="Arimo"/>
                  <a:sym typeface="Arimo"/>
                </a:rPr>
                <a:t> Ownership </a:t>
              </a:r>
              <a:r>
                <a:rPr lang="en-US" dirty="0" err="1">
                  <a:solidFill>
                    <a:srgbClr val="FFBD59"/>
                  </a:solidFill>
                  <a:latin typeface="Arimo"/>
                  <a:ea typeface="Arimo"/>
                  <a:cs typeface="Arimo"/>
                  <a:sym typeface="Arimo"/>
                </a:rPr>
                <a:t>ของ</a:t>
              </a:r>
              <a:r>
                <a:rPr lang="en-US" dirty="0">
                  <a:solidFill>
                    <a:srgbClr val="FFBD59"/>
                  </a:solidFill>
                  <a:latin typeface="Arimo"/>
                  <a:ea typeface="Arimo"/>
                  <a:cs typeface="Arimo"/>
                  <a:sym typeface="Arimo"/>
                </a:rPr>
                <a:t> v </a:t>
              </a:r>
              <a:r>
                <a:rPr lang="en-US" dirty="0" err="1">
                  <a:solidFill>
                    <a:srgbClr val="FFBD59"/>
                  </a:solidFill>
                  <a:latin typeface="Arimo"/>
                  <a:ea typeface="Arimo"/>
                  <a:cs typeface="Arimo"/>
                  <a:sym typeface="Arimo"/>
                </a:rPr>
                <a:t>เข้าไปใน</a:t>
              </a:r>
              <a:r>
                <a:rPr lang="en-US" dirty="0">
                  <a:solidFill>
                    <a:srgbClr val="FFBD59"/>
                  </a:solidFill>
                  <a:latin typeface="Arimo"/>
                  <a:ea typeface="Arimo"/>
                  <a:cs typeface="Arimo"/>
                  <a:sym typeface="Arimo"/>
                </a:rPr>
                <a:t> Thread</a:t>
              </a:r>
            </a:p>
            <a:p>
              <a:pPr algn="l">
                <a:lnSpc>
                  <a:spcPts val="3219"/>
                </a:lnSpc>
              </a:pPr>
              <a:r>
                <a:rPr lang="en-US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           let handle = thread::spawn(move || { </a:t>
              </a:r>
            </a:p>
            <a:p>
              <a:pPr algn="l">
                <a:lnSpc>
                  <a:spcPts val="3219"/>
                </a:lnSpc>
              </a:pPr>
              <a:r>
                <a:rPr lang="en-US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               </a:t>
              </a:r>
              <a:r>
                <a:rPr lang="en-US" dirty="0" err="1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println</a:t>
              </a:r>
              <a:r>
                <a:rPr lang="en-US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!("Here's a vector: {:?}", v); </a:t>
              </a:r>
            </a:p>
            <a:p>
              <a:pPr algn="l">
                <a:lnSpc>
                  <a:spcPts val="3219"/>
                </a:lnSpc>
              </a:pPr>
              <a:r>
                <a:rPr lang="en-US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           }); </a:t>
              </a:r>
            </a:p>
            <a:p>
              <a:pPr algn="l">
                <a:lnSpc>
                  <a:spcPts val="3219"/>
                </a:lnSpc>
              </a:pPr>
              <a:endParaRPr lang="en-US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endParaRPr>
            </a:p>
            <a:p>
              <a:pPr algn="l">
                <a:lnSpc>
                  <a:spcPts val="3219"/>
                </a:lnSpc>
              </a:pPr>
              <a:r>
                <a:rPr lang="en-US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           </a:t>
              </a:r>
              <a:r>
                <a:rPr lang="en-US" dirty="0">
                  <a:solidFill>
                    <a:srgbClr val="FFBD59"/>
                  </a:solidFill>
                  <a:latin typeface="Arimo"/>
                  <a:ea typeface="Arimo"/>
                  <a:cs typeface="Arimo"/>
                  <a:sym typeface="Arimo"/>
                </a:rPr>
                <a:t>// </a:t>
              </a:r>
              <a:r>
                <a:rPr lang="en-US" dirty="0" err="1">
                  <a:solidFill>
                    <a:srgbClr val="FFBD59"/>
                  </a:solidFill>
                  <a:latin typeface="Arimo"/>
                  <a:ea typeface="Arimo"/>
                  <a:cs typeface="Arimo"/>
                  <a:sym typeface="Arimo"/>
                </a:rPr>
                <a:t>รอให้</a:t>
              </a:r>
              <a:r>
                <a:rPr lang="en-US" dirty="0">
                  <a:solidFill>
                    <a:srgbClr val="FFBD59"/>
                  </a:solidFill>
                  <a:latin typeface="Arimo"/>
                  <a:ea typeface="Arimo"/>
                  <a:cs typeface="Arimo"/>
                  <a:sym typeface="Arimo"/>
                </a:rPr>
                <a:t> Thread </a:t>
              </a:r>
              <a:r>
                <a:rPr lang="en-US" dirty="0" err="1">
                  <a:solidFill>
                    <a:srgbClr val="FFBD59"/>
                  </a:solidFill>
                  <a:latin typeface="Arimo"/>
                  <a:ea typeface="Arimo"/>
                  <a:cs typeface="Arimo"/>
                  <a:sym typeface="Arimo"/>
                </a:rPr>
                <a:t>ทำงานเสร็จสิ้น</a:t>
              </a:r>
              <a:r>
                <a:rPr lang="en-US" dirty="0">
                  <a:solidFill>
                    <a:srgbClr val="FFBD59"/>
                  </a:solidFill>
                  <a:latin typeface="Arimo"/>
                  <a:ea typeface="Arimo"/>
                  <a:cs typeface="Arimo"/>
                  <a:sym typeface="Arimo"/>
                </a:rPr>
                <a:t> </a:t>
              </a:r>
            </a:p>
            <a:p>
              <a:pPr algn="l">
                <a:lnSpc>
                  <a:spcPts val="3219"/>
                </a:lnSpc>
              </a:pPr>
              <a:r>
                <a:rPr lang="en-US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           </a:t>
              </a:r>
              <a:r>
                <a:rPr lang="en-US" dirty="0" err="1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handle.join</a:t>
              </a:r>
              <a:r>
                <a:rPr lang="en-US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().unwrap(); </a:t>
              </a:r>
            </a:p>
            <a:p>
              <a:pPr algn="l">
                <a:lnSpc>
                  <a:spcPts val="3219"/>
                </a:lnSpc>
              </a:pPr>
              <a:r>
                <a:rPr lang="en-US" dirty="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   }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365375" y="7774290"/>
            <a:ext cx="7785829" cy="1049419"/>
            <a:chOff x="0" y="0"/>
            <a:chExt cx="1444707" cy="19472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44707" cy="194726"/>
            </a:xfrm>
            <a:custGeom>
              <a:avLst/>
              <a:gdLst/>
              <a:ahLst/>
              <a:cxnLst/>
              <a:rect l="l" t="t" r="r" b="b"/>
              <a:pathLst>
                <a:path w="1444707" h="194726">
                  <a:moveTo>
                    <a:pt x="46735" y="0"/>
                  </a:moveTo>
                  <a:lnTo>
                    <a:pt x="1397972" y="0"/>
                  </a:lnTo>
                  <a:cubicBezTo>
                    <a:pt x="1423783" y="0"/>
                    <a:pt x="1444707" y="20924"/>
                    <a:pt x="1444707" y="46735"/>
                  </a:cubicBezTo>
                  <a:lnTo>
                    <a:pt x="1444707" y="147991"/>
                  </a:lnTo>
                  <a:cubicBezTo>
                    <a:pt x="1444707" y="173802"/>
                    <a:pt x="1423783" y="194726"/>
                    <a:pt x="1397972" y="194726"/>
                  </a:cubicBezTo>
                  <a:lnTo>
                    <a:pt x="46735" y="194726"/>
                  </a:lnTo>
                  <a:cubicBezTo>
                    <a:pt x="20924" y="194726"/>
                    <a:pt x="0" y="173802"/>
                    <a:pt x="0" y="147991"/>
                  </a:cubicBezTo>
                  <a:lnTo>
                    <a:pt x="0" y="46735"/>
                  </a:lnTo>
                  <a:cubicBezTo>
                    <a:pt x="0" y="20924"/>
                    <a:pt x="20924" y="0"/>
                    <a:pt x="46735" y="0"/>
                  </a:cubicBezTo>
                  <a:close/>
                </a:path>
              </a:pathLst>
            </a:custGeom>
            <a:solidFill>
              <a:srgbClr val="66020D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1444707" cy="2614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219"/>
                </a:lnSpc>
              </a:pPr>
              <a:r>
                <a:rPr lang="en-US" sz="2299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    Here's a vector: [1, 2, 3]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374322" y="7166141"/>
            <a:ext cx="3745327" cy="350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1"/>
              </a:lnSpc>
              <a:spcBef>
                <a:spcPct val="0"/>
              </a:spcBef>
            </a:pPr>
            <a:r>
              <a:rPr lang="en-US" sz="19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ผลลัพธ์ที่คาดหวัง (Expected Output)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601822" y="3604619"/>
            <a:ext cx="4868326" cy="4969453"/>
            <a:chOff x="0" y="0"/>
            <a:chExt cx="903347" cy="92211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03347" cy="922112"/>
            </a:xfrm>
            <a:custGeom>
              <a:avLst/>
              <a:gdLst/>
              <a:ahLst/>
              <a:cxnLst/>
              <a:rect l="l" t="t" r="r" b="b"/>
              <a:pathLst>
                <a:path w="903347" h="922112">
                  <a:moveTo>
                    <a:pt x="74742" y="0"/>
                  </a:moveTo>
                  <a:lnTo>
                    <a:pt x="828605" y="0"/>
                  </a:lnTo>
                  <a:cubicBezTo>
                    <a:pt x="848428" y="0"/>
                    <a:pt x="867439" y="7875"/>
                    <a:pt x="881456" y="21892"/>
                  </a:cubicBezTo>
                  <a:cubicBezTo>
                    <a:pt x="895472" y="35908"/>
                    <a:pt x="903347" y="54919"/>
                    <a:pt x="903347" y="74742"/>
                  </a:cubicBezTo>
                  <a:lnTo>
                    <a:pt x="903347" y="847369"/>
                  </a:lnTo>
                  <a:cubicBezTo>
                    <a:pt x="903347" y="888648"/>
                    <a:pt x="869884" y="922112"/>
                    <a:pt x="828605" y="922112"/>
                  </a:cubicBezTo>
                  <a:lnTo>
                    <a:pt x="74742" y="922112"/>
                  </a:lnTo>
                  <a:cubicBezTo>
                    <a:pt x="54919" y="922112"/>
                    <a:pt x="35908" y="914237"/>
                    <a:pt x="21892" y="900220"/>
                  </a:cubicBezTo>
                  <a:cubicBezTo>
                    <a:pt x="7875" y="886203"/>
                    <a:pt x="0" y="867192"/>
                    <a:pt x="0" y="847369"/>
                  </a:cubicBezTo>
                  <a:lnTo>
                    <a:pt x="0" y="74742"/>
                  </a:lnTo>
                  <a:cubicBezTo>
                    <a:pt x="0" y="54919"/>
                    <a:pt x="7875" y="35908"/>
                    <a:pt x="21892" y="21892"/>
                  </a:cubicBezTo>
                  <a:cubicBezTo>
                    <a:pt x="35908" y="7875"/>
                    <a:pt x="54919" y="0"/>
                    <a:pt x="74742" y="0"/>
                  </a:cubicBezTo>
                  <a:close/>
                </a:path>
              </a:pathLst>
            </a:custGeom>
            <a:solidFill>
              <a:srgbClr val="FF9A00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903347" cy="9887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699513" y="3604619"/>
            <a:ext cx="5799100" cy="5002683"/>
            <a:chOff x="0" y="0"/>
            <a:chExt cx="1076058" cy="92827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76058" cy="928278"/>
            </a:xfrm>
            <a:custGeom>
              <a:avLst/>
              <a:gdLst/>
              <a:ahLst/>
              <a:cxnLst/>
              <a:rect l="l" t="t" r="r" b="b"/>
              <a:pathLst>
                <a:path w="1076058" h="928278">
                  <a:moveTo>
                    <a:pt x="62746" y="0"/>
                  </a:moveTo>
                  <a:lnTo>
                    <a:pt x="1013312" y="0"/>
                  </a:lnTo>
                  <a:cubicBezTo>
                    <a:pt x="1047965" y="0"/>
                    <a:pt x="1076058" y="28092"/>
                    <a:pt x="1076058" y="62746"/>
                  </a:cubicBezTo>
                  <a:lnTo>
                    <a:pt x="1076058" y="865532"/>
                  </a:lnTo>
                  <a:cubicBezTo>
                    <a:pt x="1076058" y="900185"/>
                    <a:pt x="1047965" y="928278"/>
                    <a:pt x="1013312" y="928278"/>
                  </a:cubicBezTo>
                  <a:lnTo>
                    <a:pt x="62746" y="928278"/>
                  </a:lnTo>
                  <a:cubicBezTo>
                    <a:pt x="28092" y="928278"/>
                    <a:pt x="0" y="900185"/>
                    <a:pt x="0" y="865532"/>
                  </a:cubicBezTo>
                  <a:lnTo>
                    <a:pt x="0" y="62746"/>
                  </a:lnTo>
                  <a:cubicBezTo>
                    <a:pt x="0" y="28092"/>
                    <a:pt x="28092" y="0"/>
                    <a:pt x="62746" y="0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076058" cy="9949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3149865" y="4220519"/>
            <a:ext cx="5013074" cy="3522983"/>
            <a:chOff x="0" y="0"/>
            <a:chExt cx="930206" cy="65371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30206" cy="653711"/>
            </a:xfrm>
            <a:custGeom>
              <a:avLst/>
              <a:gdLst/>
              <a:ahLst/>
              <a:cxnLst/>
              <a:rect l="l" t="t" r="r" b="b"/>
              <a:pathLst>
                <a:path w="930206" h="653711">
                  <a:moveTo>
                    <a:pt x="72584" y="0"/>
                  </a:moveTo>
                  <a:lnTo>
                    <a:pt x="857622" y="0"/>
                  </a:lnTo>
                  <a:cubicBezTo>
                    <a:pt x="876872" y="0"/>
                    <a:pt x="895334" y="7647"/>
                    <a:pt x="908947" y="21259"/>
                  </a:cubicBezTo>
                  <a:cubicBezTo>
                    <a:pt x="922559" y="34872"/>
                    <a:pt x="930206" y="53334"/>
                    <a:pt x="930206" y="72584"/>
                  </a:cubicBezTo>
                  <a:lnTo>
                    <a:pt x="930206" y="581126"/>
                  </a:lnTo>
                  <a:cubicBezTo>
                    <a:pt x="930206" y="600377"/>
                    <a:pt x="922559" y="618839"/>
                    <a:pt x="908947" y="632451"/>
                  </a:cubicBezTo>
                  <a:cubicBezTo>
                    <a:pt x="895334" y="646063"/>
                    <a:pt x="876872" y="653711"/>
                    <a:pt x="857622" y="653711"/>
                  </a:cubicBezTo>
                  <a:lnTo>
                    <a:pt x="72584" y="653711"/>
                  </a:lnTo>
                  <a:cubicBezTo>
                    <a:pt x="53334" y="653711"/>
                    <a:pt x="34872" y="646063"/>
                    <a:pt x="21259" y="632451"/>
                  </a:cubicBezTo>
                  <a:cubicBezTo>
                    <a:pt x="7647" y="618839"/>
                    <a:pt x="0" y="600377"/>
                    <a:pt x="0" y="581126"/>
                  </a:cubicBezTo>
                  <a:lnTo>
                    <a:pt x="0" y="72584"/>
                  </a:lnTo>
                  <a:cubicBezTo>
                    <a:pt x="0" y="53334"/>
                    <a:pt x="7647" y="34872"/>
                    <a:pt x="21259" y="21259"/>
                  </a:cubicBezTo>
                  <a:cubicBezTo>
                    <a:pt x="34872" y="7647"/>
                    <a:pt x="53334" y="0"/>
                    <a:pt x="72584" y="0"/>
                  </a:cubicBezTo>
                  <a:close/>
                </a:path>
              </a:pathLst>
            </a:custGeom>
            <a:solidFill>
              <a:srgbClr val="66020D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930206" cy="7203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831799" y="3540546"/>
            <a:ext cx="5676229" cy="5132358"/>
            <a:chOff x="0" y="0"/>
            <a:chExt cx="885910" cy="80102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85910" cy="801026"/>
            </a:xfrm>
            <a:custGeom>
              <a:avLst/>
              <a:gdLst/>
              <a:ahLst/>
              <a:cxnLst/>
              <a:rect l="l" t="t" r="r" b="b"/>
              <a:pathLst>
                <a:path w="885910" h="801026">
                  <a:moveTo>
                    <a:pt x="64104" y="0"/>
                  </a:moveTo>
                  <a:lnTo>
                    <a:pt x="821806" y="0"/>
                  </a:lnTo>
                  <a:cubicBezTo>
                    <a:pt x="838808" y="0"/>
                    <a:pt x="855113" y="6754"/>
                    <a:pt x="867135" y="18776"/>
                  </a:cubicBezTo>
                  <a:cubicBezTo>
                    <a:pt x="879157" y="30798"/>
                    <a:pt x="885910" y="47103"/>
                    <a:pt x="885910" y="64104"/>
                  </a:cubicBezTo>
                  <a:lnTo>
                    <a:pt x="885910" y="736922"/>
                  </a:lnTo>
                  <a:cubicBezTo>
                    <a:pt x="885910" y="753924"/>
                    <a:pt x="879157" y="770229"/>
                    <a:pt x="867135" y="782251"/>
                  </a:cubicBezTo>
                  <a:cubicBezTo>
                    <a:pt x="855113" y="794273"/>
                    <a:pt x="838808" y="801026"/>
                    <a:pt x="821806" y="801026"/>
                  </a:cubicBezTo>
                  <a:lnTo>
                    <a:pt x="64104" y="801026"/>
                  </a:lnTo>
                  <a:cubicBezTo>
                    <a:pt x="47103" y="801026"/>
                    <a:pt x="30798" y="794273"/>
                    <a:pt x="18776" y="782251"/>
                  </a:cubicBezTo>
                  <a:cubicBezTo>
                    <a:pt x="6754" y="770229"/>
                    <a:pt x="0" y="753924"/>
                    <a:pt x="0" y="736922"/>
                  </a:cubicBezTo>
                  <a:lnTo>
                    <a:pt x="0" y="64104"/>
                  </a:lnTo>
                  <a:cubicBezTo>
                    <a:pt x="0" y="47103"/>
                    <a:pt x="6754" y="30798"/>
                    <a:pt x="18776" y="18776"/>
                  </a:cubicBezTo>
                  <a:cubicBezTo>
                    <a:pt x="30798" y="6754"/>
                    <a:pt x="47103" y="0"/>
                    <a:pt x="64104" y="0"/>
                  </a:cubicBezTo>
                  <a:close/>
                </a:path>
              </a:pathLst>
            </a:custGeom>
            <a:solidFill>
              <a:srgbClr val="FF9A00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66675"/>
              <a:ext cx="885910" cy="8677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947943" y="3540546"/>
            <a:ext cx="5671805" cy="5132358"/>
            <a:chOff x="0" y="0"/>
            <a:chExt cx="885220" cy="801026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85220" cy="801026"/>
            </a:xfrm>
            <a:custGeom>
              <a:avLst/>
              <a:gdLst/>
              <a:ahLst/>
              <a:cxnLst/>
              <a:rect l="l" t="t" r="r" b="b"/>
              <a:pathLst>
                <a:path w="885220" h="801026">
                  <a:moveTo>
                    <a:pt x="64154" y="0"/>
                  </a:moveTo>
                  <a:lnTo>
                    <a:pt x="821066" y="0"/>
                  </a:lnTo>
                  <a:cubicBezTo>
                    <a:pt x="856497" y="0"/>
                    <a:pt x="885220" y="28723"/>
                    <a:pt x="885220" y="64154"/>
                  </a:cubicBezTo>
                  <a:lnTo>
                    <a:pt x="885220" y="736872"/>
                  </a:lnTo>
                  <a:cubicBezTo>
                    <a:pt x="885220" y="772304"/>
                    <a:pt x="856497" y="801026"/>
                    <a:pt x="821066" y="801026"/>
                  </a:cubicBezTo>
                  <a:lnTo>
                    <a:pt x="64154" y="801026"/>
                  </a:lnTo>
                  <a:cubicBezTo>
                    <a:pt x="28723" y="801026"/>
                    <a:pt x="0" y="772304"/>
                    <a:pt x="0" y="736872"/>
                  </a:cubicBezTo>
                  <a:lnTo>
                    <a:pt x="0" y="64154"/>
                  </a:lnTo>
                  <a:cubicBezTo>
                    <a:pt x="0" y="28723"/>
                    <a:pt x="28723" y="0"/>
                    <a:pt x="64154" y="0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885220" cy="86770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309032" y="4145942"/>
            <a:ext cx="5058431" cy="3455153"/>
            <a:chOff x="0" y="0"/>
            <a:chExt cx="789488" cy="53925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89488" cy="539259"/>
            </a:xfrm>
            <a:custGeom>
              <a:avLst/>
              <a:gdLst/>
              <a:ahLst/>
              <a:cxnLst/>
              <a:rect l="l" t="t" r="r" b="b"/>
              <a:pathLst>
                <a:path w="789488" h="539259">
                  <a:moveTo>
                    <a:pt x="71933" y="0"/>
                  </a:moveTo>
                  <a:lnTo>
                    <a:pt x="717555" y="0"/>
                  </a:lnTo>
                  <a:cubicBezTo>
                    <a:pt x="736633" y="0"/>
                    <a:pt x="754930" y="7579"/>
                    <a:pt x="768420" y="21069"/>
                  </a:cubicBezTo>
                  <a:cubicBezTo>
                    <a:pt x="781910" y="34559"/>
                    <a:pt x="789488" y="52855"/>
                    <a:pt x="789488" y="71933"/>
                  </a:cubicBezTo>
                  <a:lnTo>
                    <a:pt x="789488" y="467325"/>
                  </a:lnTo>
                  <a:cubicBezTo>
                    <a:pt x="789488" y="486403"/>
                    <a:pt x="781910" y="504700"/>
                    <a:pt x="768420" y="518190"/>
                  </a:cubicBezTo>
                  <a:cubicBezTo>
                    <a:pt x="754930" y="531680"/>
                    <a:pt x="736633" y="539259"/>
                    <a:pt x="717555" y="539259"/>
                  </a:cubicBezTo>
                  <a:lnTo>
                    <a:pt x="71933" y="539259"/>
                  </a:lnTo>
                  <a:cubicBezTo>
                    <a:pt x="52855" y="539259"/>
                    <a:pt x="34559" y="531680"/>
                    <a:pt x="21069" y="518190"/>
                  </a:cubicBezTo>
                  <a:cubicBezTo>
                    <a:pt x="7579" y="504700"/>
                    <a:pt x="0" y="486403"/>
                    <a:pt x="0" y="467325"/>
                  </a:cubicBezTo>
                  <a:lnTo>
                    <a:pt x="0" y="71933"/>
                  </a:lnTo>
                  <a:cubicBezTo>
                    <a:pt x="0" y="52855"/>
                    <a:pt x="7579" y="34559"/>
                    <a:pt x="21069" y="21069"/>
                  </a:cubicBezTo>
                  <a:cubicBezTo>
                    <a:pt x="34559" y="7579"/>
                    <a:pt x="52855" y="0"/>
                    <a:pt x="71933" y="0"/>
                  </a:cubicBezTo>
                  <a:close/>
                </a:path>
              </a:pathLst>
            </a:custGeom>
            <a:solidFill>
              <a:srgbClr val="66020D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66675"/>
              <a:ext cx="789488" cy="6059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009835" y="923925"/>
            <a:ext cx="10342246" cy="847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59"/>
              </a:lnSpc>
              <a:spcBef>
                <a:spcPct val="0"/>
              </a:spcBef>
            </a:pPr>
            <a:r>
              <a:rPr lang="en-US" sz="4899" b="1">
                <a:solidFill>
                  <a:srgbClr val="FF9A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PART 2 · MEMBER 2 — Detailed Code + Live Demo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3540" y="1652766"/>
            <a:ext cx="9738012" cy="797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9"/>
              </a:lnSpc>
              <a:spcBef>
                <a:spcPct val="0"/>
              </a:spcBef>
            </a:pPr>
            <a:r>
              <a:rPr lang="en-US" sz="4599" b="1">
                <a:solidFill>
                  <a:srgbClr val="12004E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การวิเคราะห์โค้ดเชิงลึก (Detailed Code Breakdown)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149865" y="3746810"/>
            <a:ext cx="3031093" cy="344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8"/>
              </a:lnSpc>
              <a:spcBef>
                <a:spcPct val="0"/>
              </a:spcBef>
            </a:pPr>
            <a:r>
              <a:rPr lang="en-US" sz="1934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1. Message Passing (mpsc)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90654" y="4497905"/>
            <a:ext cx="4470780" cy="2699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sz="19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use std::sync::mpsc;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sz="19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use std::thread;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endParaRPr lang="en-US" sz="1934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sz="19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let (tx, rx) = mpsc::channel();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sz="19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thread::spawn(move || {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sz="19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   tx.send("Hello from Thread").unwrap();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sz="19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});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sz="1934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let msg = rx.recv().unwrap();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872811" y="4326870"/>
            <a:ext cx="4147304" cy="30942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01"/>
              </a:lnSpc>
              <a:spcBef>
                <a:spcPct val="0"/>
              </a:spcBef>
            </a:pPr>
            <a:r>
              <a:rPr lang="en-US" sz="192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use std::sync::{Arc, Mutex};</a:t>
            </a:r>
          </a:p>
          <a:p>
            <a:pPr algn="l">
              <a:lnSpc>
                <a:spcPts val="2701"/>
              </a:lnSpc>
              <a:spcBef>
                <a:spcPct val="0"/>
              </a:spcBef>
            </a:pPr>
            <a:r>
              <a:rPr lang="en-US" sz="192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use std::thread;</a:t>
            </a:r>
          </a:p>
          <a:p>
            <a:pPr algn="l">
              <a:lnSpc>
                <a:spcPts val="2701"/>
              </a:lnSpc>
              <a:spcBef>
                <a:spcPct val="0"/>
              </a:spcBef>
            </a:pPr>
            <a:endParaRPr lang="en-US" sz="1929">
              <a:solidFill>
                <a:srgbClr val="FFFFFF"/>
              </a:solidFill>
              <a:latin typeface="Arimo"/>
              <a:ea typeface="Arimo"/>
              <a:cs typeface="Arimo"/>
              <a:sym typeface="Arimo"/>
            </a:endParaRPr>
          </a:p>
          <a:p>
            <a:pPr algn="l">
              <a:lnSpc>
                <a:spcPts val="2701"/>
              </a:lnSpc>
              <a:spcBef>
                <a:spcPct val="0"/>
              </a:spcBef>
            </a:pPr>
            <a:r>
              <a:rPr lang="en-US" sz="192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let counter = Arc::new(Mutex::new(0));</a:t>
            </a:r>
          </a:p>
          <a:p>
            <a:pPr algn="l">
              <a:lnSpc>
                <a:spcPts val="2701"/>
              </a:lnSpc>
              <a:spcBef>
                <a:spcPct val="0"/>
              </a:spcBef>
            </a:pPr>
            <a:r>
              <a:rPr lang="en-US" sz="192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let c = Arc::clone(&amp;counter);</a:t>
            </a:r>
          </a:p>
          <a:p>
            <a:pPr algn="l">
              <a:lnSpc>
                <a:spcPts val="2701"/>
              </a:lnSpc>
              <a:spcBef>
                <a:spcPct val="0"/>
              </a:spcBef>
            </a:pPr>
            <a:r>
              <a:rPr lang="en-US" sz="192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thread::spawn(move || {</a:t>
            </a:r>
          </a:p>
          <a:p>
            <a:pPr algn="l">
              <a:lnSpc>
                <a:spcPts val="2701"/>
              </a:lnSpc>
              <a:spcBef>
                <a:spcPct val="0"/>
              </a:spcBef>
            </a:pPr>
            <a:r>
              <a:rPr lang="en-US" sz="192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   let mut num = c.lock().unwrap();</a:t>
            </a:r>
          </a:p>
          <a:p>
            <a:pPr algn="l">
              <a:lnSpc>
                <a:spcPts val="2701"/>
              </a:lnSpc>
              <a:spcBef>
                <a:spcPct val="0"/>
              </a:spcBef>
            </a:pPr>
            <a:r>
              <a:rPr lang="en-US" sz="192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   *num += 1;</a:t>
            </a:r>
          </a:p>
          <a:p>
            <a:pPr algn="l">
              <a:lnSpc>
                <a:spcPts val="2701"/>
              </a:lnSpc>
              <a:spcBef>
                <a:spcPct val="0"/>
              </a:spcBef>
            </a:pPr>
            <a:r>
              <a:rPr lang="en-US" sz="192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});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149865" y="7791127"/>
            <a:ext cx="4394716" cy="693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8"/>
              </a:lnSpc>
              <a:spcBef>
                <a:spcPct val="0"/>
              </a:spcBef>
            </a:pPr>
            <a:r>
              <a:rPr lang="en-US" sz="1934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ส่งข้อมูลข้ามเธรดด้วย Ownership Transfer </a:t>
            </a:r>
          </a:p>
          <a:p>
            <a:pPr algn="l">
              <a:lnSpc>
                <a:spcPts val="2708"/>
              </a:lnSpc>
              <a:spcBef>
                <a:spcPct val="0"/>
              </a:spcBef>
            </a:pPr>
            <a:r>
              <a:rPr lang="en-US" sz="1934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โดยไม่มีการใช้ Memory ร่วมกัน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377135" y="7631179"/>
            <a:ext cx="4025384" cy="693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1"/>
              </a:lnSpc>
              <a:spcBef>
                <a:spcPct val="0"/>
              </a:spcBef>
            </a:pPr>
            <a:r>
              <a:rPr lang="en-US" sz="19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ใช้ Arc ช่วยนับ Reference ข้ามเธรด และ</a:t>
            </a:r>
          </a:p>
          <a:p>
            <a:pPr algn="ctr">
              <a:lnSpc>
                <a:spcPts val="2701"/>
              </a:lnSpc>
              <a:spcBef>
                <a:spcPct val="0"/>
              </a:spcBef>
            </a:pPr>
            <a:r>
              <a:rPr lang="en-US" sz="19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ใช้ Mutex ป้องกันการแก้ไขข้อมูลพร้อมกัน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366373" y="3734923"/>
            <a:ext cx="3691414" cy="3510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1"/>
              </a:lnSpc>
              <a:spcBef>
                <a:spcPct val="0"/>
              </a:spcBef>
            </a:pPr>
            <a:r>
              <a:rPr lang="en-US" sz="192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2. Shared State (Arc&lt;Mutex&lt;T&gt;&gt;)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64606" y="9148413"/>
            <a:ext cx="5564794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>
                <a:solidFill>
                  <a:srgbClr val="000000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517321 Principles of Programming Languages — Rust Tutorial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09835" y="923925"/>
            <a:ext cx="10342246" cy="847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59"/>
              </a:lnSpc>
              <a:spcBef>
                <a:spcPct val="0"/>
              </a:spcBef>
            </a:pPr>
            <a:r>
              <a:rPr lang="en-US" sz="4899" b="1">
                <a:solidFill>
                  <a:srgbClr val="FF9A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PART 2 · MEMBER 2 — Detailed Code + Live Demo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3540" y="1652766"/>
            <a:ext cx="11498390" cy="797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9"/>
              </a:lnSpc>
              <a:spcBef>
                <a:spcPct val="0"/>
              </a:spcBef>
            </a:pPr>
            <a:r>
              <a:rPr lang="en-US" sz="4599" b="1">
                <a:solidFill>
                  <a:srgbClr val="12004E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รายการสาธิตโปรแกรมจริง (Live Demo Checklist)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536797" y="3172828"/>
            <a:ext cx="10815285" cy="1232105"/>
            <a:chOff x="0" y="0"/>
            <a:chExt cx="2006841" cy="22862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006841" cy="228624"/>
            </a:xfrm>
            <a:custGeom>
              <a:avLst/>
              <a:gdLst/>
              <a:ahLst/>
              <a:cxnLst/>
              <a:rect l="l" t="t" r="r" b="b"/>
              <a:pathLst>
                <a:path w="2006841" h="228624">
                  <a:moveTo>
                    <a:pt x="33644" y="0"/>
                  </a:moveTo>
                  <a:lnTo>
                    <a:pt x="1973197" y="0"/>
                  </a:lnTo>
                  <a:cubicBezTo>
                    <a:pt x="1982120" y="0"/>
                    <a:pt x="1990677" y="3545"/>
                    <a:pt x="1996987" y="9854"/>
                  </a:cubicBezTo>
                  <a:cubicBezTo>
                    <a:pt x="2003296" y="16164"/>
                    <a:pt x="2006841" y="24721"/>
                    <a:pt x="2006841" y="33644"/>
                  </a:cubicBezTo>
                  <a:lnTo>
                    <a:pt x="2006841" y="194980"/>
                  </a:lnTo>
                  <a:cubicBezTo>
                    <a:pt x="2006841" y="203903"/>
                    <a:pt x="2003296" y="212461"/>
                    <a:pt x="1996987" y="218770"/>
                  </a:cubicBezTo>
                  <a:cubicBezTo>
                    <a:pt x="1990677" y="225080"/>
                    <a:pt x="1982120" y="228624"/>
                    <a:pt x="1973197" y="228624"/>
                  </a:cubicBezTo>
                  <a:lnTo>
                    <a:pt x="33644" y="228624"/>
                  </a:lnTo>
                  <a:cubicBezTo>
                    <a:pt x="24721" y="228624"/>
                    <a:pt x="16164" y="225080"/>
                    <a:pt x="9854" y="218770"/>
                  </a:cubicBezTo>
                  <a:cubicBezTo>
                    <a:pt x="3545" y="212461"/>
                    <a:pt x="0" y="203903"/>
                    <a:pt x="0" y="194980"/>
                  </a:cubicBezTo>
                  <a:lnTo>
                    <a:pt x="0" y="33644"/>
                  </a:lnTo>
                  <a:cubicBezTo>
                    <a:pt x="0" y="24721"/>
                    <a:pt x="3545" y="16164"/>
                    <a:pt x="9854" y="9854"/>
                  </a:cubicBezTo>
                  <a:cubicBezTo>
                    <a:pt x="16164" y="3545"/>
                    <a:pt x="24721" y="0"/>
                    <a:pt x="33644" y="0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2006841" cy="2952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536797" y="4849531"/>
            <a:ext cx="10815285" cy="1232105"/>
            <a:chOff x="0" y="0"/>
            <a:chExt cx="2006841" cy="22862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006841" cy="228624"/>
            </a:xfrm>
            <a:custGeom>
              <a:avLst/>
              <a:gdLst/>
              <a:ahLst/>
              <a:cxnLst/>
              <a:rect l="l" t="t" r="r" b="b"/>
              <a:pathLst>
                <a:path w="2006841" h="228624">
                  <a:moveTo>
                    <a:pt x="33644" y="0"/>
                  </a:moveTo>
                  <a:lnTo>
                    <a:pt x="1973197" y="0"/>
                  </a:lnTo>
                  <a:cubicBezTo>
                    <a:pt x="1982120" y="0"/>
                    <a:pt x="1990677" y="3545"/>
                    <a:pt x="1996987" y="9854"/>
                  </a:cubicBezTo>
                  <a:cubicBezTo>
                    <a:pt x="2003296" y="16164"/>
                    <a:pt x="2006841" y="24721"/>
                    <a:pt x="2006841" y="33644"/>
                  </a:cubicBezTo>
                  <a:lnTo>
                    <a:pt x="2006841" y="194980"/>
                  </a:lnTo>
                  <a:cubicBezTo>
                    <a:pt x="2006841" y="203903"/>
                    <a:pt x="2003296" y="212461"/>
                    <a:pt x="1996987" y="218770"/>
                  </a:cubicBezTo>
                  <a:cubicBezTo>
                    <a:pt x="1990677" y="225080"/>
                    <a:pt x="1982120" y="228624"/>
                    <a:pt x="1973197" y="228624"/>
                  </a:cubicBezTo>
                  <a:lnTo>
                    <a:pt x="33644" y="228624"/>
                  </a:lnTo>
                  <a:cubicBezTo>
                    <a:pt x="24721" y="228624"/>
                    <a:pt x="16164" y="225080"/>
                    <a:pt x="9854" y="218770"/>
                  </a:cubicBezTo>
                  <a:cubicBezTo>
                    <a:pt x="3545" y="212461"/>
                    <a:pt x="0" y="203903"/>
                    <a:pt x="0" y="194980"/>
                  </a:cubicBezTo>
                  <a:lnTo>
                    <a:pt x="0" y="33644"/>
                  </a:lnTo>
                  <a:cubicBezTo>
                    <a:pt x="0" y="24721"/>
                    <a:pt x="3545" y="16164"/>
                    <a:pt x="9854" y="9854"/>
                  </a:cubicBezTo>
                  <a:cubicBezTo>
                    <a:pt x="16164" y="3545"/>
                    <a:pt x="24721" y="0"/>
                    <a:pt x="33644" y="0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2006841" cy="2952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36797" y="6529311"/>
            <a:ext cx="10815285" cy="1232105"/>
            <a:chOff x="0" y="0"/>
            <a:chExt cx="2006841" cy="22862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006841" cy="228624"/>
            </a:xfrm>
            <a:custGeom>
              <a:avLst/>
              <a:gdLst/>
              <a:ahLst/>
              <a:cxnLst/>
              <a:rect l="l" t="t" r="r" b="b"/>
              <a:pathLst>
                <a:path w="2006841" h="228624">
                  <a:moveTo>
                    <a:pt x="33644" y="0"/>
                  </a:moveTo>
                  <a:lnTo>
                    <a:pt x="1973197" y="0"/>
                  </a:lnTo>
                  <a:cubicBezTo>
                    <a:pt x="1982120" y="0"/>
                    <a:pt x="1990677" y="3545"/>
                    <a:pt x="1996987" y="9854"/>
                  </a:cubicBezTo>
                  <a:cubicBezTo>
                    <a:pt x="2003296" y="16164"/>
                    <a:pt x="2006841" y="24721"/>
                    <a:pt x="2006841" y="33644"/>
                  </a:cubicBezTo>
                  <a:lnTo>
                    <a:pt x="2006841" y="194980"/>
                  </a:lnTo>
                  <a:cubicBezTo>
                    <a:pt x="2006841" y="203903"/>
                    <a:pt x="2003296" y="212461"/>
                    <a:pt x="1996987" y="218770"/>
                  </a:cubicBezTo>
                  <a:cubicBezTo>
                    <a:pt x="1990677" y="225080"/>
                    <a:pt x="1982120" y="228624"/>
                    <a:pt x="1973197" y="228624"/>
                  </a:cubicBezTo>
                  <a:lnTo>
                    <a:pt x="33644" y="228624"/>
                  </a:lnTo>
                  <a:cubicBezTo>
                    <a:pt x="24721" y="228624"/>
                    <a:pt x="16164" y="225080"/>
                    <a:pt x="9854" y="218770"/>
                  </a:cubicBezTo>
                  <a:cubicBezTo>
                    <a:pt x="3545" y="212461"/>
                    <a:pt x="0" y="203903"/>
                    <a:pt x="0" y="194980"/>
                  </a:cubicBezTo>
                  <a:lnTo>
                    <a:pt x="0" y="33644"/>
                  </a:lnTo>
                  <a:cubicBezTo>
                    <a:pt x="0" y="24721"/>
                    <a:pt x="3545" y="16164"/>
                    <a:pt x="9854" y="9854"/>
                  </a:cubicBezTo>
                  <a:cubicBezTo>
                    <a:pt x="16164" y="3545"/>
                    <a:pt x="24721" y="0"/>
                    <a:pt x="33644" y="0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66675"/>
              <a:ext cx="2006841" cy="2952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571156" y="3172828"/>
            <a:ext cx="5865781" cy="4588588"/>
            <a:chOff x="0" y="0"/>
            <a:chExt cx="1088431" cy="85144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088431" cy="851440"/>
            </a:xfrm>
            <a:custGeom>
              <a:avLst/>
              <a:gdLst/>
              <a:ahLst/>
              <a:cxnLst/>
              <a:rect l="l" t="t" r="r" b="b"/>
              <a:pathLst>
                <a:path w="1088431" h="851440">
                  <a:moveTo>
                    <a:pt x="62033" y="0"/>
                  </a:moveTo>
                  <a:lnTo>
                    <a:pt x="1026398" y="0"/>
                  </a:lnTo>
                  <a:cubicBezTo>
                    <a:pt x="1060658" y="0"/>
                    <a:pt x="1088431" y="27773"/>
                    <a:pt x="1088431" y="62033"/>
                  </a:cubicBezTo>
                  <a:lnTo>
                    <a:pt x="1088431" y="789407"/>
                  </a:lnTo>
                  <a:cubicBezTo>
                    <a:pt x="1088431" y="823667"/>
                    <a:pt x="1060658" y="851440"/>
                    <a:pt x="1026398" y="851440"/>
                  </a:cubicBezTo>
                  <a:lnTo>
                    <a:pt x="62033" y="851440"/>
                  </a:lnTo>
                  <a:cubicBezTo>
                    <a:pt x="27773" y="851440"/>
                    <a:pt x="0" y="823667"/>
                    <a:pt x="0" y="789407"/>
                  </a:cubicBezTo>
                  <a:lnTo>
                    <a:pt x="0" y="62033"/>
                  </a:lnTo>
                  <a:cubicBezTo>
                    <a:pt x="0" y="27773"/>
                    <a:pt x="27773" y="0"/>
                    <a:pt x="62033" y="0"/>
                  </a:cubicBezTo>
                  <a:close/>
                </a:path>
              </a:pathLst>
            </a:custGeom>
            <a:solidFill>
              <a:srgbClr val="FF9A00">
                <a:alpha val="4314"/>
              </a:srgbClr>
            </a:solidFill>
            <a:ln w="38100" cap="rnd">
              <a:solidFill>
                <a:srgbClr val="FF4D00"/>
              </a:solidFill>
              <a:prstDash val="dash"/>
              <a:round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66675"/>
              <a:ext cx="1088431" cy="9181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938860" y="3406127"/>
            <a:ext cx="765507" cy="765507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6020D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38860" y="5082830"/>
            <a:ext cx="765507" cy="765507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6020D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38860" y="6757911"/>
            <a:ext cx="765507" cy="765507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6020D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1925516" y="3380575"/>
            <a:ext cx="4286369" cy="408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cargo run --bin 01_thread_basics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925516" y="3764951"/>
            <a:ext cx="7858327" cy="408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สาธิตการสร้าง OS Thread และการย้ายข้อมูลด้วยคีย์เวิร์ด move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925516" y="5016155"/>
            <a:ext cx="4822150" cy="408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cargo run --bin 02_message_passing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925516" y="5440032"/>
            <a:ext cx="7308890" cy="408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สาธิต Multiple Producers ส่งข้อความเข้าสู่ Channel พร้อมกัน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925516" y="6738861"/>
            <a:ext cx="4156591" cy="408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cargo run --bin 03_shared_state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925516" y="7115113"/>
            <a:ext cx="9181386" cy="408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สาธิต 10 เธรดสลับกันล็อค Mutex เพื่อเพิ่มค่า Counter จนครบ 10 อย่างแม่นยำ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40354" y="3536351"/>
            <a:ext cx="162520" cy="408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40354" y="5186970"/>
            <a:ext cx="162520" cy="408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40354" y="6909676"/>
            <a:ext cx="162520" cy="408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875956" y="4297135"/>
            <a:ext cx="2482810" cy="408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ข้อสังเกตขณะ Demo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238052" y="4908768"/>
            <a:ext cx="5045273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ไม่มีการเกิด Data Race แม้จะรันพร้อมกันหลาย เธรด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2238052" y="5325020"/>
            <a:ext cx="5865781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การรับประกันการจบการทำงานด้วย join()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238052" y="5748896"/>
            <a:ext cx="5865781" cy="3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คำนวณผลลัพธ์ได้อย่างถูกต้องเรียบร้อย 100%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11875956" y="5004446"/>
            <a:ext cx="237063" cy="237063"/>
            <a:chOff x="0" y="0"/>
            <a:chExt cx="8128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6020D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1875956" y="5396671"/>
            <a:ext cx="237063" cy="237063"/>
            <a:chOff x="0" y="0"/>
            <a:chExt cx="8128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6020D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875956" y="5820547"/>
            <a:ext cx="237063" cy="237063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6020D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064606" y="9148412"/>
            <a:ext cx="5683060" cy="4146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>
                <a:solidFill>
                  <a:srgbClr val="000000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517321 Principles of Programming Languages — Rust Tutorial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80646" y="923925"/>
            <a:ext cx="15988741" cy="847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59"/>
              </a:lnSpc>
              <a:spcBef>
                <a:spcPct val="0"/>
              </a:spcBef>
            </a:pPr>
            <a:r>
              <a:rPr lang="en-US" sz="4899" b="1">
                <a:solidFill>
                  <a:srgbClr val="FF9A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 PART 3 · MEMBER 3 — Rust vs Other Languages (ตารางเปรียบเทียบ)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80646" y="1666242"/>
            <a:ext cx="11498390" cy="797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9"/>
              </a:lnSpc>
              <a:spcBef>
                <a:spcPct val="0"/>
              </a:spcBef>
            </a:pPr>
            <a:r>
              <a:rPr lang="en-US" sz="4599" b="1">
                <a:solidFill>
                  <a:srgbClr val="12004E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การเปรียบเทียบภาษา (Rust vs Other Languages)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721564" y="8389340"/>
            <a:ext cx="14023283" cy="1049831"/>
            <a:chOff x="0" y="0"/>
            <a:chExt cx="1785634" cy="13367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85634" cy="133679"/>
            </a:xfrm>
            <a:custGeom>
              <a:avLst/>
              <a:gdLst/>
              <a:ahLst/>
              <a:cxnLst/>
              <a:rect l="l" t="t" r="r" b="b"/>
              <a:pathLst>
                <a:path w="1785634" h="133679">
                  <a:moveTo>
                    <a:pt x="25948" y="0"/>
                  </a:moveTo>
                  <a:lnTo>
                    <a:pt x="1759686" y="0"/>
                  </a:lnTo>
                  <a:cubicBezTo>
                    <a:pt x="1766568" y="0"/>
                    <a:pt x="1773168" y="2734"/>
                    <a:pt x="1778034" y="7600"/>
                  </a:cubicBezTo>
                  <a:cubicBezTo>
                    <a:pt x="1782900" y="12466"/>
                    <a:pt x="1785634" y="19066"/>
                    <a:pt x="1785634" y="25948"/>
                  </a:cubicBezTo>
                  <a:lnTo>
                    <a:pt x="1785634" y="107731"/>
                  </a:lnTo>
                  <a:cubicBezTo>
                    <a:pt x="1785634" y="114613"/>
                    <a:pt x="1782900" y="121213"/>
                    <a:pt x="1778034" y="126079"/>
                  </a:cubicBezTo>
                  <a:cubicBezTo>
                    <a:pt x="1773168" y="130945"/>
                    <a:pt x="1766568" y="133679"/>
                    <a:pt x="1759686" y="133679"/>
                  </a:cubicBezTo>
                  <a:lnTo>
                    <a:pt x="25948" y="133679"/>
                  </a:lnTo>
                  <a:cubicBezTo>
                    <a:pt x="19066" y="133679"/>
                    <a:pt x="12466" y="130945"/>
                    <a:pt x="7600" y="126079"/>
                  </a:cubicBezTo>
                  <a:cubicBezTo>
                    <a:pt x="2734" y="121213"/>
                    <a:pt x="0" y="114613"/>
                    <a:pt x="0" y="107731"/>
                  </a:cubicBezTo>
                  <a:lnTo>
                    <a:pt x="0" y="25948"/>
                  </a:lnTo>
                  <a:cubicBezTo>
                    <a:pt x="0" y="19066"/>
                    <a:pt x="2734" y="12466"/>
                    <a:pt x="7600" y="7600"/>
                  </a:cubicBezTo>
                  <a:cubicBezTo>
                    <a:pt x="12466" y="2734"/>
                    <a:pt x="19066" y="0"/>
                    <a:pt x="25948" y="0"/>
                  </a:cubicBezTo>
                  <a:close/>
                </a:path>
              </a:pathLst>
            </a:custGeom>
            <a:solidFill>
              <a:srgbClr val="FF9A00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785634" cy="20035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09018" y="8389340"/>
            <a:ext cx="16798337" cy="1056851"/>
            <a:chOff x="0" y="0"/>
            <a:chExt cx="2138991" cy="13457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38991" cy="134573"/>
            </a:xfrm>
            <a:custGeom>
              <a:avLst/>
              <a:gdLst/>
              <a:ahLst/>
              <a:cxnLst/>
              <a:rect l="l" t="t" r="r" b="b"/>
              <a:pathLst>
                <a:path w="2138991" h="134573">
                  <a:moveTo>
                    <a:pt x="21661" y="0"/>
                  </a:moveTo>
                  <a:lnTo>
                    <a:pt x="2117330" y="0"/>
                  </a:lnTo>
                  <a:cubicBezTo>
                    <a:pt x="2129293" y="0"/>
                    <a:pt x="2138991" y="9698"/>
                    <a:pt x="2138991" y="21661"/>
                  </a:cubicBezTo>
                  <a:lnTo>
                    <a:pt x="2138991" y="112911"/>
                  </a:lnTo>
                  <a:cubicBezTo>
                    <a:pt x="2138991" y="118656"/>
                    <a:pt x="2136709" y="124166"/>
                    <a:pt x="2132647" y="128228"/>
                  </a:cubicBezTo>
                  <a:cubicBezTo>
                    <a:pt x="2128584" y="132290"/>
                    <a:pt x="2123075" y="134573"/>
                    <a:pt x="2117330" y="134573"/>
                  </a:cubicBezTo>
                  <a:lnTo>
                    <a:pt x="21661" y="134573"/>
                  </a:lnTo>
                  <a:cubicBezTo>
                    <a:pt x="9698" y="134573"/>
                    <a:pt x="0" y="124875"/>
                    <a:pt x="0" y="112911"/>
                  </a:cubicBezTo>
                  <a:lnTo>
                    <a:pt x="0" y="21661"/>
                  </a:lnTo>
                  <a:cubicBezTo>
                    <a:pt x="0" y="9698"/>
                    <a:pt x="9698" y="0"/>
                    <a:pt x="21661" y="0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66675"/>
              <a:ext cx="2138991" cy="2012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211156" y="8480250"/>
            <a:ext cx="16496199" cy="808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วิเคราะห์: Rust ย้ายภาระการตรวจความปลอดภัยมาไว้ที่ขั้นตอน Compile ทำให้ได้ประสิทธิภาพสูงระดับ C++ แต่มีความปลอดภัยในการขนานการทำงานสูงกว่าภาษาอื่น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41850" y="9430250"/>
            <a:ext cx="5987549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>
                <a:solidFill>
                  <a:srgbClr val="000000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517321 Principles of Programming Languages — Rust Tutorial</a:t>
            </a:r>
          </a:p>
        </p:txBody>
      </p:sp>
      <p:pic>
        <p:nvPicPr>
          <p:cNvPr id="17" name="รูปภาพ 16">
            <a:extLst>
              <a:ext uri="{FF2B5EF4-FFF2-40B4-BE49-F238E27FC236}">
                <a16:creationId xmlns:a16="http://schemas.microsoft.com/office/drawing/2014/main" id="{D38986F4-2DF8-C9B5-A551-C34951CC0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18" y="2563316"/>
            <a:ext cx="16540782" cy="52921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72141" y="5320504"/>
            <a:ext cx="3783608" cy="3937796"/>
            <a:chOff x="0" y="0"/>
            <a:chExt cx="590522" cy="61458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90522" cy="614587"/>
            </a:xfrm>
            <a:custGeom>
              <a:avLst/>
              <a:gdLst/>
              <a:ahLst/>
              <a:cxnLst/>
              <a:rect l="l" t="t" r="r" b="b"/>
              <a:pathLst>
                <a:path w="590522" h="614587">
                  <a:moveTo>
                    <a:pt x="34785" y="0"/>
                  </a:moveTo>
                  <a:lnTo>
                    <a:pt x="555737" y="0"/>
                  </a:lnTo>
                  <a:cubicBezTo>
                    <a:pt x="574948" y="0"/>
                    <a:pt x="590522" y="15574"/>
                    <a:pt x="590522" y="34785"/>
                  </a:cubicBezTo>
                  <a:lnTo>
                    <a:pt x="590522" y="579802"/>
                  </a:lnTo>
                  <a:cubicBezTo>
                    <a:pt x="590522" y="599013"/>
                    <a:pt x="574948" y="614587"/>
                    <a:pt x="555737" y="614587"/>
                  </a:cubicBezTo>
                  <a:lnTo>
                    <a:pt x="34785" y="614587"/>
                  </a:lnTo>
                  <a:cubicBezTo>
                    <a:pt x="15574" y="614587"/>
                    <a:pt x="0" y="599013"/>
                    <a:pt x="0" y="579802"/>
                  </a:cubicBezTo>
                  <a:lnTo>
                    <a:pt x="0" y="34785"/>
                  </a:lnTo>
                  <a:cubicBezTo>
                    <a:pt x="0" y="15574"/>
                    <a:pt x="15574" y="0"/>
                    <a:pt x="34785" y="0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590522" cy="6812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009589" y="5306830"/>
            <a:ext cx="3783608" cy="3951470"/>
            <a:chOff x="0" y="0"/>
            <a:chExt cx="590522" cy="61672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90522" cy="616721"/>
            </a:xfrm>
            <a:custGeom>
              <a:avLst/>
              <a:gdLst/>
              <a:ahLst/>
              <a:cxnLst/>
              <a:rect l="l" t="t" r="r" b="b"/>
              <a:pathLst>
                <a:path w="590522" h="616721">
                  <a:moveTo>
                    <a:pt x="34785" y="0"/>
                  </a:moveTo>
                  <a:lnTo>
                    <a:pt x="555737" y="0"/>
                  </a:lnTo>
                  <a:cubicBezTo>
                    <a:pt x="574948" y="0"/>
                    <a:pt x="590522" y="15574"/>
                    <a:pt x="590522" y="34785"/>
                  </a:cubicBezTo>
                  <a:lnTo>
                    <a:pt x="590522" y="581936"/>
                  </a:lnTo>
                  <a:cubicBezTo>
                    <a:pt x="590522" y="601147"/>
                    <a:pt x="574948" y="616721"/>
                    <a:pt x="555737" y="616721"/>
                  </a:cubicBezTo>
                  <a:lnTo>
                    <a:pt x="34785" y="616721"/>
                  </a:lnTo>
                  <a:cubicBezTo>
                    <a:pt x="15574" y="616721"/>
                    <a:pt x="0" y="601147"/>
                    <a:pt x="0" y="581936"/>
                  </a:cubicBezTo>
                  <a:lnTo>
                    <a:pt x="0" y="34785"/>
                  </a:lnTo>
                  <a:cubicBezTo>
                    <a:pt x="0" y="15574"/>
                    <a:pt x="15574" y="0"/>
                    <a:pt x="34785" y="0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590522" cy="6833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496193" y="5306830"/>
            <a:ext cx="3783608" cy="3951470"/>
            <a:chOff x="0" y="0"/>
            <a:chExt cx="590522" cy="61672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90522" cy="616721"/>
            </a:xfrm>
            <a:custGeom>
              <a:avLst/>
              <a:gdLst/>
              <a:ahLst/>
              <a:cxnLst/>
              <a:rect l="l" t="t" r="r" b="b"/>
              <a:pathLst>
                <a:path w="590522" h="616721">
                  <a:moveTo>
                    <a:pt x="34785" y="0"/>
                  </a:moveTo>
                  <a:lnTo>
                    <a:pt x="555737" y="0"/>
                  </a:lnTo>
                  <a:cubicBezTo>
                    <a:pt x="574948" y="0"/>
                    <a:pt x="590522" y="15574"/>
                    <a:pt x="590522" y="34785"/>
                  </a:cubicBezTo>
                  <a:lnTo>
                    <a:pt x="590522" y="581936"/>
                  </a:lnTo>
                  <a:cubicBezTo>
                    <a:pt x="590522" y="601147"/>
                    <a:pt x="574948" y="616721"/>
                    <a:pt x="555737" y="616721"/>
                  </a:cubicBezTo>
                  <a:lnTo>
                    <a:pt x="34785" y="616721"/>
                  </a:lnTo>
                  <a:cubicBezTo>
                    <a:pt x="15574" y="616721"/>
                    <a:pt x="0" y="601147"/>
                    <a:pt x="0" y="581936"/>
                  </a:cubicBezTo>
                  <a:lnTo>
                    <a:pt x="0" y="34785"/>
                  </a:lnTo>
                  <a:cubicBezTo>
                    <a:pt x="0" y="15574"/>
                    <a:pt x="15574" y="0"/>
                    <a:pt x="34785" y="0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590522" cy="664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3832251" y="5306830"/>
            <a:ext cx="3783608" cy="3951470"/>
            <a:chOff x="0" y="0"/>
            <a:chExt cx="590522" cy="61672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90522" cy="616721"/>
            </a:xfrm>
            <a:custGeom>
              <a:avLst/>
              <a:gdLst/>
              <a:ahLst/>
              <a:cxnLst/>
              <a:rect l="l" t="t" r="r" b="b"/>
              <a:pathLst>
                <a:path w="590522" h="616721">
                  <a:moveTo>
                    <a:pt x="34785" y="0"/>
                  </a:moveTo>
                  <a:lnTo>
                    <a:pt x="555737" y="0"/>
                  </a:lnTo>
                  <a:cubicBezTo>
                    <a:pt x="574948" y="0"/>
                    <a:pt x="590522" y="15574"/>
                    <a:pt x="590522" y="34785"/>
                  </a:cubicBezTo>
                  <a:lnTo>
                    <a:pt x="590522" y="581936"/>
                  </a:lnTo>
                  <a:cubicBezTo>
                    <a:pt x="590522" y="601147"/>
                    <a:pt x="574948" y="616721"/>
                    <a:pt x="555737" y="616721"/>
                  </a:cubicBezTo>
                  <a:lnTo>
                    <a:pt x="34785" y="616721"/>
                  </a:lnTo>
                  <a:cubicBezTo>
                    <a:pt x="15574" y="616721"/>
                    <a:pt x="0" y="601147"/>
                    <a:pt x="0" y="581936"/>
                  </a:cubicBezTo>
                  <a:lnTo>
                    <a:pt x="0" y="34785"/>
                  </a:lnTo>
                  <a:cubicBezTo>
                    <a:pt x="0" y="15574"/>
                    <a:pt x="15574" y="0"/>
                    <a:pt x="34785" y="0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590522" cy="664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1697589" y="3133091"/>
            <a:ext cx="1518125" cy="1518125"/>
          </a:xfrm>
          <a:custGeom>
            <a:avLst/>
            <a:gdLst/>
            <a:ahLst/>
            <a:cxnLst/>
            <a:rect l="l" t="t" r="r" b="b"/>
            <a:pathLst>
              <a:path w="1518125" h="1518125">
                <a:moveTo>
                  <a:pt x="0" y="0"/>
                </a:moveTo>
                <a:lnTo>
                  <a:pt x="1518125" y="0"/>
                </a:lnTo>
                <a:lnTo>
                  <a:pt x="1518125" y="1518125"/>
                </a:lnTo>
                <a:lnTo>
                  <a:pt x="0" y="15181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5" name="Freeform 15"/>
          <p:cNvSpPr/>
          <p:nvPr/>
        </p:nvSpPr>
        <p:spPr>
          <a:xfrm>
            <a:off x="6072850" y="3271395"/>
            <a:ext cx="1241517" cy="1241517"/>
          </a:xfrm>
          <a:custGeom>
            <a:avLst/>
            <a:gdLst/>
            <a:ahLst/>
            <a:cxnLst/>
            <a:rect l="l" t="t" r="r" b="b"/>
            <a:pathLst>
              <a:path w="1241517" h="1241517">
                <a:moveTo>
                  <a:pt x="0" y="0"/>
                </a:moveTo>
                <a:lnTo>
                  <a:pt x="1241517" y="0"/>
                </a:lnTo>
                <a:lnTo>
                  <a:pt x="1241517" y="1241517"/>
                </a:lnTo>
                <a:lnTo>
                  <a:pt x="0" y="12415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6" name="Freeform 16"/>
          <p:cNvSpPr/>
          <p:nvPr/>
        </p:nvSpPr>
        <p:spPr>
          <a:xfrm>
            <a:off x="10695458" y="3141960"/>
            <a:ext cx="1641282" cy="1692043"/>
          </a:xfrm>
          <a:custGeom>
            <a:avLst/>
            <a:gdLst/>
            <a:ahLst/>
            <a:cxnLst/>
            <a:rect l="l" t="t" r="r" b="b"/>
            <a:pathLst>
              <a:path w="1641282" h="1692043">
                <a:moveTo>
                  <a:pt x="0" y="0"/>
                </a:moveTo>
                <a:lnTo>
                  <a:pt x="1641282" y="0"/>
                </a:lnTo>
                <a:lnTo>
                  <a:pt x="1641282" y="1692043"/>
                </a:lnTo>
                <a:lnTo>
                  <a:pt x="0" y="169204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7" name="Freeform 17"/>
          <p:cNvSpPr/>
          <p:nvPr/>
        </p:nvSpPr>
        <p:spPr>
          <a:xfrm>
            <a:off x="14289451" y="3490166"/>
            <a:ext cx="2501691" cy="1188303"/>
          </a:xfrm>
          <a:custGeom>
            <a:avLst/>
            <a:gdLst/>
            <a:ahLst/>
            <a:cxnLst/>
            <a:rect l="l" t="t" r="r" b="b"/>
            <a:pathLst>
              <a:path w="2501691" h="1188303">
                <a:moveTo>
                  <a:pt x="0" y="0"/>
                </a:moveTo>
                <a:lnTo>
                  <a:pt x="2501691" y="0"/>
                </a:lnTo>
                <a:lnTo>
                  <a:pt x="2501691" y="1188303"/>
                </a:lnTo>
                <a:lnTo>
                  <a:pt x="0" y="118830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18" name="TextBox 18"/>
          <p:cNvSpPr txBox="1"/>
          <p:nvPr/>
        </p:nvSpPr>
        <p:spPr>
          <a:xfrm>
            <a:off x="580646" y="923925"/>
            <a:ext cx="15988741" cy="847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59"/>
              </a:lnSpc>
              <a:spcBef>
                <a:spcPct val="0"/>
              </a:spcBef>
            </a:pPr>
            <a:r>
              <a:rPr lang="en-US" sz="4899" b="1">
                <a:solidFill>
                  <a:srgbClr val="FF9A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 PART 3 · MEMBER 3 — Rust vs Other Languages (ตารางเปรียบเทียบ)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5422" y="1666242"/>
            <a:ext cx="13117889" cy="797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39"/>
              </a:lnSpc>
              <a:spcBef>
                <a:spcPct val="0"/>
              </a:spcBef>
            </a:pPr>
            <a:r>
              <a:rPr lang="en-US" sz="4599" b="1">
                <a:solidFill>
                  <a:srgbClr val="12004E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มุมมองเชิงวิชาภาษาโปรแกรม (PPL Perspective)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414795" y="5627946"/>
            <a:ext cx="2242805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251E2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Syntax &amp; Closure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66844" y="6330942"/>
            <a:ext cx="3109295" cy="212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ใช้ thread::spawn ร่วมกับ Closure ในการส่งบล็อกโค้ดไปทำงานแบบ asynchronous บนเธรดใหม่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822466" y="5627946"/>
            <a:ext cx="2407134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Move Semantics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387205" y="6330942"/>
            <a:ext cx="3016858" cy="2124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บังคับย้าย Ownership เข้าสู่ Closure เพื่อป้องกันปัญหา Dangling Pointers เมื่อ Main Thread จบการทำงาน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801525" y="5627946"/>
            <a:ext cx="3149941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Type System (Send/Sync)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801525" y="6330942"/>
            <a:ext cx="3172944" cy="265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ใช้ Marker Traits (Send/Sync) ในการการันตีความปลอดภัยของการส่งและแชร์ข้อมูลข้ามเธรดตั้งแต่ตอน Compile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4478001" y="5656210"/>
            <a:ext cx="2168492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Memory Safety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4289451" y="6330942"/>
            <a:ext cx="2866928" cy="265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ยึดหลักกฎ Aliasing XOR Mutability ทำให้สามารถป้องกันปัญหา Data Race ได้สมบูรณ์โดยไม่ต้องพึ่ง Garbage Collector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64606" y="9148413"/>
            <a:ext cx="5564794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>
                <a:solidFill>
                  <a:srgbClr val="000000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517321 Principles of Programming Languages — Rust Tutorial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3731" y="152407"/>
            <a:ext cx="13076185" cy="6312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21"/>
              </a:lnSpc>
            </a:pPr>
            <a:r>
              <a:rPr lang="en-US" sz="2586" b="1">
                <a:solidFill>
                  <a:srgbClr val="0000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แบบฝึกหัดที่ 1: สร้าง Thread</a:t>
            </a:r>
          </a:p>
          <a:p>
            <a:pPr algn="just">
              <a:lnSpc>
                <a:spcPts val="3621"/>
              </a:lnSpc>
              <a:spcBef>
                <a:spcPct val="0"/>
              </a:spcBef>
            </a:pPr>
            <a:r>
              <a:rPr lang="en-US" sz="2586" b="1">
                <a:solidFill>
                  <a:srgbClr val="0000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โจทย์: ให้สร้าง Thread จำนวน 2 Threads โดยให้แต่ละ Thread แสดงข้อความของตัวเอง 5 ครั้ง</a:t>
            </a:r>
          </a:p>
          <a:p>
            <a:pPr algn="just">
              <a:lnSpc>
                <a:spcPts val="3621"/>
              </a:lnSpc>
              <a:spcBef>
                <a:spcPct val="0"/>
              </a:spcBef>
            </a:pPr>
            <a:r>
              <a:rPr lang="en-US" sz="2586" b="1">
                <a:solidFill>
                  <a:srgbClr val="0000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ตัวอย่าง Java:</a:t>
            </a:r>
          </a:p>
          <a:p>
            <a:pPr algn="just">
              <a:lnSpc>
                <a:spcPts val="3621"/>
              </a:lnSpc>
              <a:spcBef>
                <a:spcPct val="0"/>
              </a:spcBef>
            </a:pPr>
            <a:endParaRPr lang="en-US" sz="2586" b="1">
              <a:solidFill>
                <a:srgbClr val="000000"/>
              </a:solidFill>
              <a:latin typeface="Th Sarabun New Bold"/>
              <a:ea typeface="Th Sarabun New Bold"/>
              <a:cs typeface="Th Sarabun New Bold"/>
              <a:sym typeface="Th Sarabun New Bold"/>
            </a:endParaRPr>
          </a:p>
          <a:p>
            <a:pPr algn="just">
              <a:lnSpc>
                <a:spcPts val="3621"/>
              </a:lnSpc>
              <a:spcBef>
                <a:spcPct val="0"/>
              </a:spcBef>
            </a:pPr>
            <a:endParaRPr lang="en-US" sz="2586" b="1">
              <a:solidFill>
                <a:srgbClr val="000000"/>
              </a:solidFill>
              <a:latin typeface="Th Sarabun New Bold"/>
              <a:ea typeface="Th Sarabun New Bold"/>
              <a:cs typeface="Th Sarabun New Bold"/>
              <a:sym typeface="Th Sarabun New Bold"/>
            </a:endParaRPr>
          </a:p>
          <a:p>
            <a:pPr algn="just">
              <a:lnSpc>
                <a:spcPts val="3621"/>
              </a:lnSpc>
              <a:spcBef>
                <a:spcPct val="0"/>
              </a:spcBef>
            </a:pPr>
            <a:endParaRPr lang="en-US" sz="2586" b="1">
              <a:solidFill>
                <a:srgbClr val="000000"/>
              </a:solidFill>
              <a:latin typeface="Th Sarabun New Bold"/>
              <a:ea typeface="Th Sarabun New Bold"/>
              <a:cs typeface="Th Sarabun New Bold"/>
              <a:sym typeface="Th Sarabun New Bold"/>
            </a:endParaRPr>
          </a:p>
          <a:p>
            <a:pPr algn="just">
              <a:lnSpc>
                <a:spcPts val="3621"/>
              </a:lnSpc>
              <a:spcBef>
                <a:spcPct val="0"/>
              </a:spcBef>
            </a:pPr>
            <a:endParaRPr lang="en-US" sz="2586" b="1">
              <a:solidFill>
                <a:srgbClr val="000000"/>
              </a:solidFill>
              <a:latin typeface="Th Sarabun New Bold"/>
              <a:ea typeface="Th Sarabun New Bold"/>
              <a:cs typeface="Th Sarabun New Bold"/>
              <a:sym typeface="Th Sarabun New Bold"/>
            </a:endParaRPr>
          </a:p>
          <a:p>
            <a:pPr algn="just">
              <a:lnSpc>
                <a:spcPts val="3621"/>
              </a:lnSpc>
              <a:spcBef>
                <a:spcPct val="0"/>
              </a:spcBef>
            </a:pPr>
            <a:endParaRPr lang="en-US" sz="2586" b="1">
              <a:solidFill>
                <a:srgbClr val="000000"/>
              </a:solidFill>
              <a:latin typeface="Th Sarabun New Bold"/>
              <a:ea typeface="Th Sarabun New Bold"/>
              <a:cs typeface="Th Sarabun New Bold"/>
              <a:sym typeface="Th Sarabun New Bold"/>
            </a:endParaRPr>
          </a:p>
          <a:p>
            <a:pPr algn="just">
              <a:lnSpc>
                <a:spcPts val="3621"/>
              </a:lnSpc>
              <a:spcBef>
                <a:spcPct val="0"/>
              </a:spcBef>
            </a:pPr>
            <a:endParaRPr lang="en-US" sz="2586" b="1">
              <a:solidFill>
                <a:srgbClr val="000000"/>
              </a:solidFill>
              <a:latin typeface="Th Sarabun New Bold"/>
              <a:ea typeface="Th Sarabun New Bold"/>
              <a:cs typeface="Th Sarabun New Bold"/>
              <a:sym typeface="Th Sarabun New Bold"/>
            </a:endParaRPr>
          </a:p>
          <a:p>
            <a:pPr algn="just">
              <a:lnSpc>
                <a:spcPts val="3621"/>
              </a:lnSpc>
              <a:spcBef>
                <a:spcPct val="0"/>
              </a:spcBef>
            </a:pPr>
            <a:endParaRPr lang="en-US" sz="2586" b="1">
              <a:solidFill>
                <a:srgbClr val="000000"/>
              </a:solidFill>
              <a:latin typeface="Th Sarabun New Bold"/>
              <a:ea typeface="Th Sarabun New Bold"/>
              <a:cs typeface="Th Sarabun New Bold"/>
              <a:sym typeface="Th Sarabun New Bold"/>
            </a:endParaRPr>
          </a:p>
          <a:p>
            <a:pPr algn="just">
              <a:lnSpc>
                <a:spcPts val="3621"/>
              </a:lnSpc>
              <a:spcBef>
                <a:spcPct val="0"/>
              </a:spcBef>
            </a:pPr>
            <a:endParaRPr lang="en-US" sz="2586" b="1">
              <a:solidFill>
                <a:srgbClr val="000000"/>
              </a:solidFill>
              <a:latin typeface="Th Sarabun New Bold"/>
              <a:ea typeface="Th Sarabun New Bold"/>
              <a:cs typeface="Th Sarabun New Bold"/>
              <a:sym typeface="Th Sarabun New Bold"/>
            </a:endParaRPr>
          </a:p>
          <a:p>
            <a:pPr algn="just">
              <a:lnSpc>
                <a:spcPts val="3621"/>
              </a:lnSpc>
              <a:spcBef>
                <a:spcPct val="0"/>
              </a:spcBef>
            </a:pPr>
            <a:endParaRPr lang="en-US" sz="2586" b="1">
              <a:solidFill>
                <a:srgbClr val="000000"/>
              </a:solidFill>
              <a:latin typeface="Th Sarabun New Bold"/>
              <a:ea typeface="Th Sarabun New Bold"/>
              <a:cs typeface="Th Sarabun New Bold"/>
              <a:sym typeface="Th Sarabun New Bold"/>
            </a:endParaRPr>
          </a:p>
          <a:p>
            <a:pPr algn="just">
              <a:lnSpc>
                <a:spcPts val="3621"/>
              </a:lnSpc>
              <a:spcBef>
                <a:spcPct val="0"/>
              </a:spcBef>
            </a:pPr>
            <a:endParaRPr lang="en-US" sz="2586" b="1">
              <a:solidFill>
                <a:srgbClr val="000000"/>
              </a:solidFill>
              <a:latin typeface="Th Sarabun New Bold"/>
              <a:ea typeface="Th Sarabun New Bold"/>
              <a:cs typeface="Th Sarabun New Bold"/>
              <a:sym typeface="Th Sarabun New Bold"/>
            </a:endParaRPr>
          </a:p>
          <a:p>
            <a:pPr algn="just">
              <a:lnSpc>
                <a:spcPts val="2921"/>
              </a:lnSpc>
              <a:spcBef>
                <a:spcPct val="0"/>
              </a:spcBef>
            </a:pPr>
            <a:endParaRPr lang="en-US" sz="2586" b="1">
              <a:solidFill>
                <a:srgbClr val="000000"/>
              </a:solidFill>
              <a:latin typeface="Th Sarabun New Bold"/>
              <a:ea typeface="Th Sarabun New Bold"/>
              <a:cs typeface="Th Sarabun New Bold"/>
              <a:sym typeface="Th Sarabun New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840340" y="1126358"/>
            <a:ext cx="7440766" cy="7750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class MyThread extends Thread {</a:t>
            </a:r>
          </a:p>
          <a:p>
            <a:pPr algn="just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    private String name;</a:t>
            </a:r>
          </a:p>
          <a:p>
            <a:pPr algn="just">
              <a:lnSpc>
                <a:spcPts val="2800"/>
              </a:lnSpc>
            </a:pPr>
            <a:endParaRPr lang="en-US" sz="2000" b="1">
              <a:solidFill>
                <a:srgbClr val="000000"/>
              </a:solidFill>
              <a:latin typeface="Th Sarabun New Bold"/>
              <a:ea typeface="Th Sarabun New Bold"/>
              <a:cs typeface="Th Sarabun New Bold"/>
              <a:sym typeface="Th Sarabun New Bold"/>
            </a:endParaRPr>
          </a:p>
          <a:p>
            <a:pPr algn="just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    MyThread(String name) {</a:t>
            </a:r>
          </a:p>
          <a:p>
            <a:pPr algn="just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        this.name = name;</a:t>
            </a:r>
          </a:p>
          <a:p>
            <a:pPr algn="just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    }</a:t>
            </a:r>
          </a:p>
          <a:p>
            <a:pPr algn="just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    public void run() {</a:t>
            </a:r>
          </a:p>
          <a:p>
            <a:pPr algn="just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        for (int i = 1; i &lt;= 5; i++) {</a:t>
            </a:r>
          </a:p>
          <a:p>
            <a:pPr algn="just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            System.out.println(name + " : " + i);</a:t>
            </a:r>
          </a:p>
          <a:p>
            <a:pPr algn="just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        }</a:t>
            </a:r>
          </a:p>
          <a:p>
            <a:pPr algn="just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    }</a:t>
            </a:r>
          </a:p>
          <a:p>
            <a:pPr algn="just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}</a:t>
            </a:r>
          </a:p>
          <a:p>
            <a:pPr algn="just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public class Main {</a:t>
            </a:r>
          </a:p>
          <a:p>
            <a:pPr algn="just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    public static void main(String[] args) {</a:t>
            </a:r>
          </a:p>
          <a:p>
            <a:pPr algn="just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        MyThread t1 = new MyThread("Thread A");</a:t>
            </a:r>
          </a:p>
          <a:p>
            <a:pPr algn="just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        MyThread t2 = new MyThread("Thread B");</a:t>
            </a:r>
          </a:p>
          <a:p>
            <a:pPr algn="just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        t1.start();</a:t>
            </a:r>
          </a:p>
          <a:p>
            <a:pPr algn="just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        t2.start();</a:t>
            </a:r>
          </a:p>
          <a:p>
            <a:pPr algn="just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    }</a:t>
            </a:r>
          </a:p>
          <a:p>
            <a:pPr algn="just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}</a:t>
            </a:r>
          </a:p>
          <a:p>
            <a:pPr algn="just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}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endParaRPr lang="en-US" sz="2000" b="1">
              <a:solidFill>
                <a:srgbClr val="000000"/>
              </a:solidFill>
              <a:latin typeface="Th Sarabun New Bold"/>
              <a:ea typeface="Th Sarabun New Bold"/>
              <a:cs typeface="Th Sarabun New Bold"/>
              <a:sym typeface="Th Sarabun New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93731" y="8427890"/>
            <a:ext cx="13076185" cy="21980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21"/>
              </a:lnSpc>
            </a:pPr>
            <a:r>
              <a:rPr lang="en-US" sz="2586" b="1">
                <a:solidFill>
                  <a:srgbClr val="0000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คำถาม:</a:t>
            </a:r>
          </a:p>
          <a:p>
            <a:pPr algn="just">
              <a:lnSpc>
                <a:spcPts val="3621"/>
              </a:lnSpc>
              <a:spcBef>
                <a:spcPct val="0"/>
              </a:spcBef>
            </a:pPr>
            <a:r>
              <a:rPr lang="en-US" sz="2586" b="1">
                <a:solidFill>
                  <a:srgbClr val="0000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           ผลลัพธ์ของ Thread A และ Thread B จะออกมาตามลำดับเดิมทุกครั้งหรือไม่?</a:t>
            </a:r>
          </a:p>
          <a:p>
            <a:pPr algn="just">
              <a:lnSpc>
                <a:spcPts val="3621"/>
              </a:lnSpc>
              <a:spcBef>
                <a:spcPct val="0"/>
              </a:spcBef>
            </a:pPr>
            <a:r>
              <a:rPr lang="en-US" sz="2586" b="1">
                <a:solidFill>
                  <a:srgbClr val="0000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คำตอบ: </a:t>
            </a:r>
          </a:p>
          <a:p>
            <a:pPr algn="just">
              <a:lnSpc>
                <a:spcPts val="3621"/>
              </a:lnSpc>
              <a:spcBef>
                <a:spcPct val="0"/>
              </a:spcBef>
            </a:pPr>
            <a:r>
              <a:rPr lang="en-US" sz="2586" b="1">
                <a:solidFill>
                  <a:srgbClr val="0000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          ไม่จำเป็น เพราะ Thread สามารถทำงานสลับกันได้</a:t>
            </a:r>
          </a:p>
          <a:p>
            <a:pPr algn="just">
              <a:lnSpc>
                <a:spcPts val="2921"/>
              </a:lnSpc>
              <a:spcBef>
                <a:spcPct val="0"/>
              </a:spcBef>
            </a:pPr>
            <a:endParaRPr lang="en-US" sz="2586" b="1">
              <a:solidFill>
                <a:srgbClr val="000000"/>
              </a:solidFill>
              <a:latin typeface="Th Sarabun New Bold"/>
              <a:ea typeface="Th Sarabun New Bold"/>
              <a:cs typeface="Th Sarabun New Bold"/>
              <a:sym typeface="Th Sarabun New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72549" y="923925"/>
            <a:ext cx="15988741" cy="8470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59"/>
              </a:lnSpc>
              <a:spcBef>
                <a:spcPct val="0"/>
              </a:spcBef>
            </a:pPr>
            <a:r>
              <a:rPr lang="en-US" sz="4899" b="1">
                <a:solidFill>
                  <a:srgbClr val="FF9A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SUMMARY · KEY TAKEAWAYS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3172828"/>
            <a:ext cx="10815285" cy="1232105"/>
            <a:chOff x="0" y="0"/>
            <a:chExt cx="2006841" cy="22862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06841" cy="228624"/>
            </a:xfrm>
            <a:custGeom>
              <a:avLst/>
              <a:gdLst/>
              <a:ahLst/>
              <a:cxnLst/>
              <a:rect l="l" t="t" r="r" b="b"/>
              <a:pathLst>
                <a:path w="2006841" h="228624">
                  <a:moveTo>
                    <a:pt x="33644" y="0"/>
                  </a:moveTo>
                  <a:lnTo>
                    <a:pt x="1973197" y="0"/>
                  </a:lnTo>
                  <a:cubicBezTo>
                    <a:pt x="1982120" y="0"/>
                    <a:pt x="1990677" y="3545"/>
                    <a:pt x="1996987" y="9854"/>
                  </a:cubicBezTo>
                  <a:cubicBezTo>
                    <a:pt x="2003296" y="16164"/>
                    <a:pt x="2006841" y="24721"/>
                    <a:pt x="2006841" y="33644"/>
                  </a:cubicBezTo>
                  <a:lnTo>
                    <a:pt x="2006841" y="194980"/>
                  </a:lnTo>
                  <a:cubicBezTo>
                    <a:pt x="2006841" y="203903"/>
                    <a:pt x="2003296" y="212461"/>
                    <a:pt x="1996987" y="218770"/>
                  </a:cubicBezTo>
                  <a:cubicBezTo>
                    <a:pt x="1990677" y="225080"/>
                    <a:pt x="1982120" y="228624"/>
                    <a:pt x="1973197" y="228624"/>
                  </a:cubicBezTo>
                  <a:lnTo>
                    <a:pt x="33644" y="228624"/>
                  </a:lnTo>
                  <a:cubicBezTo>
                    <a:pt x="24721" y="228624"/>
                    <a:pt x="16164" y="225080"/>
                    <a:pt x="9854" y="218770"/>
                  </a:cubicBezTo>
                  <a:cubicBezTo>
                    <a:pt x="3545" y="212461"/>
                    <a:pt x="0" y="203903"/>
                    <a:pt x="0" y="194980"/>
                  </a:cubicBezTo>
                  <a:lnTo>
                    <a:pt x="0" y="33644"/>
                  </a:lnTo>
                  <a:cubicBezTo>
                    <a:pt x="0" y="24721"/>
                    <a:pt x="3545" y="16164"/>
                    <a:pt x="9854" y="9854"/>
                  </a:cubicBezTo>
                  <a:cubicBezTo>
                    <a:pt x="16164" y="3545"/>
                    <a:pt x="24721" y="0"/>
                    <a:pt x="33644" y="0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66675"/>
              <a:ext cx="2006841" cy="2952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028700" y="4681950"/>
            <a:ext cx="10815285" cy="1232105"/>
            <a:chOff x="0" y="0"/>
            <a:chExt cx="2006841" cy="22862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06841" cy="228624"/>
            </a:xfrm>
            <a:custGeom>
              <a:avLst/>
              <a:gdLst/>
              <a:ahLst/>
              <a:cxnLst/>
              <a:rect l="l" t="t" r="r" b="b"/>
              <a:pathLst>
                <a:path w="2006841" h="228624">
                  <a:moveTo>
                    <a:pt x="33644" y="0"/>
                  </a:moveTo>
                  <a:lnTo>
                    <a:pt x="1973197" y="0"/>
                  </a:lnTo>
                  <a:cubicBezTo>
                    <a:pt x="1982120" y="0"/>
                    <a:pt x="1990677" y="3545"/>
                    <a:pt x="1996987" y="9854"/>
                  </a:cubicBezTo>
                  <a:cubicBezTo>
                    <a:pt x="2003296" y="16164"/>
                    <a:pt x="2006841" y="24721"/>
                    <a:pt x="2006841" y="33644"/>
                  </a:cubicBezTo>
                  <a:lnTo>
                    <a:pt x="2006841" y="194980"/>
                  </a:lnTo>
                  <a:cubicBezTo>
                    <a:pt x="2006841" y="203903"/>
                    <a:pt x="2003296" y="212461"/>
                    <a:pt x="1996987" y="218770"/>
                  </a:cubicBezTo>
                  <a:cubicBezTo>
                    <a:pt x="1990677" y="225080"/>
                    <a:pt x="1982120" y="228624"/>
                    <a:pt x="1973197" y="228624"/>
                  </a:cubicBezTo>
                  <a:lnTo>
                    <a:pt x="33644" y="228624"/>
                  </a:lnTo>
                  <a:cubicBezTo>
                    <a:pt x="24721" y="228624"/>
                    <a:pt x="16164" y="225080"/>
                    <a:pt x="9854" y="218770"/>
                  </a:cubicBezTo>
                  <a:cubicBezTo>
                    <a:pt x="3545" y="212461"/>
                    <a:pt x="0" y="203903"/>
                    <a:pt x="0" y="194980"/>
                  </a:cubicBezTo>
                  <a:lnTo>
                    <a:pt x="0" y="33644"/>
                  </a:lnTo>
                  <a:cubicBezTo>
                    <a:pt x="0" y="24721"/>
                    <a:pt x="3545" y="16164"/>
                    <a:pt x="9854" y="9854"/>
                  </a:cubicBezTo>
                  <a:cubicBezTo>
                    <a:pt x="16164" y="3545"/>
                    <a:pt x="24721" y="0"/>
                    <a:pt x="33644" y="0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66675"/>
              <a:ext cx="2006841" cy="2952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85944" y="6190280"/>
            <a:ext cx="10815285" cy="1232105"/>
            <a:chOff x="0" y="0"/>
            <a:chExt cx="2006841" cy="22862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006841" cy="228624"/>
            </a:xfrm>
            <a:custGeom>
              <a:avLst/>
              <a:gdLst/>
              <a:ahLst/>
              <a:cxnLst/>
              <a:rect l="l" t="t" r="r" b="b"/>
              <a:pathLst>
                <a:path w="2006841" h="228624">
                  <a:moveTo>
                    <a:pt x="33644" y="0"/>
                  </a:moveTo>
                  <a:lnTo>
                    <a:pt x="1973197" y="0"/>
                  </a:lnTo>
                  <a:cubicBezTo>
                    <a:pt x="1982120" y="0"/>
                    <a:pt x="1990677" y="3545"/>
                    <a:pt x="1996987" y="9854"/>
                  </a:cubicBezTo>
                  <a:cubicBezTo>
                    <a:pt x="2003296" y="16164"/>
                    <a:pt x="2006841" y="24721"/>
                    <a:pt x="2006841" y="33644"/>
                  </a:cubicBezTo>
                  <a:lnTo>
                    <a:pt x="2006841" y="194980"/>
                  </a:lnTo>
                  <a:cubicBezTo>
                    <a:pt x="2006841" y="203903"/>
                    <a:pt x="2003296" y="212461"/>
                    <a:pt x="1996987" y="218770"/>
                  </a:cubicBezTo>
                  <a:cubicBezTo>
                    <a:pt x="1990677" y="225080"/>
                    <a:pt x="1982120" y="228624"/>
                    <a:pt x="1973197" y="228624"/>
                  </a:cubicBezTo>
                  <a:lnTo>
                    <a:pt x="33644" y="228624"/>
                  </a:lnTo>
                  <a:cubicBezTo>
                    <a:pt x="24721" y="228624"/>
                    <a:pt x="16164" y="225080"/>
                    <a:pt x="9854" y="218770"/>
                  </a:cubicBezTo>
                  <a:cubicBezTo>
                    <a:pt x="3545" y="212461"/>
                    <a:pt x="0" y="203903"/>
                    <a:pt x="0" y="194980"/>
                  </a:cubicBezTo>
                  <a:lnTo>
                    <a:pt x="0" y="33644"/>
                  </a:lnTo>
                  <a:cubicBezTo>
                    <a:pt x="0" y="24721"/>
                    <a:pt x="3545" y="16164"/>
                    <a:pt x="9854" y="9854"/>
                  </a:cubicBezTo>
                  <a:cubicBezTo>
                    <a:pt x="16164" y="3545"/>
                    <a:pt x="24721" y="0"/>
                    <a:pt x="33644" y="0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66675"/>
              <a:ext cx="2006841" cy="2952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430764" y="3406127"/>
            <a:ext cx="765507" cy="765507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6020D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430764" y="5082830"/>
            <a:ext cx="765507" cy="765507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6020D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88007" y="6418880"/>
            <a:ext cx="765507" cy="765507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6020D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2437169" y="3176778"/>
            <a:ext cx="8984336" cy="1208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Fearless Concurrency: Rust รับประกันความปลอดภัยระดับ Compile-Time ป้องกัน Data Race 100% โดยไม่มี Garbage Collector หรือ Runtime Overhead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437169" y="4860487"/>
            <a:ext cx="9241888" cy="808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Ownership &amp; Move Semantics: บังคับย้าย Ownership เข้าสู่ Closure ด้วย `move` ป้องกันปัญหา Dangling Pointers เมื่อ Thread ทำงานขนาน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2387711" y="6462639"/>
            <a:ext cx="9091038" cy="808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Explicit Synchronization: เลือกใช้ `mpsc::channel` สำหรับ Message Passing และ `Arc&gt;` สำหรับ Shared State ตามความเหมาะสม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732257" y="3536351"/>
            <a:ext cx="162520" cy="408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732257" y="5186970"/>
            <a:ext cx="162520" cy="408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789501" y="6570645"/>
            <a:ext cx="162520" cy="408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129793" y="7870060"/>
            <a:ext cx="10526256" cy="1232105"/>
            <a:chOff x="0" y="0"/>
            <a:chExt cx="1953210" cy="228624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953210" cy="228624"/>
            </a:xfrm>
            <a:custGeom>
              <a:avLst/>
              <a:gdLst/>
              <a:ahLst/>
              <a:cxnLst/>
              <a:rect l="l" t="t" r="r" b="b"/>
              <a:pathLst>
                <a:path w="1953210" h="228624">
                  <a:moveTo>
                    <a:pt x="34568" y="0"/>
                  </a:moveTo>
                  <a:lnTo>
                    <a:pt x="1918642" y="0"/>
                  </a:lnTo>
                  <a:cubicBezTo>
                    <a:pt x="1927810" y="0"/>
                    <a:pt x="1936602" y="3642"/>
                    <a:pt x="1943085" y="10125"/>
                  </a:cubicBezTo>
                  <a:cubicBezTo>
                    <a:pt x="1949568" y="16607"/>
                    <a:pt x="1953210" y="25400"/>
                    <a:pt x="1953210" y="34568"/>
                  </a:cubicBezTo>
                  <a:lnTo>
                    <a:pt x="1953210" y="194057"/>
                  </a:lnTo>
                  <a:cubicBezTo>
                    <a:pt x="1953210" y="203225"/>
                    <a:pt x="1949568" y="212017"/>
                    <a:pt x="1943085" y="218500"/>
                  </a:cubicBezTo>
                  <a:cubicBezTo>
                    <a:pt x="1936602" y="224983"/>
                    <a:pt x="1927810" y="228624"/>
                    <a:pt x="1918642" y="228624"/>
                  </a:cubicBezTo>
                  <a:lnTo>
                    <a:pt x="34568" y="228624"/>
                  </a:lnTo>
                  <a:cubicBezTo>
                    <a:pt x="25400" y="228624"/>
                    <a:pt x="16607" y="224983"/>
                    <a:pt x="10125" y="218500"/>
                  </a:cubicBezTo>
                  <a:cubicBezTo>
                    <a:pt x="3642" y="212017"/>
                    <a:pt x="0" y="203225"/>
                    <a:pt x="0" y="194057"/>
                  </a:cubicBezTo>
                  <a:lnTo>
                    <a:pt x="0" y="34568"/>
                  </a:lnTo>
                  <a:cubicBezTo>
                    <a:pt x="0" y="25400"/>
                    <a:pt x="3642" y="16607"/>
                    <a:pt x="10125" y="10125"/>
                  </a:cubicBezTo>
                  <a:cubicBezTo>
                    <a:pt x="16607" y="3642"/>
                    <a:pt x="25400" y="0"/>
                    <a:pt x="34568" y="0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66675"/>
              <a:ext cx="1953210" cy="2952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531856" y="8098660"/>
            <a:ext cx="765507" cy="765507"/>
            <a:chOff x="0" y="0"/>
            <a:chExt cx="812800" cy="8128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6020D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9"/>
                </a:lnSpc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2494413" y="7893760"/>
            <a:ext cx="8683801" cy="1208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4C4043"/>
                </a:solidFill>
                <a:latin typeface="Arimo"/>
                <a:ea typeface="Arimo"/>
                <a:cs typeface="Arimo"/>
                <a:sym typeface="Arimo"/>
              </a:rPr>
              <a:t>PPL Connection (Type System &amp; Traits): เชื่อมโยงกับวิชา PPL ผ่าน Marker Traits (`Send` และ `Sync`) ซึ่งพิสูจน์ Thread-Safety ผ่าน Type Checker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833350" y="8250425"/>
            <a:ext cx="162520" cy="408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85943" y="1773922"/>
            <a:ext cx="10335561" cy="6206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319"/>
              </a:lnSpc>
              <a:spcBef>
                <a:spcPct val="0"/>
              </a:spcBef>
            </a:pPr>
            <a:r>
              <a:rPr lang="en-US" sz="3799" b="1" dirty="0">
                <a:solidFill>
                  <a:srgbClr val="12004E"/>
                </a:solidFill>
                <a:latin typeface="Arimo Bold"/>
                <a:ea typeface="Arimo Bold"/>
                <a:cs typeface="Arimo Bold"/>
                <a:sym typeface="Arimo Bold"/>
              </a:rPr>
              <a:t>Key Takeaways — </a:t>
            </a:r>
            <a:r>
              <a:rPr lang="en-US" sz="3799" b="1" dirty="0" err="1">
                <a:solidFill>
                  <a:srgbClr val="12004E"/>
                </a:solidFill>
                <a:latin typeface="Arimo Bold"/>
                <a:ea typeface="Arimo Bold"/>
                <a:cs typeface="Arimo Bold"/>
                <a:sym typeface="Arimo Bold"/>
              </a:rPr>
              <a:t>สรุปสิ่งที่ควรจำ</a:t>
            </a:r>
            <a:endParaRPr lang="en-US" sz="3799" b="1" dirty="0">
              <a:solidFill>
                <a:srgbClr val="12004E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129792" y="9210675"/>
            <a:ext cx="5652007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>
                <a:solidFill>
                  <a:srgbClr val="000000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517321 Principles of Programming Languages — Rust Tutorial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4113" y="2642159"/>
            <a:ext cx="4868326" cy="5261033"/>
            <a:chOff x="0" y="0"/>
            <a:chExt cx="903347" cy="97621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03347" cy="976216"/>
            </a:xfrm>
            <a:custGeom>
              <a:avLst/>
              <a:gdLst/>
              <a:ahLst/>
              <a:cxnLst/>
              <a:rect l="l" t="t" r="r" b="b"/>
              <a:pathLst>
                <a:path w="903347" h="976216">
                  <a:moveTo>
                    <a:pt x="74742" y="0"/>
                  </a:moveTo>
                  <a:lnTo>
                    <a:pt x="828605" y="0"/>
                  </a:lnTo>
                  <a:cubicBezTo>
                    <a:pt x="848428" y="0"/>
                    <a:pt x="867439" y="7875"/>
                    <a:pt x="881456" y="21892"/>
                  </a:cubicBezTo>
                  <a:cubicBezTo>
                    <a:pt x="895472" y="35908"/>
                    <a:pt x="903347" y="54919"/>
                    <a:pt x="903347" y="74742"/>
                  </a:cubicBezTo>
                  <a:lnTo>
                    <a:pt x="903347" y="901474"/>
                  </a:lnTo>
                  <a:cubicBezTo>
                    <a:pt x="903347" y="942753"/>
                    <a:pt x="869884" y="976216"/>
                    <a:pt x="828605" y="976216"/>
                  </a:cubicBezTo>
                  <a:lnTo>
                    <a:pt x="74742" y="976216"/>
                  </a:lnTo>
                  <a:cubicBezTo>
                    <a:pt x="54919" y="976216"/>
                    <a:pt x="35908" y="968342"/>
                    <a:pt x="21892" y="954325"/>
                  </a:cubicBezTo>
                  <a:cubicBezTo>
                    <a:pt x="7875" y="940308"/>
                    <a:pt x="0" y="921297"/>
                    <a:pt x="0" y="901474"/>
                  </a:cubicBezTo>
                  <a:lnTo>
                    <a:pt x="0" y="74742"/>
                  </a:lnTo>
                  <a:cubicBezTo>
                    <a:pt x="0" y="54919"/>
                    <a:pt x="7875" y="35908"/>
                    <a:pt x="21892" y="21892"/>
                  </a:cubicBezTo>
                  <a:cubicBezTo>
                    <a:pt x="35908" y="7875"/>
                    <a:pt x="54919" y="0"/>
                    <a:pt x="74742" y="0"/>
                  </a:cubicBezTo>
                  <a:close/>
                </a:path>
              </a:pathLst>
            </a:custGeom>
            <a:solidFill>
              <a:srgbClr val="5DB9D2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903347" cy="10428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21804" y="2642159"/>
            <a:ext cx="15874777" cy="5261033"/>
            <a:chOff x="0" y="0"/>
            <a:chExt cx="2945660" cy="97621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945660" cy="976216"/>
            </a:xfrm>
            <a:custGeom>
              <a:avLst/>
              <a:gdLst/>
              <a:ahLst/>
              <a:cxnLst/>
              <a:rect l="l" t="t" r="r" b="b"/>
              <a:pathLst>
                <a:path w="2945660" h="976216">
                  <a:moveTo>
                    <a:pt x="22921" y="0"/>
                  </a:moveTo>
                  <a:lnTo>
                    <a:pt x="2922739" y="0"/>
                  </a:lnTo>
                  <a:cubicBezTo>
                    <a:pt x="2935398" y="0"/>
                    <a:pt x="2945660" y="10262"/>
                    <a:pt x="2945660" y="22921"/>
                  </a:cubicBezTo>
                  <a:lnTo>
                    <a:pt x="2945660" y="953295"/>
                  </a:lnTo>
                  <a:cubicBezTo>
                    <a:pt x="2945660" y="959374"/>
                    <a:pt x="2943245" y="965204"/>
                    <a:pt x="2938947" y="969503"/>
                  </a:cubicBezTo>
                  <a:cubicBezTo>
                    <a:pt x="2934648" y="973801"/>
                    <a:pt x="2928818" y="976216"/>
                    <a:pt x="2922739" y="976216"/>
                  </a:cubicBezTo>
                  <a:lnTo>
                    <a:pt x="22921" y="976216"/>
                  </a:lnTo>
                  <a:cubicBezTo>
                    <a:pt x="16842" y="976216"/>
                    <a:pt x="11012" y="973801"/>
                    <a:pt x="6713" y="969503"/>
                  </a:cubicBezTo>
                  <a:cubicBezTo>
                    <a:pt x="2415" y="965204"/>
                    <a:pt x="0" y="959374"/>
                    <a:pt x="0" y="953295"/>
                  </a:cubicBezTo>
                  <a:lnTo>
                    <a:pt x="0" y="22921"/>
                  </a:lnTo>
                  <a:cubicBezTo>
                    <a:pt x="0" y="16842"/>
                    <a:pt x="2415" y="11012"/>
                    <a:pt x="6713" y="6713"/>
                  </a:cubicBezTo>
                  <a:cubicBezTo>
                    <a:pt x="11012" y="2415"/>
                    <a:pt x="16842" y="0"/>
                    <a:pt x="22921" y="0"/>
                  </a:cubicBez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lstStyle/>
            <a:p>
              <a:endParaRPr lang="th-TH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2945660" cy="10428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0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324113" y="8036542"/>
            <a:ext cx="816596" cy="816596"/>
          </a:xfrm>
          <a:custGeom>
            <a:avLst/>
            <a:gdLst/>
            <a:ahLst/>
            <a:cxnLst/>
            <a:rect l="l" t="t" r="r" b="b"/>
            <a:pathLst>
              <a:path w="816596" h="816596">
                <a:moveTo>
                  <a:pt x="0" y="0"/>
                </a:moveTo>
                <a:lnTo>
                  <a:pt x="816596" y="0"/>
                </a:lnTo>
                <a:lnTo>
                  <a:pt x="816596" y="816596"/>
                </a:lnTo>
                <a:lnTo>
                  <a:pt x="0" y="8165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9" name="TextBox 9"/>
          <p:cNvSpPr txBox="1"/>
          <p:nvPr/>
        </p:nvSpPr>
        <p:spPr>
          <a:xfrm>
            <a:off x="631903" y="1426134"/>
            <a:ext cx="5389126" cy="87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0000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References — เอกสารอ้างอิง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0544" y="534988"/>
            <a:ext cx="4935141" cy="873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 b="1">
                <a:solidFill>
                  <a:srgbClr val="FF9A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SOURCES &amp; REPOSITORY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925810" y="6612154"/>
            <a:ext cx="14152389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The </a:t>
            </a:r>
            <a:r>
              <a:rPr lang="en-US" sz="3000" b="1" dirty="0" err="1">
                <a:solidFill>
                  <a:srgbClr val="0000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Rustonomicon</a:t>
            </a:r>
            <a:r>
              <a:rPr lang="en-US" sz="3000" dirty="0">
                <a:solidFill>
                  <a:srgbClr val="000000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: Advanced Concurrency &amp; Data Races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https://doc.rust-lang.org/nomicon/races.html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25811" y="5254440"/>
            <a:ext cx="14457189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Rust Standard Library Documentation</a:t>
            </a:r>
            <a:r>
              <a:rPr lang="en-US" sz="3000" dirty="0">
                <a:solidFill>
                  <a:srgbClr val="000000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: `std::thread`, `std::sync::</a:t>
            </a:r>
            <a:r>
              <a:rPr lang="en-US" sz="3000" dirty="0" err="1">
                <a:solidFill>
                  <a:srgbClr val="000000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mpsc</a:t>
            </a:r>
            <a:r>
              <a:rPr lang="en-US" sz="3000" dirty="0">
                <a:solidFill>
                  <a:srgbClr val="000000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`, `std::sync::Arc`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https://doc.rust-lang.org/std/thread/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25811" y="4028540"/>
            <a:ext cx="15038076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Rust by Example</a:t>
            </a:r>
            <a:r>
              <a:rPr lang="en-US" sz="3000" dirty="0">
                <a:solidFill>
                  <a:srgbClr val="000000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: Concurrency &amp; Threads (`std::thread`, `</a:t>
            </a:r>
            <a:r>
              <a:rPr lang="en-US" sz="3000" dirty="0" err="1">
                <a:solidFill>
                  <a:srgbClr val="000000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mpsc</a:t>
            </a:r>
            <a:r>
              <a:rPr lang="en-US" sz="3000" dirty="0">
                <a:solidFill>
                  <a:srgbClr val="000000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`, `Arc`)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https://doc.rust-lang.org/rust-by-example/std_misc/threads.html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25811" y="2802639"/>
            <a:ext cx="15593827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The Rust Programming Language (The Rust Book)</a:t>
            </a:r>
            <a:r>
              <a:rPr lang="en-US" sz="3000" dirty="0">
                <a:solidFill>
                  <a:srgbClr val="000000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: Ch 16 — Fearless Concurrency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https://doc.rust-lang.org/book/ch16-00-concurrency.html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57899" y="8256498"/>
            <a:ext cx="13157825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Th Sarabun New Bold"/>
                <a:ea typeface="Th Sarabun New Bold"/>
                <a:cs typeface="Th Sarabun New Bold"/>
                <a:sym typeface="Th Sarabun New Bold"/>
              </a:rPr>
              <a:t>GitHub Repository: </a:t>
            </a:r>
            <a:r>
              <a:rPr lang="en-US" sz="3000" dirty="0">
                <a:solidFill>
                  <a:srgbClr val="000000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https://github.com/soonklang/rust-tutorial-2569 (Branch: 22-concurrency-threads)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64606" y="9148413"/>
            <a:ext cx="5640994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>
                <a:solidFill>
                  <a:srgbClr val="000000"/>
                </a:solidFill>
                <a:latin typeface="Th Sarabun New"/>
                <a:ea typeface="Th Sarabun New"/>
                <a:cs typeface="Th Sarabun New"/>
                <a:sym typeface="Th Sarabun New"/>
              </a:rPr>
              <a:t>517321 Principles of Programming Languages — Rust Tutorial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02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77796" y="3771241"/>
            <a:ext cx="16181504" cy="405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</a:pPr>
            <a:r>
              <a:rPr lang="en-US" sz="9999" b="1">
                <a:solidFill>
                  <a:srgbClr val="FFFFFF"/>
                </a:solidFill>
                <a:latin typeface="Cloud Soft Semi-Bold"/>
                <a:ea typeface="Cloud Soft Semi-Bold"/>
                <a:cs typeface="Cloud Soft Semi-Bold"/>
                <a:sym typeface="Cloud Soft Semi-Bold"/>
              </a:rPr>
              <a:t>Questions &amp; Answers</a:t>
            </a:r>
          </a:p>
          <a:p>
            <a:pPr algn="l">
              <a:lnSpc>
                <a:spcPts val="18508"/>
              </a:lnSpc>
            </a:pPr>
            <a:endParaRPr lang="en-US" sz="9999" b="1">
              <a:solidFill>
                <a:srgbClr val="FFFFFF"/>
              </a:solidFill>
              <a:latin typeface="Cloud Soft Semi-Bold"/>
              <a:ea typeface="Cloud Soft Semi-Bold"/>
              <a:cs typeface="Cloud Soft Semi-Bold"/>
              <a:sym typeface="Cloud Soft Semi-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864000" y="5460765"/>
            <a:ext cx="14560000" cy="12153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37"/>
              </a:lnSpc>
            </a:pPr>
            <a:r>
              <a:rPr lang="en-US" sz="3526">
                <a:solidFill>
                  <a:srgbClr val="F1F2F4"/>
                </a:solidFill>
                <a:latin typeface="Prompt"/>
                <a:ea typeface="Prompt"/>
                <a:cs typeface="Prompt"/>
                <a:sym typeface="Prompt"/>
              </a:rPr>
              <a:t>กลุ่ม [22]— [Concurrency &amp; Threads]</a:t>
            </a:r>
          </a:p>
          <a:p>
            <a:pPr algn="just">
              <a:lnSpc>
                <a:spcPts val="4937"/>
              </a:lnSpc>
            </a:pPr>
            <a:endParaRPr lang="en-US" sz="3526">
              <a:solidFill>
                <a:srgbClr val="F1F2F4"/>
              </a:solidFill>
              <a:latin typeface="Prompt"/>
              <a:ea typeface="Prompt"/>
              <a:cs typeface="Prompt"/>
              <a:sym typeface="Prompt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5305604" y="470096"/>
            <a:ext cx="2596090" cy="2031039"/>
          </a:xfrm>
          <a:custGeom>
            <a:avLst/>
            <a:gdLst/>
            <a:ahLst/>
            <a:cxnLst/>
            <a:rect l="l" t="t" r="r" b="b"/>
            <a:pathLst>
              <a:path w="2596090" h="2031039">
                <a:moveTo>
                  <a:pt x="0" y="0"/>
                </a:moveTo>
                <a:lnTo>
                  <a:pt x="2596091" y="0"/>
                </a:lnTo>
                <a:lnTo>
                  <a:pt x="2596091" y="2031039"/>
                </a:lnTo>
                <a:lnTo>
                  <a:pt x="0" y="20310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r="-42568"/>
            </a:stretch>
          </a:blipFill>
        </p:spPr>
        <p:txBody>
          <a:bodyPr/>
          <a:lstStyle/>
          <a:p>
            <a:endParaRPr lang="th-TH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3658756" y="-4535292"/>
            <a:ext cx="11011312" cy="19455200"/>
            <a:chOff x="0" y="0"/>
            <a:chExt cx="3946206" cy="69723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46206" cy="6972305"/>
            </a:xfrm>
            <a:custGeom>
              <a:avLst/>
              <a:gdLst/>
              <a:ahLst/>
              <a:cxnLst/>
              <a:rect l="l" t="t" r="r" b="b"/>
              <a:pathLst>
                <a:path w="3946206" h="6972305">
                  <a:moveTo>
                    <a:pt x="26014" y="0"/>
                  </a:moveTo>
                  <a:lnTo>
                    <a:pt x="3920191" y="0"/>
                  </a:lnTo>
                  <a:cubicBezTo>
                    <a:pt x="3927091" y="0"/>
                    <a:pt x="3933708" y="2741"/>
                    <a:pt x="3938586" y="7619"/>
                  </a:cubicBezTo>
                  <a:cubicBezTo>
                    <a:pt x="3943465" y="12498"/>
                    <a:pt x="3946206" y="19115"/>
                    <a:pt x="3946206" y="26014"/>
                  </a:cubicBezTo>
                  <a:lnTo>
                    <a:pt x="3946206" y="6946291"/>
                  </a:lnTo>
                  <a:cubicBezTo>
                    <a:pt x="3946206" y="6953190"/>
                    <a:pt x="3943465" y="6959807"/>
                    <a:pt x="3938586" y="6964685"/>
                  </a:cubicBezTo>
                  <a:cubicBezTo>
                    <a:pt x="3933708" y="6969564"/>
                    <a:pt x="3927091" y="6972305"/>
                    <a:pt x="3920191" y="6972305"/>
                  </a:cubicBezTo>
                  <a:lnTo>
                    <a:pt x="26014" y="6972305"/>
                  </a:lnTo>
                  <a:cubicBezTo>
                    <a:pt x="19115" y="6972305"/>
                    <a:pt x="12498" y="6969564"/>
                    <a:pt x="7619" y="6964685"/>
                  </a:cubicBezTo>
                  <a:cubicBezTo>
                    <a:pt x="2741" y="6959807"/>
                    <a:pt x="0" y="6953190"/>
                    <a:pt x="0" y="6946291"/>
                  </a:cubicBezTo>
                  <a:lnTo>
                    <a:pt x="0" y="26014"/>
                  </a:lnTo>
                  <a:cubicBezTo>
                    <a:pt x="0" y="19115"/>
                    <a:pt x="2741" y="12498"/>
                    <a:pt x="7619" y="7619"/>
                  </a:cubicBezTo>
                  <a:cubicBezTo>
                    <a:pt x="12498" y="2741"/>
                    <a:pt x="19115" y="0"/>
                    <a:pt x="26014" y="0"/>
                  </a:cubicBezTo>
                  <a:close/>
                </a:path>
              </a:pathLst>
            </a:custGeom>
            <a:solidFill>
              <a:srgbClr val="5E0202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946206" cy="70199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-670913" y="5396696"/>
            <a:ext cx="20283526" cy="5126838"/>
            <a:chOff x="0" y="0"/>
            <a:chExt cx="4407242" cy="11139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07242" cy="1113969"/>
            </a:xfrm>
            <a:custGeom>
              <a:avLst/>
              <a:gdLst/>
              <a:ahLst/>
              <a:cxnLst/>
              <a:rect l="l" t="t" r="r" b="b"/>
              <a:pathLst>
                <a:path w="4407242" h="1113969">
                  <a:moveTo>
                    <a:pt x="0" y="0"/>
                  </a:moveTo>
                  <a:lnTo>
                    <a:pt x="4407242" y="0"/>
                  </a:lnTo>
                  <a:lnTo>
                    <a:pt x="4407242" y="1113969"/>
                  </a:lnTo>
                  <a:lnTo>
                    <a:pt x="0" y="1113969"/>
                  </a:lnTo>
                  <a:close/>
                </a:path>
              </a:pathLst>
            </a:custGeom>
            <a:solidFill>
              <a:srgbClr val="420101">
                <a:alpha val="29804"/>
              </a:srgbClr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407242" cy="1161594"/>
            </a:xfrm>
            <a:prstGeom prst="rect">
              <a:avLst/>
            </a:prstGeom>
          </p:spPr>
          <p:txBody>
            <a:bodyPr lIns="40008" tIns="40008" rIns="40008" bIns="40008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-785709" y="7467526"/>
            <a:ext cx="20283526" cy="5126838"/>
            <a:chOff x="0" y="0"/>
            <a:chExt cx="4407242" cy="111396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07242" cy="1113969"/>
            </a:xfrm>
            <a:custGeom>
              <a:avLst/>
              <a:gdLst/>
              <a:ahLst/>
              <a:cxnLst/>
              <a:rect l="l" t="t" r="r" b="b"/>
              <a:pathLst>
                <a:path w="4407242" h="1113969">
                  <a:moveTo>
                    <a:pt x="0" y="0"/>
                  </a:moveTo>
                  <a:lnTo>
                    <a:pt x="4407242" y="0"/>
                  </a:lnTo>
                  <a:lnTo>
                    <a:pt x="4407242" y="1113969"/>
                  </a:lnTo>
                  <a:lnTo>
                    <a:pt x="0" y="1113969"/>
                  </a:lnTo>
                  <a:close/>
                </a:path>
              </a:pathLst>
            </a:custGeom>
            <a:solidFill>
              <a:srgbClr val="420101">
                <a:alpha val="50980"/>
              </a:srgbClr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407242" cy="1161594"/>
            </a:xfrm>
            <a:prstGeom prst="rect">
              <a:avLst/>
            </a:prstGeom>
          </p:spPr>
          <p:txBody>
            <a:bodyPr lIns="40008" tIns="40008" rIns="40008" bIns="40008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8519" y="9712785"/>
            <a:ext cx="17210961" cy="985179"/>
            <a:chOff x="0" y="0"/>
            <a:chExt cx="6168020" cy="35306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168020" cy="353066"/>
            </a:xfrm>
            <a:custGeom>
              <a:avLst/>
              <a:gdLst/>
              <a:ahLst/>
              <a:cxnLst/>
              <a:rect l="l" t="t" r="r" b="b"/>
              <a:pathLst>
                <a:path w="6168020" h="353066">
                  <a:moveTo>
                    <a:pt x="13945" y="0"/>
                  </a:moveTo>
                  <a:lnTo>
                    <a:pt x="6154076" y="0"/>
                  </a:lnTo>
                  <a:cubicBezTo>
                    <a:pt x="6157774" y="0"/>
                    <a:pt x="6161321" y="1469"/>
                    <a:pt x="6163936" y="4084"/>
                  </a:cubicBezTo>
                  <a:cubicBezTo>
                    <a:pt x="6166551" y="6699"/>
                    <a:pt x="6168020" y="10246"/>
                    <a:pt x="6168020" y="13945"/>
                  </a:cubicBezTo>
                  <a:lnTo>
                    <a:pt x="6168020" y="339121"/>
                  </a:lnTo>
                  <a:cubicBezTo>
                    <a:pt x="6168020" y="342820"/>
                    <a:pt x="6166551" y="346366"/>
                    <a:pt x="6163936" y="348982"/>
                  </a:cubicBezTo>
                  <a:cubicBezTo>
                    <a:pt x="6161321" y="351597"/>
                    <a:pt x="6157774" y="353066"/>
                    <a:pt x="6154076" y="353066"/>
                  </a:cubicBezTo>
                  <a:lnTo>
                    <a:pt x="13945" y="353066"/>
                  </a:lnTo>
                  <a:cubicBezTo>
                    <a:pt x="10246" y="353066"/>
                    <a:pt x="6699" y="351597"/>
                    <a:pt x="4084" y="348982"/>
                  </a:cubicBezTo>
                  <a:cubicBezTo>
                    <a:pt x="1469" y="346366"/>
                    <a:pt x="0" y="342820"/>
                    <a:pt x="0" y="339121"/>
                  </a:cubicBezTo>
                  <a:lnTo>
                    <a:pt x="0" y="13945"/>
                  </a:lnTo>
                  <a:cubicBezTo>
                    <a:pt x="0" y="10246"/>
                    <a:pt x="1469" y="6699"/>
                    <a:pt x="4084" y="4084"/>
                  </a:cubicBezTo>
                  <a:cubicBezTo>
                    <a:pt x="6699" y="1469"/>
                    <a:pt x="10246" y="0"/>
                    <a:pt x="13945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6168020" cy="3911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2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85092" y="10119695"/>
            <a:ext cx="17717816" cy="1968399"/>
            <a:chOff x="0" y="0"/>
            <a:chExt cx="6349665" cy="70543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49665" cy="705430"/>
            </a:xfrm>
            <a:custGeom>
              <a:avLst/>
              <a:gdLst/>
              <a:ahLst/>
              <a:cxnLst/>
              <a:rect l="l" t="t" r="r" b="b"/>
              <a:pathLst>
                <a:path w="6349665" h="705430">
                  <a:moveTo>
                    <a:pt x="10487" y="0"/>
                  </a:moveTo>
                  <a:lnTo>
                    <a:pt x="6339178" y="0"/>
                  </a:lnTo>
                  <a:cubicBezTo>
                    <a:pt x="6341959" y="0"/>
                    <a:pt x="6344627" y="1105"/>
                    <a:pt x="6346594" y="3072"/>
                  </a:cubicBezTo>
                  <a:cubicBezTo>
                    <a:pt x="6348560" y="5038"/>
                    <a:pt x="6349665" y="7706"/>
                    <a:pt x="6349665" y="10487"/>
                  </a:cubicBezTo>
                  <a:lnTo>
                    <a:pt x="6349665" y="694943"/>
                  </a:lnTo>
                  <a:cubicBezTo>
                    <a:pt x="6349665" y="697724"/>
                    <a:pt x="6348560" y="700391"/>
                    <a:pt x="6346594" y="702358"/>
                  </a:cubicBezTo>
                  <a:cubicBezTo>
                    <a:pt x="6344627" y="704325"/>
                    <a:pt x="6341959" y="705430"/>
                    <a:pt x="6339178" y="705430"/>
                  </a:cubicBezTo>
                  <a:lnTo>
                    <a:pt x="10487" y="705430"/>
                  </a:lnTo>
                  <a:cubicBezTo>
                    <a:pt x="7706" y="705430"/>
                    <a:pt x="5038" y="704325"/>
                    <a:pt x="3072" y="702358"/>
                  </a:cubicBezTo>
                  <a:cubicBezTo>
                    <a:pt x="1105" y="700391"/>
                    <a:pt x="0" y="697724"/>
                    <a:pt x="0" y="694943"/>
                  </a:cubicBezTo>
                  <a:lnTo>
                    <a:pt x="0" y="10487"/>
                  </a:lnTo>
                  <a:cubicBezTo>
                    <a:pt x="0" y="7706"/>
                    <a:pt x="1105" y="5038"/>
                    <a:pt x="3072" y="3072"/>
                  </a:cubicBezTo>
                  <a:cubicBezTo>
                    <a:pt x="5038" y="1105"/>
                    <a:pt x="7706" y="0"/>
                    <a:pt x="10487" y="0"/>
                  </a:cubicBezTo>
                  <a:close/>
                </a:path>
              </a:pathLst>
            </a:custGeom>
            <a:solidFill>
              <a:srgbClr val="290101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6349665" cy="743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2"/>
                </a:lnSpc>
              </a:pPr>
              <a:endParaRPr/>
            </a:p>
          </p:txBody>
        </p:sp>
      </p:grpSp>
      <p:sp>
        <p:nvSpPr>
          <p:cNvPr id="17" name="AutoShape 17"/>
          <p:cNvSpPr/>
          <p:nvPr/>
        </p:nvSpPr>
        <p:spPr>
          <a:xfrm>
            <a:off x="2186237" y="380209"/>
            <a:ext cx="10988482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th-TH"/>
          </a:p>
        </p:txBody>
      </p:sp>
      <p:sp>
        <p:nvSpPr>
          <p:cNvPr id="18" name="Freeform 18"/>
          <p:cNvSpPr/>
          <p:nvPr/>
        </p:nvSpPr>
        <p:spPr>
          <a:xfrm>
            <a:off x="245438" y="178403"/>
            <a:ext cx="471856" cy="422661"/>
          </a:xfrm>
          <a:custGeom>
            <a:avLst/>
            <a:gdLst/>
            <a:ahLst/>
            <a:cxnLst/>
            <a:rect l="l" t="t" r="r" b="b"/>
            <a:pathLst>
              <a:path w="471856" h="422661">
                <a:moveTo>
                  <a:pt x="0" y="0"/>
                </a:moveTo>
                <a:lnTo>
                  <a:pt x="471856" y="0"/>
                </a:lnTo>
                <a:lnTo>
                  <a:pt x="471856" y="422661"/>
                </a:lnTo>
                <a:lnTo>
                  <a:pt x="0" y="4226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276783" r="-241223"/>
            </a:stretch>
          </a:blipFill>
        </p:spPr>
        <p:txBody>
          <a:bodyPr/>
          <a:lstStyle/>
          <a:p>
            <a:endParaRPr lang="th-TH"/>
          </a:p>
        </p:txBody>
      </p:sp>
      <p:grpSp>
        <p:nvGrpSpPr>
          <p:cNvPr id="19" name="Group 19"/>
          <p:cNvGrpSpPr/>
          <p:nvPr/>
        </p:nvGrpSpPr>
        <p:grpSpPr>
          <a:xfrm>
            <a:off x="782256" y="178403"/>
            <a:ext cx="1190404" cy="422661"/>
            <a:chOff x="0" y="0"/>
            <a:chExt cx="313522" cy="11131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13522" cy="111318"/>
            </a:xfrm>
            <a:custGeom>
              <a:avLst/>
              <a:gdLst/>
              <a:ahLst/>
              <a:cxnLst/>
              <a:rect l="l" t="t" r="r" b="b"/>
              <a:pathLst>
                <a:path w="313522" h="111318">
                  <a:moveTo>
                    <a:pt x="0" y="0"/>
                  </a:moveTo>
                  <a:lnTo>
                    <a:pt x="313522" y="0"/>
                  </a:lnTo>
                  <a:lnTo>
                    <a:pt x="313522" y="111318"/>
                  </a:lnTo>
                  <a:lnTo>
                    <a:pt x="0" y="11131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13522" cy="149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2"/>
                </a:lnSpc>
              </a:pPr>
              <a:endParaRPr/>
            </a:p>
          </p:txBody>
        </p:sp>
      </p:grpSp>
      <p:sp>
        <p:nvSpPr>
          <p:cNvPr id="22" name="AutoShape 22"/>
          <p:cNvSpPr/>
          <p:nvPr/>
        </p:nvSpPr>
        <p:spPr>
          <a:xfrm flipV="1">
            <a:off x="17792345" y="764907"/>
            <a:ext cx="0" cy="8493393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th-TH"/>
          </a:p>
        </p:txBody>
      </p:sp>
      <p:sp>
        <p:nvSpPr>
          <p:cNvPr id="23" name="Freeform 23"/>
          <p:cNvSpPr/>
          <p:nvPr/>
        </p:nvSpPr>
        <p:spPr>
          <a:xfrm>
            <a:off x="17504028" y="168878"/>
            <a:ext cx="471856" cy="422661"/>
          </a:xfrm>
          <a:custGeom>
            <a:avLst/>
            <a:gdLst/>
            <a:ahLst/>
            <a:cxnLst/>
            <a:rect l="l" t="t" r="r" b="b"/>
            <a:pathLst>
              <a:path w="471856" h="422661">
                <a:moveTo>
                  <a:pt x="0" y="0"/>
                </a:moveTo>
                <a:lnTo>
                  <a:pt x="471855" y="0"/>
                </a:lnTo>
                <a:lnTo>
                  <a:pt x="471855" y="422661"/>
                </a:lnTo>
                <a:lnTo>
                  <a:pt x="0" y="4226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276783" r="-241223"/>
            </a:stretch>
          </a:blipFill>
        </p:spPr>
        <p:txBody>
          <a:bodyPr/>
          <a:lstStyle/>
          <a:p>
            <a:endParaRPr lang="th-TH"/>
          </a:p>
        </p:txBody>
      </p:sp>
      <p:grpSp>
        <p:nvGrpSpPr>
          <p:cNvPr id="24" name="Group 24"/>
          <p:cNvGrpSpPr/>
          <p:nvPr/>
        </p:nvGrpSpPr>
        <p:grpSpPr>
          <a:xfrm>
            <a:off x="12737812" y="-29063"/>
            <a:ext cx="4712356" cy="808806"/>
            <a:chOff x="0" y="-57150"/>
            <a:chExt cx="1241114" cy="213019"/>
          </a:xfrm>
        </p:grpSpPr>
        <p:sp>
          <p:nvSpPr>
            <p:cNvPr id="25" name="Freeform 25"/>
            <p:cNvSpPr/>
            <p:nvPr/>
          </p:nvSpPr>
          <p:spPr>
            <a:xfrm>
              <a:off x="32388" y="-5111"/>
              <a:ext cx="1208726" cy="155869"/>
            </a:xfrm>
            <a:custGeom>
              <a:avLst/>
              <a:gdLst/>
              <a:ahLst/>
              <a:cxnLst/>
              <a:rect l="l" t="t" r="r" b="b"/>
              <a:pathLst>
                <a:path w="1208726" h="155869">
                  <a:moveTo>
                    <a:pt x="0" y="0"/>
                  </a:moveTo>
                  <a:lnTo>
                    <a:pt x="1208726" y="0"/>
                  </a:lnTo>
                  <a:lnTo>
                    <a:pt x="1208726" y="155869"/>
                  </a:lnTo>
                  <a:lnTo>
                    <a:pt x="0" y="15586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57150"/>
              <a:ext cx="1208726" cy="21301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572"/>
                </a:lnSpc>
              </a:pPr>
              <a:r>
                <a:rPr lang="en-US" sz="2400" b="1" dirty="0" err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แบบฝึกหัดที่</a:t>
              </a:r>
              <a:r>
                <a:rPr lang="en-US" sz="2400" b="1" dirty="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2: Race Condition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480509" y="1175406"/>
            <a:ext cx="15326981" cy="8229600"/>
            <a:chOff x="0" y="0"/>
            <a:chExt cx="4036736" cy="216746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036736" cy="2167467"/>
            </a:xfrm>
            <a:custGeom>
              <a:avLst/>
              <a:gdLst/>
              <a:ahLst/>
              <a:cxnLst/>
              <a:rect l="l" t="t" r="r" b="b"/>
              <a:pathLst>
                <a:path w="4036736" h="2167467">
                  <a:moveTo>
                    <a:pt x="10102" y="0"/>
                  </a:moveTo>
                  <a:lnTo>
                    <a:pt x="4026633" y="0"/>
                  </a:lnTo>
                  <a:cubicBezTo>
                    <a:pt x="4032213" y="0"/>
                    <a:pt x="4036736" y="4523"/>
                    <a:pt x="4036736" y="10102"/>
                  </a:cubicBezTo>
                  <a:lnTo>
                    <a:pt x="4036736" y="2157364"/>
                  </a:lnTo>
                  <a:cubicBezTo>
                    <a:pt x="4036736" y="2162944"/>
                    <a:pt x="4032213" y="2167467"/>
                    <a:pt x="4026633" y="2167467"/>
                  </a:cubicBezTo>
                  <a:lnTo>
                    <a:pt x="10102" y="2167467"/>
                  </a:lnTo>
                  <a:cubicBezTo>
                    <a:pt x="7423" y="2167467"/>
                    <a:pt x="4853" y="2166402"/>
                    <a:pt x="2959" y="2164508"/>
                  </a:cubicBezTo>
                  <a:cubicBezTo>
                    <a:pt x="1064" y="2162613"/>
                    <a:pt x="0" y="2160044"/>
                    <a:pt x="0" y="2157364"/>
                  </a:cubicBezTo>
                  <a:lnTo>
                    <a:pt x="0" y="10102"/>
                  </a:lnTo>
                  <a:cubicBezTo>
                    <a:pt x="0" y="4523"/>
                    <a:pt x="4523" y="0"/>
                    <a:pt x="1010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403673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2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854647" y="1281729"/>
            <a:ext cx="2578706" cy="329481"/>
            <a:chOff x="0" y="0"/>
            <a:chExt cx="3438274" cy="43930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90440" cy="439308"/>
            </a:xfrm>
            <a:custGeom>
              <a:avLst/>
              <a:gdLst/>
              <a:ahLst/>
              <a:cxnLst/>
              <a:rect l="l" t="t" r="r" b="b"/>
              <a:pathLst>
                <a:path w="490440" h="439308">
                  <a:moveTo>
                    <a:pt x="0" y="0"/>
                  </a:moveTo>
                  <a:lnTo>
                    <a:pt x="490440" y="0"/>
                  </a:lnTo>
                  <a:lnTo>
                    <a:pt x="490440" y="439308"/>
                  </a:lnTo>
                  <a:lnTo>
                    <a:pt x="0" y="439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276783" r="-241223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590709" y="0"/>
              <a:ext cx="490440" cy="439308"/>
            </a:xfrm>
            <a:custGeom>
              <a:avLst/>
              <a:gdLst/>
              <a:ahLst/>
              <a:cxnLst/>
              <a:rect l="l" t="t" r="r" b="b"/>
              <a:pathLst>
                <a:path w="490440" h="439308">
                  <a:moveTo>
                    <a:pt x="0" y="0"/>
                  </a:moveTo>
                  <a:lnTo>
                    <a:pt x="490440" y="0"/>
                  </a:lnTo>
                  <a:lnTo>
                    <a:pt x="490440" y="439308"/>
                  </a:lnTo>
                  <a:lnTo>
                    <a:pt x="0" y="439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276783" r="-241223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1181418" y="0"/>
              <a:ext cx="490440" cy="439308"/>
            </a:xfrm>
            <a:custGeom>
              <a:avLst/>
              <a:gdLst/>
              <a:ahLst/>
              <a:cxnLst/>
              <a:rect l="l" t="t" r="r" b="b"/>
              <a:pathLst>
                <a:path w="490440" h="439308">
                  <a:moveTo>
                    <a:pt x="0" y="0"/>
                  </a:moveTo>
                  <a:lnTo>
                    <a:pt x="490440" y="0"/>
                  </a:lnTo>
                  <a:lnTo>
                    <a:pt x="490440" y="439308"/>
                  </a:lnTo>
                  <a:lnTo>
                    <a:pt x="0" y="439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276783" r="-241223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1766416" y="0"/>
              <a:ext cx="490440" cy="439308"/>
            </a:xfrm>
            <a:custGeom>
              <a:avLst/>
              <a:gdLst/>
              <a:ahLst/>
              <a:cxnLst/>
              <a:rect l="l" t="t" r="r" b="b"/>
              <a:pathLst>
                <a:path w="490440" h="439308">
                  <a:moveTo>
                    <a:pt x="0" y="0"/>
                  </a:moveTo>
                  <a:lnTo>
                    <a:pt x="490440" y="0"/>
                  </a:lnTo>
                  <a:lnTo>
                    <a:pt x="490440" y="439308"/>
                  </a:lnTo>
                  <a:lnTo>
                    <a:pt x="0" y="439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276783" r="-241223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2357125" y="0"/>
              <a:ext cx="490440" cy="439308"/>
            </a:xfrm>
            <a:custGeom>
              <a:avLst/>
              <a:gdLst/>
              <a:ahLst/>
              <a:cxnLst/>
              <a:rect l="l" t="t" r="r" b="b"/>
              <a:pathLst>
                <a:path w="490440" h="439308">
                  <a:moveTo>
                    <a:pt x="0" y="0"/>
                  </a:moveTo>
                  <a:lnTo>
                    <a:pt x="490440" y="0"/>
                  </a:lnTo>
                  <a:lnTo>
                    <a:pt x="490440" y="439308"/>
                  </a:lnTo>
                  <a:lnTo>
                    <a:pt x="0" y="439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276783" r="-241223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2947834" y="0"/>
              <a:ext cx="490440" cy="439308"/>
            </a:xfrm>
            <a:custGeom>
              <a:avLst/>
              <a:gdLst/>
              <a:ahLst/>
              <a:cxnLst/>
              <a:rect l="l" t="t" r="r" b="b"/>
              <a:pathLst>
                <a:path w="490440" h="439308">
                  <a:moveTo>
                    <a:pt x="0" y="0"/>
                  </a:moveTo>
                  <a:lnTo>
                    <a:pt x="490440" y="0"/>
                  </a:lnTo>
                  <a:lnTo>
                    <a:pt x="490440" y="439308"/>
                  </a:lnTo>
                  <a:lnTo>
                    <a:pt x="0" y="439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276783" r="-241223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37" name="AutoShape 37"/>
          <p:cNvSpPr/>
          <p:nvPr/>
        </p:nvSpPr>
        <p:spPr>
          <a:xfrm flipV="1">
            <a:off x="1896590" y="1446470"/>
            <a:ext cx="5796133" cy="0"/>
          </a:xfrm>
          <a:prstGeom prst="line">
            <a:avLst/>
          </a:prstGeom>
          <a:ln w="19050" cap="flat">
            <a:solidFill>
              <a:srgbClr val="42010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h-TH"/>
          </a:p>
        </p:txBody>
      </p:sp>
      <p:sp>
        <p:nvSpPr>
          <p:cNvPr id="38" name="AutoShape 38"/>
          <p:cNvSpPr/>
          <p:nvPr/>
        </p:nvSpPr>
        <p:spPr>
          <a:xfrm flipV="1">
            <a:off x="10595278" y="1436945"/>
            <a:ext cx="5796133" cy="0"/>
          </a:xfrm>
          <a:prstGeom prst="line">
            <a:avLst/>
          </a:prstGeom>
          <a:ln w="19050" cap="flat">
            <a:solidFill>
              <a:srgbClr val="42010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h-TH"/>
          </a:p>
        </p:txBody>
      </p:sp>
      <p:sp>
        <p:nvSpPr>
          <p:cNvPr id="39" name="AutoShape 39"/>
          <p:cNvSpPr/>
          <p:nvPr/>
        </p:nvSpPr>
        <p:spPr>
          <a:xfrm>
            <a:off x="1896590" y="8816983"/>
            <a:ext cx="14494821" cy="0"/>
          </a:xfrm>
          <a:prstGeom prst="line">
            <a:avLst/>
          </a:prstGeom>
          <a:ln w="19050" cap="flat">
            <a:solidFill>
              <a:srgbClr val="42010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h-TH"/>
          </a:p>
        </p:txBody>
      </p:sp>
      <p:grpSp>
        <p:nvGrpSpPr>
          <p:cNvPr id="40" name="Group 40"/>
          <p:cNvGrpSpPr/>
          <p:nvPr/>
        </p:nvGrpSpPr>
        <p:grpSpPr>
          <a:xfrm>
            <a:off x="16120802" y="1446470"/>
            <a:ext cx="47625" cy="1201836"/>
            <a:chOff x="0" y="0"/>
            <a:chExt cx="11158" cy="28158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1158" cy="281580"/>
            </a:xfrm>
            <a:custGeom>
              <a:avLst/>
              <a:gdLst/>
              <a:ahLst/>
              <a:cxnLst/>
              <a:rect l="l" t="t" r="r" b="b"/>
              <a:pathLst>
                <a:path w="11158" h="281580">
                  <a:moveTo>
                    <a:pt x="0" y="0"/>
                  </a:moveTo>
                  <a:lnTo>
                    <a:pt x="11158" y="0"/>
                  </a:lnTo>
                  <a:lnTo>
                    <a:pt x="11158" y="281580"/>
                  </a:lnTo>
                  <a:lnTo>
                    <a:pt x="0" y="281580"/>
                  </a:lnTo>
                  <a:close/>
                </a:path>
              </a:pathLst>
            </a:custGeom>
            <a:solidFill>
              <a:srgbClr val="5E0202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11158" cy="319680"/>
            </a:xfrm>
            <a:prstGeom prst="rect">
              <a:avLst/>
            </a:prstGeom>
          </p:spPr>
          <p:txBody>
            <a:bodyPr lIns="57106" tIns="57106" rIns="57106" bIns="57106" rtlCol="0" anchor="ctr"/>
            <a:lstStyle/>
            <a:p>
              <a:pPr algn="ctr">
                <a:lnSpc>
                  <a:spcPts val="1892"/>
                </a:lnSpc>
              </a:pPr>
              <a:endParaRPr/>
            </a:p>
          </p:txBody>
        </p:sp>
      </p:grpSp>
      <p:sp>
        <p:nvSpPr>
          <p:cNvPr id="43" name="Freeform 43"/>
          <p:cNvSpPr/>
          <p:nvPr/>
        </p:nvSpPr>
        <p:spPr>
          <a:xfrm rot="5400000">
            <a:off x="1848298" y="1659502"/>
            <a:ext cx="868166" cy="771583"/>
          </a:xfrm>
          <a:custGeom>
            <a:avLst/>
            <a:gdLst/>
            <a:ahLst/>
            <a:cxnLst/>
            <a:rect l="l" t="t" r="r" b="b"/>
            <a:pathLst>
              <a:path w="868166" h="771583">
                <a:moveTo>
                  <a:pt x="0" y="0"/>
                </a:moveTo>
                <a:lnTo>
                  <a:pt x="868166" y="0"/>
                </a:lnTo>
                <a:lnTo>
                  <a:pt x="868166" y="771583"/>
                </a:lnTo>
                <a:lnTo>
                  <a:pt x="0" y="7715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grpSp>
        <p:nvGrpSpPr>
          <p:cNvPr id="44" name="Group 44"/>
          <p:cNvGrpSpPr/>
          <p:nvPr/>
        </p:nvGrpSpPr>
        <p:grpSpPr>
          <a:xfrm>
            <a:off x="2400398" y="1611210"/>
            <a:ext cx="47625" cy="1201836"/>
            <a:chOff x="0" y="0"/>
            <a:chExt cx="11158" cy="28158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1158" cy="281580"/>
            </a:xfrm>
            <a:custGeom>
              <a:avLst/>
              <a:gdLst/>
              <a:ahLst/>
              <a:cxnLst/>
              <a:rect l="l" t="t" r="r" b="b"/>
              <a:pathLst>
                <a:path w="11158" h="281580">
                  <a:moveTo>
                    <a:pt x="0" y="0"/>
                  </a:moveTo>
                  <a:lnTo>
                    <a:pt x="11158" y="0"/>
                  </a:lnTo>
                  <a:lnTo>
                    <a:pt x="11158" y="281580"/>
                  </a:lnTo>
                  <a:lnTo>
                    <a:pt x="0" y="281580"/>
                  </a:lnTo>
                  <a:close/>
                </a:path>
              </a:pathLst>
            </a:custGeom>
            <a:solidFill>
              <a:srgbClr val="5E0202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11158" cy="319680"/>
            </a:xfrm>
            <a:prstGeom prst="rect">
              <a:avLst/>
            </a:prstGeom>
          </p:spPr>
          <p:txBody>
            <a:bodyPr lIns="57106" tIns="57106" rIns="57106" bIns="57106" rtlCol="0" anchor="ctr"/>
            <a:lstStyle/>
            <a:p>
              <a:pPr algn="ctr">
                <a:lnSpc>
                  <a:spcPts val="1892"/>
                </a:lnSpc>
              </a:pPr>
              <a:endParaRPr/>
            </a:p>
          </p:txBody>
        </p:sp>
      </p:grpSp>
      <p:sp>
        <p:nvSpPr>
          <p:cNvPr id="47" name="Freeform 47"/>
          <p:cNvSpPr/>
          <p:nvPr/>
        </p:nvSpPr>
        <p:spPr>
          <a:xfrm rot="-5400000">
            <a:off x="15571536" y="1659502"/>
            <a:ext cx="868166" cy="771583"/>
          </a:xfrm>
          <a:custGeom>
            <a:avLst/>
            <a:gdLst/>
            <a:ahLst/>
            <a:cxnLst/>
            <a:rect l="l" t="t" r="r" b="b"/>
            <a:pathLst>
              <a:path w="868166" h="771583">
                <a:moveTo>
                  <a:pt x="0" y="0"/>
                </a:moveTo>
                <a:lnTo>
                  <a:pt x="868166" y="0"/>
                </a:lnTo>
                <a:lnTo>
                  <a:pt x="868166" y="771583"/>
                </a:lnTo>
                <a:lnTo>
                  <a:pt x="0" y="7715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8" name="TextBox 48"/>
          <p:cNvSpPr txBox="1"/>
          <p:nvPr/>
        </p:nvSpPr>
        <p:spPr>
          <a:xfrm>
            <a:off x="3164740" y="1844533"/>
            <a:ext cx="12612220" cy="65172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22"/>
              </a:lnSpc>
            </a:pPr>
            <a:r>
              <a:rPr lang="en-US" sz="3015">
                <a:solidFill>
                  <a:srgbClr val="000000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กำหนดตัวแปร</a:t>
            </a:r>
          </a:p>
          <a:p>
            <a:pPr algn="l">
              <a:lnSpc>
                <a:spcPts val="4082"/>
              </a:lnSpc>
            </a:pPr>
            <a:endParaRPr lang="en-US" sz="3015">
              <a:solidFill>
                <a:srgbClr val="000000"/>
              </a:solidFill>
              <a:latin typeface="เอฟซี มินิมอล"/>
              <a:ea typeface="เอฟซี มินิมอล"/>
              <a:cs typeface="เอฟซี มินิมอล"/>
              <a:sym typeface="เอฟซี มินิมอล"/>
            </a:endParaRPr>
          </a:p>
          <a:p>
            <a:pPr algn="ctr">
              <a:lnSpc>
                <a:spcPts val="3802"/>
              </a:lnSpc>
            </a:pPr>
            <a:r>
              <a:rPr lang="en-US" sz="2715">
                <a:solidFill>
                  <a:srgbClr val="000000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int counter = 0;</a:t>
            </a:r>
          </a:p>
          <a:p>
            <a:pPr algn="ctr">
              <a:lnSpc>
                <a:spcPts val="3802"/>
              </a:lnSpc>
            </a:pPr>
            <a:endParaRPr lang="en-US" sz="2715">
              <a:solidFill>
                <a:srgbClr val="000000"/>
              </a:solidFill>
              <a:latin typeface="เอฟซี มินิมอล"/>
              <a:ea typeface="เอฟซี มินิมอล"/>
              <a:cs typeface="เอฟซี มินิมอล"/>
              <a:sym typeface="เอฟซี มินิมอล"/>
            </a:endParaRPr>
          </a:p>
          <a:p>
            <a:pPr algn="ctr">
              <a:lnSpc>
                <a:spcPts val="3802"/>
              </a:lnSpc>
            </a:pPr>
            <a:r>
              <a:rPr lang="en-US" sz="2715">
                <a:solidFill>
                  <a:srgbClr val="000000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ให้ Thread 2 ตัวเพิ่มค่า counter ตัวละ 1,000 ครั้ง</a:t>
            </a:r>
          </a:p>
          <a:p>
            <a:pPr algn="ctr">
              <a:lnSpc>
                <a:spcPts val="3802"/>
              </a:lnSpc>
            </a:pPr>
            <a:endParaRPr lang="en-US" sz="2715">
              <a:solidFill>
                <a:srgbClr val="000000"/>
              </a:solidFill>
              <a:latin typeface="เอฟซี มินิมอล"/>
              <a:ea typeface="เอฟซี มินิมอล"/>
              <a:cs typeface="เอฟซี มินิมอล"/>
              <a:sym typeface="เอฟซี มินิมอล"/>
            </a:endParaRPr>
          </a:p>
          <a:p>
            <a:pPr algn="ctr">
              <a:lnSpc>
                <a:spcPts val="3802"/>
              </a:lnSpc>
            </a:pPr>
            <a:r>
              <a:rPr lang="en-US" sz="2715">
                <a:solidFill>
                  <a:srgbClr val="000000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counter++;</a:t>
            </a:r>
          </a:p>
          <a:p>
            <a:pPr algn="l">
              <a:lnSpc>
                <a:spcPts val="4082"/>
              </a:lnSpc>
            </a:pPr>
            <a:endParaRPr lang="en-US" sz="2715">
              <a:solidFill>
                <a:srgbClr val="000000"/>
              </a:solidFill>
              <a:latin typeface="เอฟซี มินิมอล"/>
              <a:ea typeface="เอฟซี มินิมอล"/>
              <a:cs typeface="เอฟซี มินิมอล"/>
              <a:sym typeface="เอฟซี มินิมอล"/>
            </a:endParaRPr>
          </a:p>
          <a:p>
            <a:pPr algn="l">
              <a:lnSpc>
                <a:spcPts val="4222"/>
              </a:lnSpc>
            </a:pPr>
            <a:r>
              <a:rPr lang="en-US" sz="3015">
                <a:solidFill>
                  <a:srgbClr val="000000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คำถาม </a:t>
            </a:r>
          </a:p>
          <a:p>
            <a:pPr algn="l">
              <a:lnSpc>
                <a:spcPts val="3942"/>
              </a:lnSpc>
            </a:pPr>
            <a:r>
              <a:rPr lang="en-US" sz="2815">
                <a:solidFill>
                  <a:srgbClr val="000000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    ถ้าทำงานถูกต้อง counter ควรมีค่าเท่าไร?</a:t>
            </a:r>
          </a:p>
          <a:p>
            <a:pPr algn="l">
              <a:lnSpc>
                <a:spcPts val="4082"/>
              </a:lnSpc>
            </a:pPr>
            <a:endParaRPr lang="en-US" sz="2815">
              <a:solidFill>
                <a:srgbClr val="000000"/>
              </a:solidFill>
              <a:latin typeface="เอฟซี มินิมอล"/>
              <a:ea typeface="เอฟซี มินิมอล"/>
              <a:cs typeface="เอฟซี มินิมอล"/>
              <a:sym typeface="เอฟซี มินิมอล"/>
            </a:endParaRPr>
          </a:p>
          <a:p>
            <a:pPr algn="l">
              <a:lnSpc>
                <a:spcPts val="4362"/>
              </a:lnSpc>
            </a:pPr>
            <a:r>
              <a:rPr lang="en-US" sz="3115">
                <a:solidFill>
                  <a:srgbClr val="420101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คำตอบ</a:t>
            </a:r>
          </a:p>
          <a:p>
            <a:pPr algn="l">
              <a:lnSpc>
                <a:spcPts val="3942"/>
              </a:lnSpc>
            </a:pPr>
            <a:r>
              <a:rPr lang="en-US" sz="2815">
                <a:solidFill>
                  <a:srgbClr val="420101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    2,000แต่ในบางกรณีอาจได้ค่าต่ำกว่า 2,000 เนื่องจากเกิด Race Condition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3658756" y="-4535292"/>
            <a:ext cx="11011312" cy="19455200"/>
            <a:chOff x="0" y="0"/>
            <a:chExt cx="3946206" cy="69723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46206" cy="6972305"/>
            </a:xfrm>
            <a:custGeom>
              <a:avLst/>
              <a:gdLst/>
              <a:ahLst/>
              <a:cxnLst/>
              <a:rect l="l" t="t" r="r" b="b"/>
              <a:pathLst>
                <a:path w="3946206" h="6972305">
                  <a:moveTo>
                    <a:pt x="26014" y="0"/>
                  </a:moveTo>
                  <a:lnTo>
                    <a:pt x="3920191" y="0"/>
                  </a:lnTo>
                  <a:cubicBezTo>
                    <a:pt x="3927091" y="0"/>
                    <a:pt x="3933708" y="2741"/>
                    <a:pt x="3938586" y="7619"/>
                  </a:cubicBezTo>
                  <a:cubicBezTo>
                    <a:pt x="3943465" y="12498"/>
                    <a:pt x="3946206" y="19115"/>
                    <a:pt x="3946206" y="26014"/>
                  </a:cubicBezTo>
                  <a:lnTo>
                    <a:pt x="3946206" y="6946291"/>
                  </a:lnTo>
                  <a:cubicBezTo>
                    <a:pt x="3946206" y="6953190"/>
                    <a:pt x="3943465" y="6959807"/>
                    <a:pt x="3938586" y="6964685"/>
                  </a:cubicBezTo>
                  <a:cubicBezTo>
                    <a:pt x="3933708" y="6969564"/>
                    <a:pt x="3927091" y="6972305"/>
                    <a:pt x="3920191" y="6972305"/>
                  </a:cubicBezTo>
                  <a:lnTo>
                    <a:pt x="26014" y="6972305"/>
                  </a:lnTo>
                  <a:cubicBezTo>
                    <a:pt x="19115" y="6972305"/>
                    <a:pt x="12498" y="6969564"/>
                    <a:pt x="7619" y="6964685"/>
                  </a:cubicBezTo>
                  <a:cubicBezTo>
                    <a:pt x="2741" y="6959807"/>
                    <a:pt x="0" y="6953190"/>
                    <a:pt x="0" y="6946291"/>
                  </a:cubicBezTo>
                  <a:lnTo>
                    <a:pt x="0" y="26014"/>
                  </a:lnTo>
                  <a:cubicBezTo>
                    <a:pt x="0" y="19115"/>
                    <a:pt x="2741" y="12498"/>
                    <a:pt x="7619" y="7619"/>
                  </a:cubicBezTo>
                  <a:cubicBezTo>
                    <a:pt x="12498" y="2741"/>
                    <a:pt x="19115" y="0"/>
                    <a:pt x="26014" y="0"/>
                  </a:cubicBezTo>
                  <a:close/>
                </a:path>
              </a:pathLst>
            </a:custGeom>
            <a:solidFill>
              <a:srgbClr val="5E0202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946206" cy="70199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-670913" y="5396696"/>
            <a:ext cx="20283526" cy="5126838"/>
            <a:chOff x="0" y="0"/>
            <a:chExt cx="4407242" cy="11139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07242" cy="1113969"/>
            </a:xfrm>
            <a:custGeom>
              <a:avLst/>
              <a:gdLst/>
              <a:ahLst/>
              <a:cxnLst/>
              <a:rect l="l" t="t" r="r" b="b"/>
              <a:pathLst>
                <a:path w="4407242" h="1113969">
                  <a:moveTo>
                    <a:pt x="0" y="0"/>
                  </a:moveTo>
                  <a:lnTo>
                    <a:pt x="4407242" y="0"/>
                  </a:lnTo>
                  <a:lnTo>
                    <a:pt x="4407242" y="1113969"/>
                  </a:lnTo>
                  <a:lnTo>
                    <a:pt x="0" y="1113969"/>
                  </a:lnTo>
                  <a:close/>
                </a:path>
              </a:pathLst>
            </a:custGeom>
            <a:solidFill>
              <a:srgbClr val="420101">
                <a:alpha val="29804"/>
              </a:srgbClr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407242" cy="1161594"/>
            </a:xfrm>
            <a:prstGeom prst="rect">
              <a:avLst/>
            </a:prstGeom>
          </p:spPr>
          <p:txBody>
            <a:bodyPr lIns="40008" tIns="40008" rIns="40008" bIns="40008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-785709" y="7467526"/>
            <a:ext cx="20283526" cy="5126838"/>
            <a:chOff x="0" y="0"/>
            <a:chExt cx="4407242" cy="111396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07242" cy="1113969"/>
            </a:xfrm>
            <a:custGeom>
              <a:avLst/>
              <a:gdLst/>
              <a:ahLst/>
              <a:cxnLst/>
              <a:rect l="l" t="t" r="r" b="b"/>
              <a:pathLst>
                <a:path w="4407242" h="1113969">
                  <a:moveTo>
                    <a:pt x="0" y="0"/>
                  </a:moveTo>
                  <a:lnTo>
                    <a:pt x="4407242" y="0"/>
                  </a:lnTo>
                  <a:lnTo>
                    <a:pt x="4407242" y="1113969"/>
                  </a:lnTo>
                  <a:lnTo>
                    <a:pt x="0" y="1113969"/>
                  </a:lnTo>
                  <a:close/>
                </a:path>
              </a:pathLst>
            </a:custGeom>
            <a:solidFill>
              <a:srgbClr val="420101">
                <a:alpha val="50980"/>
              </a:srgbClr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407242" cy="1161594"/>
            </a:xfrm>
            <a:prstGeom prst="rect">
              <a:avLst/>
            </a:prstGeom>
          </p:spPr>
          <p:txBody>
            <a:bodyPr lIns="40008" tIns="40008" rIns="40008" bIns="40008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8519" y="9712785"/>
            <a:ext cx="17210961" cy="985179"/>
            <a:chOff x="0" y="0"/>
            <a:chExt cx="6168020" cy="35306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168020" cy="353066"/>
            </a:xfrm>
            <a:custGeom>
              <a:avLst/>
              <a:gdLst/>
              <a:ahLst/>
              <a:cxnLst/>
              <a:rect l="l" t="t" r="r" b="b"/>
              <a:pathLst>
                <a:path w="6168020" h="353066">
                  <a:moveTo>
                    <a:pt x="13945" y="0"/>
                  </a:moveTo>
                  <a:lnTo>
                    <a:pt x="6154076" y="0"/>
                  </a:lnTo>
                  <a:cubicBezTo>
                    <a:pt x="6157774" y="0"/>
                    <a:pt x="6161321" y="1469"/>
                    <a:pt x="6163936" y="4084"/>
                  </a:cubicBezTo>
                  <a:cubicBezTo>
                    <a:pt x="6166551" y="6699"/>
                    <a:pt x="6168020" y="10246"/>
                    <a:pt x="6168020" y="13945"/>
                  </a:cubicBezTo>
                  <a:lnTo>
                    <a:pt x="6168020" y="339121"/>
                  </a:lnTo>
                  <a:cubicBezTo>
                    <a:pt x="6168020" y="342820"/>
                    <a:pt x="6166551" y="346366"/>
                    <a:pt x="6163936" y="348982"/>
                  </a:cubicBezTo>
                  <a:cubicBezTo>
                    <a:pt x="6161321" y="351597"/>
                    <a:pt x="6157774" y="353066"/>
                    <a:pt x="6154076" y="353066"/>
                  </a:cubicBezTo>
                  <a:lnTo>
                    <a:pt x="13945" y="353066"/>
                  </a:lnTo>
                  <a:cubicBezTo>
                    <a:pt x="10246" y="353066"/>
                    <a:pt x="6699" y="351597"/>
                    <a:pt x="4084" y="348982"/>
                  </a:cubicBezTo>
                  <a:cubicBezTo>
                    <a:pt x="1469" y="346366"/>
                    <a:pt x="0" y="342820"/>
                    <a:pt x="0" y="339121"/>
                  </a:cubicBezTo>
                  <a:lnTo>
                    <a:pt x="0" y="13945"/>
                  </a:lnTo>
                  <a:cubicBezTo>
                    <a:pt x="0" y="10246"/>
                    <a:pt x="1469" y="6699"/>
                    <a:pt x="4084" y="4084"/>
                  </a:cubicBezTo>
                  <a:cubicBezTo>
                    <a:pt x="6699" y="1469"/>
                    <a:pt x="10246" y="0"/>
                    <a:pt x="13945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6168020" cy="3911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2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85092" y="10119695"/>
            <a:ext cx="17717816" cy="1968399"/>
            <a:chOff x="0" y="0"/>
            <a:chExt cx="6349665" cy="70543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49665" cy="705430"/>
            </a:xfrm>
            <a:custGeom>
              <a:avLst/>
              <a:gdLst/>
              <a:ahLst/>
              <a:cxnLst/>
              <a:rect l="l" t="t" r="r" b="b"/>
              <a:pathLst>
                <a:path w="6349665" h="705430">
                  <a:moveTo>
                    <a:pt x="10487" y="0"/>
                  </a:moveTo>
                  <a:lnTo>
                    <a:pt x="6339178" y="0"/>
                  </a:lnTo>
                  <a:cubicBezTo>
                    <a:pt x="6341959" y="0"/>
                    <a:pt x="6344627" y="1105"/>
                    <a:pt x="6346594" y="3072"/>
                  </a:cubicBezTo>
                  <a:cubicBezTo>
                    <a:pt x="6348560" y="5038"/>
                    <a:pt x="6349665" y="7706"/>
                    <a:pt x="6349665" y="10487"/>
                  </a:cubicBezTo>
                  <a:lnTo>
                    <a:pt x="6349665" y="694943"/>
                  </a:lnTo>
                  <a:cubicBezTo>
                    <a:pt x="6349665" y="697724"/>
                    <a:pt x="6348560" y="700391"/>
                    <a:pt x="6346594" y="702358"/>
                  </a:cubicBezTo>
                  <a:cubicBezTo>
                    <a:pt x="6344627" y="704325"/>
                    <a:pt x="6341959" y="705430"/>
                    <a:pt x="6339178" y="705430"/>
                  </a:cubicBezTo>
                  <a:lnTo>
                    <a:pt x="10487" y="705430"/>
                  </a:lnTo>
                  <a:cubicBezTo>
                    <a:pt x="7706" y="705430"/>
                    <a:pt x="5038" y="704325"/>
                    <a:pt x="3072" y="702358"/>
                  </a:cubicBezTo>
                  <a:cubicBezTo>
                    <a:pt x="1105" y="700391"/>
                    <a:pt x="0" y="697724"/>
                    <a:pt x="0" y="694943"/>
                  </a:cubicBezTo>
                  <a:lnTo>
                    <a:pt x="0" y="10487"/>
                  </a:lnTo>
                  <a:cubicBezTo>
                    <a:pt x="0" y="7706"/>
                    <a:pt x="1105" y="5038"/>
                    <a:pt x="3072" y="3072"/>
                  </a:cubicBezTo>
                  <a:cubicBezTo>
                    <a:pt x="5038" y="1105"/>
                    <a:pt x="7706" y="0"/>
                    <a:pt x="10487" y="0"/>
                  </a:cubicBezTo>
                  <a:close/>
                </a:path>
              </a:pathLst>
            </a:custGeom>
            <a:solidFill>
              <a:srgbClr val="290101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6349665" cy="743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2"/>
                </a:lnSpc>
              </a:pPr>
              <a:endParaRPr/>
            </a:p>
          </p:txBody>
        </p:sp>
      </p:grpSp>
      <p:sp>
        <p:nvSpPr>
          <p:cNvPr id="17" name="AutoShape 17"/>
          <p:cNvSpPr/>
          <p:nvPr/>
        </p:nvSpPr>
        <p:spPr>
          <a:xfrm>
            <a:off x="2186237" y="380209"/>
            <a:ext cx="10988482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th-TH"/>
          </a:p>
        </p:txBody>
      </p:sp>
      <p:sp>
        <p:nvSpPr>
          <p:cNvPr id="18" name="Freeform 18"/>
          <p:cNvSpPr/>
          <p:nvPr/>
        </p:nvSpPr>
        <p:spPr>
          <a:xfrm>
            <a:off x="245438" y="178403"/>
            <a:ext cx="471856" cy="422661"/>
          </a:xfrm>
          <a:custGeom>
            <a:avLst/>
            <a:gdLst/>
            <a:ahLst/>
            <a:cxnLst/>
            <a:rect l="l" t="t" r="r" b="b"/>
            <a:pathLst>
              <a:path w="471856" h="422661">
                <a:moveTo>
                  <a:pt x="0" y="0"/>
                </a:moveTo>
                <a:lnTo>
                  <a:pt x="471856" y="0"/>
                </a:lnTo>
                <a:lnTo>
                  <a:pt x="471856" y="422661"/>
                </a:lnTo>
                <a:lnTo>
                  <a:pt x="0" y="4226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276783" r="-241223"/>
            </a:stretch>
          </a:blipFill>
        </p:spPr>
        <p:txBody>
          <a:bodyPr/>
          <a:lstStyle/>
          <a:p>
            <a:endParaRPr lang="th-TH"/>
          </a:p>
        </p:txBody>
      </p:sp>
      <p:grpSp>
        <p:nvGrpSpPr>
          <p:cNvPr id="19" name="Group 19"/>
          <p:cNvGrpSpPr/>
          <p:nvPr/>
        </p:nvGrpSpPr>
        <p:grpSpPr>
          <a:xfrm>
            <a:off x="782256" y="178403"/>
            <a:ext cx="1190404" cy="422661"/>
            <a:chOff x="0" y="0"/>
            <a:chExt cx="313522" cy="11131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13522" cy="111318"/>
            </a:xfrm>
            <a:custGeom>
              <a:avLst/>
              <a:gdLst/>
              <a:ahLst/>
              <a:cxnLst/>
              <a:rect l="l" t="t" r="r" b="b"/>
              <a:pathLst>
                <a:path w="313522" h="111318">
                  <a:moveTo>
                    <a:pt x="0" y="0"/>
                  </a:moveTo>
                  <a:lnTo>
                    <a:pt x="313522" y="0"/>
                  </a:lnTo>
                  <a:lnTo>
                    <a:pt x="313522" y="111318"/>
                  </a:lnTo>
                  <a:lnTo>
                    <a:pt x="0" y="11131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13522" cy="149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2"/>
                </a:lnSpc>
              </a:pPr>
              <a:endParaRPr/>
            </a:p>
          </p:txBody>
        </p:sp>
      </p:grpSp>
      <p:sp>
        <p:nvSpPr>
          <p:cNvPr id="22" name="AutoShape 22"/>
          <p:cNvSpPr/>
          <p:nvPr/>
        </p:nvSpPr>
        <p:spPr>
          <a:xfrm flipV="1">
            <a:off x="17792345" y="764907"/>
            <a:ext cx="0" cy="8493393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th-TH"/>
          </a:p>
        </p:txBody>
      </p:sp>
      <p:sp>
        <p:nvSpPr>
          <p:cNvPr id="23" name="Freeform 23"/>
          <p:cNvSpPr/>
          <p:nvPr/>
        </p:nvSpPr>
        <p:spPr>
          <a:xfrm>
            <a:off x="17504028" y="168878"/>
            <a:ext cx="471856" cy="422661"/>
          </a:xfrm>
          <a:custGeom>
            <a:avLst/>
            <a:gdLst/>
            <a:ahLst/>
            <a:cxnLst/>
            <a:rect l="l" t="t" r="r" b="b"/>
            <a:pathLst>
              <a:path w="471856" h="422661">
                <a:moveTo>
                  <a:pt x="0" y="0"/>
                </a:moveTo>
                <a:lnTo>
                  <a:pt x="471855" y="0"/>
                </a:lnTo>
                <a:lnTo>
                  <a:pt x="471855" y="422661"/>
                </a:lnTo>
                <a:lnTo>
                  <a:pt x="0" y="4226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276783" r="-241223"/>
            </a:stretch>
          </a:blipFill>
        </p:spPr>
        <p:txBody>
          <a:bodyPr/>
          <a:lstStyle/>
          <a:p>
            <a:endParaRPr lang="th-TH"/>
          </a:p>
        </p:txBody>
      </p:sp>
      <p:grpSp>
        <p:nvGrpSpPr>
          <p:cNvPr id="24" name="Group 24"/>
          <p:cNvGrpSpPr/>
          <p:nvPr/>
        </p:nvGrpSpPr>
        <p:grpSpPr>
          <a:xfrm>
            <a:off x="12737812" y="-101394"/>
            <a:ext cx="4617282" cy="980176"/>
            <a:chOff x="0" y="-76200"/>
            <a:chExt cx="1216074" cy="258153"/>
          </a:xfrm>
        </p:grpSpPr>
        <p:sp>
          <p:nvSpPr>
            <p:cNvPr id="25" name="Freeform 25"/>
            <p:cNvSpPr/>
            <p:nvPr/>
          </p:nvSpPr>
          <p:spPr>
            <a:xfrm>
              <a:off x="7348" y="-57180"/>
              <a:ext cx="1208726" cy="181953"/>
            </a:xfrm>
            <a:custGeom>
              <a:avLst/>
              <a:gdLst/>
              <a:ahLst/>
              <a:cxnLst/>
              <a:rect l="l" t="t" r="r" b="b"/>
              <a:pathLst>
                <a:path w="1208726" h="181953">
                  <a:moveTo>
                    <a:pt x="0" y="0"/>
                  </a:moveTo>
                  <a:lnTo>
                    <a:pt x="1208726" y="0"/>
                  </a:lnTo>
                  <a:lnTo>
                    <a:pt x="1208726" y="181953"/>
                  </a:lnTo>
                  <a:lnTo>
                    <a:pt x="0" y="1819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76200"/>
              <a:ext cx="1208726" cy="2581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72"/>
                </a:lnSpc>
              </a:pPr>
              <a:r>
                <a:rPr lang="en-US" sz="3051" b="1" dirty="0" err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วิธีแก้</a:t>
              </a:r>
              <a:r>
                <a:rPr lang="en-US" sz="3051" b="1" dirty="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Race Condition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480509" y="1175406"/>
            <a:ext cx="15326981" cy="8229600"/>
            <a:chOff x="0" y="0"/>
            <a:chExt cx="4036736" cy="216746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036736" cy="2167467"/>
            </a:xfrm>
            <a:custGeom>
              <a:avLst/>
              <a:gdLst/>
              <a:ahLst/>
              <a:cxnLst/>
              <a:rect l="l" t="t" r="r" b="b"/>
              <a:pathLst>
                <a:path w="4036736" h="2167467">
                  <a:moveTo>
                    <a:pt x="10102" y="0"/>
                  </a:moveTo>
                  <a:lnTo>
                    <a:pt x="4026633" y="0"/>
                  </a:lnTo>
                  <a:cubicBezTo>
                    <a:pt x="4032213" y="0"/>
                    <a:pt x="4036736" y="4523"/>
                    <a:pt x="4036736" y="10102"/>
                  </a:cubicBezTo>
                  <a:lnTo>
                    <a:pt x="4036736" y="2157364"/>
                  </a:lnTo>
                  <a:cubicBezTo>
                    <a:pt x="4036736" y="2162944"/>
                    <a:pt x="4032213" y="2167467"/>
                    <a:pt x="4026633" y="2167467"/>
                  </a:cubicBezTo>
                  <a:lnTo>
                    <a:pt x="10102" y="2167467"/>
                  </a:lnTo>
                  <a:cubicBezTo>
                    <a:pt x="7423" y="2167467"/>
                    <a:pt x="4853" y="2166402"/>
                    <a:pt x="2959" y="2164508"/>
                  </a:cubicBezTo>
                  <a:cubicBezTo>
                    <a:pt x="1064" y="2162613"/>
                    <a:pt x="0" y="2160044"/>
                    <a:pt x="0" y="2157364"/>
                  </a:cubicBezTo>
                  <a:lnTo>
                    <a:pt x="0" y="10102"/>
                  </a:lnTo>
                  <a:cubicBezTo>
                    <a:pt x="0" y="4523"/>
                    <a:pt x="4523" y="0"/>
                    <a:pt x="1010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403673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2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854647" y="1281729"/>
            <a:ext cx="2578706" cy="329481"/>
            <a:chOff x="0" y="0"/>
            <a:chExt cx="3438274" cy="43930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90440" cy="439308"/>
            </a:xfrm>
            <a:custGeom>
              <a:avLst/>
              <a:gdLst/>
              <a:ahLst/>
              <a:cxnLst/>
              <a:rect l="l" t="t" r="r" b="b"/>
              <a:pathLst>
                <a:path w="490440" h="439308">
                  <a:moveTo>
                    <a:pt x="0" y="0"/>
                  </a:moveTo>
                  <a:lnTo>
                    <a:pt x="490440" y="0"/>
                  </a:lnTo>
                  <a:lnTo>
                    <a:pt x="490440" y="439308"/>
                  </a:lnTo>
                  <a:lnTo>
                    <a:pt x="0" y="439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276783" r="-241223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590709" y="0"/>
              <a:ext cx="490440" cy="439308"/>
            </a:xfrm>
            <a:custGeom>
              <a:avLst/>
              <a:gdLst/>
              <a:ahLst/>
              <a:cxnLst/>
              <a:rect l="l" t="t" r="r" b="b"/>
              <a:pathLst>
                <a:path w="490440" h="439308">
                  <a:moveTo>
                    <a:pt x="0" y="0"/>
                  </a:moveTo>
                  <a:lnTo>
                    <a:pt x="490440" y="0"/>
                  </a:lnTo>
                  <a:lnTo>
                    <a:pt x="490440" y="439308"/>
                  </a:lnTo>
                  <a:lnTo>
                    <a:pt x="0" y="439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276783" r="-241223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1181418" y="0"/>
              <a:ext cx="490440" cy="439308"/>
            </a:xfrm>
            <a:custGeom>
              <a:avLst/>
              <a:gdLst/>
              <a:ahLst/>
              <a:cxnLst/>
              <a:rect l="l" t="t" r="r" b="b"/>
              <a:pathLst>
                <a:path w="490440" h="439308">
                  <a:moveTo>
                    <a:pt x="0" y="0"/>
                  </a:moveTo>
                  <a:lnTo>
                    <a:pt x="490440" y="0"/>
                  </a:lnTo>
                  <a:lnTo>
                    <a:pt x="490440" y="439308"/>
                  </a:lnTo>
                  <a:lnTo>
                    <a:pt x="0" y="439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276783" r="-241223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1766416" y="0"/>
              <a:ext cx="490440" cy="439308"/>
            </a:xfrm>
            <a:custGeom>
              <a:avLst/>
              <a:gdLst/>
              <a:ahLst/>
              <a:cxnLst/>
              <a:rect l="l" t="t" r="r" b="b"/>
              <a:pathLst>
                <a:path w="490440" h="439308">
                  <a:moveTo>
                    <a:pt x="0" y="0"/>
                  </a:moveTo>
                  <a:lnTo>
                    <a:pt x="490440" y="0"/>
                  </a:lnTo>
                  <a:lnTo>
                    <a:pt x="490440" y="439308"/>
                  </a:lnTo>
                  <a:lnTo>
                    <a:pt x="0" y="439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276783" r="-241223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2357125" y="0"/>
              <a:ext cx="490440" cy="439308"/>
            </a:xfrm>
            <a:custGeom>
              <a:avLst/>
              <a:gdLst/>
              <a:ahLst/>
              <a:cxnLst/>
              <a:rect l="l" t="t" r="r" b="b"/>
              <a:pathLst>
                <a:path w="490440" h="439308">
                  <a:moveTo>
                    <a:pt x="0" y="0"/>
                  </a:moveTo>
                  <a:lnTo>
                    <a:pt x="490440" y="0"/>
                  </a:lnTo>
                  <a:lnTo>
                    <a:pt x="490440" y="439308"/>
                  </a:lnTo>
                  <a:lnTo>
                    <a:pt x="0" y="439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276783" r="-241223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2947834" y="0"/>
              <a:ext cx="490440" cy="439308"/>
            </a:xfrm>
            <a:custGeom>
              <a:avLst/>
              <a:gdLst/>
              <a:ahLst/>
              <a:cxnLst/>
              <a:rect l="l" t="t" r="r" b="b"/>
              <a:pathLst>
                <a:path w="490440" h="439308">
                  <a:moveTo>
                    <a:pt x="0" y="0"/>
                  </a:moveTo>
                  <a:lnTo>
                    <a:pt x="490440" y="0"/>
                  </a:lnTo>
                  <a:lnTo>
                    <a:pt x="490440" y="439308"/>
                  </a:lnTo>
                  <a:lnTo>
                    <a:pt x="0" y="439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276783" r="-241223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37" name="AutoShape 37"/>
          <p:cNvSpPr/>
          <p:nvPr/>
        </p:nvSpPr>
        <p:spPr>
          <a:xfrm flipV="1">
            <a:off x="1896590" y="1446470"/>
            <a:ext cx="5796133" cy="0"/>
          </a:xfrm>
          <a:prstGeom prst="line">
            <a:avLst/>
          </a:prstGeom>
          <a:ln w="19050" cap="flat">
            <a:solidFill>
              <a:srgbClr val="42010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h-TH"/>
          </a:p>
        </p:txBody>
      </p:sp>
      <p:sp>
        <p:nvSpPr>
          <p:cNvPr id="38" name="AutoShape 38"/>
          <p:cNvSpPr/>
          <p:nvPr/>
        </p:nvSpPr>
        <p:spPr>
          <a:xfrm flipV="1">
            <a:off x="10595278" y="1436945"/>
            <a:ext cx="5796133" cy="0"/>
          </a:xfrm>
          <a:prstGeom prst="line">
            <a:avLst/>
          </a:prstGeom>
          <a:ln w="19050" cap="flat">
            <a:solidFill>
              <a:srgbClr val="42010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h-TH"/>
          </a:p>
        </p:txBody>
      </p:sp>
      <p:sp>
        <p:nvSpPr>
          <p:cNvPr id="39" name="AutoShape 39"/>
          <p:cNvSpPr/>
          <p:nvPr/>
        </p:nvSpPr>
        <p:spPr>
          <a:xfrm>
            <a:off x="1896590" y="8816983"/>
            <a:ext cx="14494821" cy="0"/>
          </a:xfrm>
          <a:prstGeom prst="line">
            <a:avLst/>
          </a:prstGeom>
          <a:ln w="19050" cap="flat">
            <a:solidFill>
              <a:srgbClr val="42010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h-TH"/>
          </a:p>
        </p:txBody>
      </p:sp>
      <p:grpSp>
        <p:nvGrpSpPr>
          <p:cNvPr id="40" name="Group 40"/>
          <p:cNvGrpSpPr/>
          <p:nvPr/>
        </p:nvGrpSpPr>
        <p:grpSpPr>
          <a:xfrm>
            <a:off x="16120802" y="1446470"/>
            <a:ext cx="47625" cy="1201836"/>
            <a:chOff x="0" y="0"/>
            <a:chExt cx="11158" cy="28158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1158" cy="281580"/>
            </a:xfrm>
            <a:custGeom>
              <a:avLst/>
              <a:gdLst/>
              <a:ahLst/>
              <a:cxnLst/>
              <a:rect l="l" t="t" r="r" b="b"/>
              <a:pathLst>
                <a:path w="11158" h="281580">
                  <a:moveTo>
                    <a:pt x="0" y="0"/>
                  </a:moveTo>
                  <a:lnTo>
                    <a:pt x="11158" y="0"/>
                  </a:lnTo>
                  <a:lnTo>
                    <a:pt x="11158" y="281580"/>
                  </a:lnTo>
                  <a:lnTo>
                    <a:pt x="0" y="281580"/>
                  </a:lnTo>
                  <a:close/>
                </a:path>
              </a:pathLst>
            </a:custGeom>
            <a:solidFill>
              <a:srgbClr val="5E0202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11158" cy="319680"/>
            </a:xfrm>
            <a:prstGeom prst="rect">
              <a:avLst/>
            </a:prstGeom>
          </p:spPr>
          <p:txBody>
            <a:bodyPr lIns="57106" tIns="57106" rIns="57106" bIns="57106" rtlCol="0" anchor="ctr"/>
            <a:lstStyle/>
            <a:p>
              <a:pPr algn="ctr">
                <a:lnSpc>
                  <a:spcPts val="1892"/>
                </a:lnSpc>
              </a:pPr>
              <a:endParaRPr/>
            </a:p>
          </p:txBody>
        </p:sp>
      </p:grpSp>
      <p:sp>
        <p:nvSpPr>
          <p:cNvPr id="43" name="Freeform 43"/>
          <p:cNvSpPr/>
          <p:nvPr/>
        </p:nvSpPr>
        <p:spPr>
          <a:xfrm rot="5400000">
            <a:off x="1848298" y="1659502"/>
            <a:ext cx="868166" cy="771583"/>
          </a:xfrm>
          <a:custGeom>
            <a:avLst/>
            <a:gdLst/>
            <a:ahLst/>
            <a:cxnLst/>
            <a:rect l="l" t="t" r="r" b="b"/>
            <a:pathLst>
              <a:path w="868166" h="771583">
                <a:moveTo>
                  <a:pt x="0" y="0"/>
                </a:moveTo>
                <a:lnTo>
                  <a:pt x="868166" y="0"/>
                </a:lnTo>
                <a:lnTo>
                  <a:pt x="868166" y="771583"/>
                </a:lnTo>
                <a:lnTo>
                  <a:pt x="0" y="7715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grpSp>
        <p:nvGrpSpPr>
          <p:cNvPr id="44" name="Group 44"/>
          <p:cNvGrpSpPr/>
          <p:nvPr/>
        </p:nvGrpSpPr>
        <p:grpSpPr>
          <a:xfrm>
            <a:off x="2400398" y="1611210"/>
            <a:ext cx="47625" cy="1201836"/>
            <a:chOff x="0" y="0"/>
            <a:chExt cx="11158" cy="28158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1158" cy="281580"/>
            </a:xfrm>
            <a:custGeom>
              <a:avLst/>
              <a:gdLst/>
              <a:ahLst/>
              <a:cxnLst/>
              <a:rect l="l" t="t" r="r" b="b"/>
              <a:pathLst>
                <a:path w="11158" h="281580">
                  <a:moveTo>
                    <a:pt x="0" y="0"/>
                  </a:moveTo>
                  <a:lnTo>
                    <a:pt x="11158" y="0"/>
                  </a:lnTo>
                  <a:lnTo>
                    <a:pt x="11158" y="281580"/>
                  </a:lnTo>
                  <a:lnTo>
                    <a:pt x="0" y="281580"/>
                  </a:lnTo>
                  <a:close/>
                </a:path>
              </a:pathLst>
            </a:custGeom>
            <a:solidFill>
              <a:srgbClr val="5E0202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11158" cy="319680"/>
            </a:xfrm>
            <a:prstGeom prst="rect">
              <a:avLst/>
            </a:prstGeom>
          </p:spPr>
          <p:txBody>
            <a:bodyPr lIns="57106" tIns="57106" rIns="57106" bIns="57106" rtlCol="0" anchor="ctr"/>
            <a:lstStyle/>
            <a:p>
              <a:pPr algn="ctr">
                <a:lnSpc>
                  <a:spcPts val="1892"/>
                </a:lnSpc>
              </a:pPr>
              <a:endParaRPr/>
            </a:p>
          </p:txBody>
        </p:sp>
      </p:grpSp>
      <p:sp>
        <p:nvSpPr>
          <p:cNvPr id="47" name="Freeform 47"/>
          <p:cNvSpPr/>
          <p:nvPr/>
        </p:nvSpPr>
        <p:spPr>
          <a:xfrm rot="-5400000">
            <a:off x="15571536" y="1659502"/>
            <a:ext cx="868166" cy="771583"/>
          </a:xfrm>
          <a:custGeom>
            <a:avLst/>
            <a:gdLst/>
            <a:ahLst/>
            <a:cxnLst/>
            <a:rect l="l" t="t" r="r" b="b"/>
            <a:pathLst>
              <a:path w="868166" h="771583">
                <a:moveTo>
                  <a:pt x="0" y="0"/>
                </a:moveTo>
                <a:lnTo>
                  <a:pt x="868166" y="0"/>
                </a:lnTo>
                <a:lnTo>
                  <a:pt x="868166" y="771583"/>
                </a:lnTo>
                <a:lnTo>
                  <a:pt x="0" y="7715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8" name="TextBox 48"/>
          <p:cNvSpPr txBox="1"/>
          <p:nvPr/>
        </p:nvSpPr>
        <p:spPr>
          <a:xfrm>
            <a:off x="2889833" y="1554060"/>
            <a:ext cx="12549158" cy="6655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2"/>
              </a:lnSpc>
            </a:pPr>
            <a:endParaRPr/>
          </a:p>
          <a:p>
            <a:pPr algn="l">
              <a:lnSpc>
                <a:spcPts val="3802"/>
              </a:lnSpc>
            </a:pPr>
            <a:r>
              <a:rPr lang="en-US" sz="2715" b="1">
                <a:solidFill>
                  <a:srgbClr val="000000"/>
                </a:solidFill>
                <a:latin typeface="เอฟซี มินิมอล Bold"/>
                <a:ea typeface="เอฟซี มินิมอล Bold"/>
                <a:cs typeface="เอฟซี มินิมอล Bold"/>
                <a:sym typeface="เอฟซี มินิมอล Bold"/>
              </a:rPr>
              <a:t>ใช้ synchronized</a:t>
            </a:r>
          </a:p>
          <a:p>
            <a:pPr algn="l">
              <a:lnSpc>
                <a:spcPts val="3802"/>
              </a:lnSpc>
            </a:pPr>
            <a:endParaRPr lang="en-US" sz="2715" b="1">
              <a:solidFill>
                <a:srgbClr val="000000"/>
              </a:solidFill>
              <a:latin typeface="เอฟซี มินิมอล Bold"/>
              <a:ea typeface="เอฟซี มินิมอล Bold"/>
              <a:cs typeface="เอฟซี มินิมอล Bold"/>
              <a:sym typeface="เอฟซี มินิมอล Bold"/>
            </a:endParaRPr>
          </a:p>
          <a:p>
            <a:pPr algn="ctr">
              <a:lnSpc>
                <a:spcPts val="3802"/>
              </a:lnSpc>
            </a:pPr>
            <a:r>
              <a:rPr lang="en-US" sz="2715">
                <a:solidFill>
                  <a:srgbClr val="420101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synchronized void increment() {</a:t>
            </a:r>
          </a:p>
          <a:p>
            <a:pPr algn="ctr">
              <a:lnSpc>
                <a:spcPts val="3802"/>
              </a:lnSpc>
            </a:pPr>
            <a:r>
              <a:rPr lang="en-US" sz="2715">
                <a:solidFill>
                  <a:srgbClr val="420101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    counter++;</a:t>
            </a:r>
          </a:p>
          <a:p>
            <a:pPr algn="ctr">
              <a:lnSpc>
                <a:spcPts val="3802"/>
              </a:lnSpc>
            </a:pPr>
            <a:r>
              <a:rPr lang="en-US" sz="2715">
                <a:solidFill>
                  <a:srgbClr val="420101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}</a:t>
            </a:r>
          </a:p>
          <a:p>
            <a:pPr algn="l">
              <a:lnSpc>
                <a:spcPts val="3802"/>
              </a:lnSpc>
            </a:pPr>
            <a:endParaRPr lang="en-US" sz="2715">
              <a:solidFill>
                <a:srgbClr val="420101"/>
              </a:solidFill>
              <a:latin typeface="เอฟซี มินิมอล"/>
              <a:ea typeface="เอฟซี มินิมอล"/>
              <a:cs typeface="เอฟซี มินิมอล"/>
              <a:sym typeface="เอฟซี มินิมอล"/>
            </a:endParaRPr>
          </a:p>
          <a:p>
            <a:pPr algn="l">
              <a:lnSpc>
                <a:spcPts val="3802"/>
              </a:lnSpc>
            </a:pPr>
            <a:r>
              <a:rPr lang="en-US" sz="2715" b="1">
                <a:solidFill>
                  <a:srgbClr val="000000"/>
                </a:solidFill>
                <a:latin typeface="เอฟซี มินิมอล Bold"/>
                <a:ea typeface="เอฟซี มินิมอล Bold"/>
                <a:cs typeface="เอฟซี มินิมอล Bold"/>
                <a:sym typeface="เอฟซี มินิมอล Bold"/>
              </a:rPr>
              <a:t>หรือ</a:t>
            </a:r>
          </a:p>
          <a:p>
            <a:pPr algn="l">
              <a:lnSpc>
                <a:spcPts val="3802"/>
              </a:lnSpc>
            </a:pPr>
            <a:endParaRPr lang="en-US" sz="2715" b="1">
              <a:solidFill>
                <a:srgbClr val="000000"/>
              </a:solidFill>
              <a:latin typeface="เอฟซี มินิมอล Bold"/>
              <a:ea typeface="เอฟซี มินิมอล Bold"/>
              <a:cs typeface="เอฟซี มินิมอล Bold"/>
              <a:sym typeface="เอฟซี มินิมอล Bold"/>
            </a:endParaRPr>
          </a:p>
          <a:p>
            <a:pPr algn="ctr">
              <a:lnSpc>
                <a:spcPts val="3802"/>
              </a:lnSpc>
            </a:pPr>
            <a:r>
              <a:rPr lang="en-US" sz="2715">
                <a:solidFill>
                  <a:srgbClr val="420101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synchronized (this) {</a:t>
            </a:r>
          </a:p>
          <a:p>
            <a:pPr algn="ctr">
              <a:lnSpc>
                <a:spcPts val="3802"/>
              </a:lnSpc>
            </a:pPr>
            <a:r>
              <a:rPr lang="en-US" sz="2715">
                <a:solidFill>
                  <a:srgbClr val="420101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    counter++;</a:t>
            </a:r>
          </a:p>
          <a:p>
            <a:pPr algn="ctr">
              <a:lnSpc>
                <a:spcPts val="3802"/>
              </a:lnSpc>
            </a:pPr>
            <a:r>
              <a:rPr lang="en-US" sz="2715">
                <a:solidFill>
                  <a:srgbClr val="420101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}</a:t>
            </a:r>
          </a:p>
          <a:p>
            <a:pPr algn="l">
              <a:lnSpc>
                <a:spcPts val="3802"/>
              </a:lnSpc>
            </a:pPr>
            <a:endParaRPr lang="en-US" sz="2715">
              <a:solidFill>
                <a:srgbClr val="420101"/>
              </a:solidFill>
              <a:latin typeface="เอฟซี มินิมอล"/>
              <a:ea typeface="เอฟซี มินิมอล"/>
              <a:cs typeface="เอฟซี มินิมอล"/>
              <a:sym typeface="เอฟซี มินิมอล"/>
            </a:endParaRPr>
          </a:p>
          <a:p>
            <a:pPr algn="l">
              <a:lnSpc>
                <a:spcPts val="3802"/>
              </a:lnSpc>
            </a:pPr>
            <a:r>
              <a:rPr lang="en-US" sz="2715" b="1">
                <a:solidFill>
                  <a:srgbClr val="000000"/>
                </a:solidFill>
                <a:latin typeface="เอฟซี มินิมอล Bold"/>
                <a:ea typeface="เอฟซี มินิมอล Bold"/>
                <a:cs typeface="เอฟซี มินิมอล Bold"/>
                <a:sym typeface="เอฟซี มินิมอล Bold"/>
              </a:rPr>
              <a:t>หลักการ</a:t>
            </a:r>
            <a:r>
              <a:rPr lang="en-US" sz="2715" b="1">
                <a:solidFill>
                  <a:srgbClr val="420101"/>
                </a:solidFill>
                <a:latin typeface="เอฟซี มินิมอล Bold"/>
                <a:ea typeface="เอฟซี มินิมอล Bold"/>
                <a:cs typeface="เอฟซี มินิมอล Bold"/>
                <a:sym typeface="เอฟซี มินิมอล Bold"/>
              </a:rPr>
              <a:t> </a:t>
            </a:r>
            <a:r>
              <a:rPr lang="en-US" sz="2715">
                <a:solidFill>
                  <a:srgbClr val="420101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synchronized ช่วยให้ Thread สามารถเข้าถึง Critical Section ได้ทีละ Thread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3658756" y="-4535292"/>
            <a:ext cx="11011312" cy="19455200"/>
            <a:chOff x="0" y="0"/>
            <a:chExt cx="3946206" cy="69723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46206" cy="6972305"/>
            </a:xfrm>
            <a:custGeom>
              <a:avLst/>
              <a:gdLst/>
              <a:ahLst/>
              <a:cxnLst/>
              <a:rect l="l" t="t" r="r" b="b"/>
              <a:pathLst>
                <a:path w="3946206" h="6972305">
                  <a:moveTo>
                    <a:pt x="26014" y="0"/>
                  </a:moveTo>
                  <a:lnTo>
                    <a:pt x="3920191" y="0"/>
                  </a:lnTo>
                  <a:cubicBezTo>
                    <a:pt x="3927091" y="0"/>
                    <a:pt x="3933708" y="2741"/>
                    <a:pt x="3938586" y="7619"/>
                  </a:cubicBezTo>
                  <a:cubicBezTo>
                    <a:pt x="3943465" y="12498"/>
                    <a:pt x="3946206" y="19115"/>
                    <a:pt x="3946206" y="26014"/>
                  </a:cubicBezTo>
                  <a:lnTo>
                    <a:pt x="3946206" y="6946291"/>
                  </a:lnTo>
                  <a:cubicBezTo>
                    <a:pt x="3946206" y="6953190"/>
                    <a:pt x="3943465" y="6959807"/>
                    <a:pt x="3938586" y="6964685"/>
                  </a:cubicBezTo>
                  <a:cubicBezTo>
                    <a:pt x="3933708" y="6969564"/>
                    <a:pt x="3927091" y="6972305"/>
                    <a:pt x="3920191" y="6972305"/>
                  </a:cubicBezTo>
                  <a:lnTo>
                    <a:pt x="26014" y="6972305"/>
                  </a:lnTo>
                  <a:cubicBezTo>
                    <a:pt x="19115" y="6972305"/>
                    <a:pt x="12498" y="6969564"/>
                    <a:pt x="7619" y="6964685"/>
                  </a:cubicBezTo>
                  <a:cubicBezTo>
                    <a:pt x="2741" y="6959807"/>
                    <a:pt x="0" y="6953190"/>
                    <a:pt x="0" y="6946291"/>
                  </a:cubicBezTo>
                  <a:lnTo>
                    <a:pt x="0" y="26014"/>
                  </a:lnTo>
                  <a:cubicBezTo>
                    <a:pt x="0" y="19115"/>
                    <a:pt x="2741" y="12498"/>
                    <a:pt x="7619" y="7619"/>
                  </a:cubicBezTo>
                  <a:cubicBezTo>
                    <a:pt x="12498" y="2741"/>
                    <a:pt x="19115" y="0"/>
                    <a:pt x="26014" y="0"/>
                  </a:cubicBezTo>
                  <a:close/>
                </a:path>
              </a:pathLst>
            </a:custGeom>
            <a:solidFill>
              <a:srgbClr val="5E0202"/>
            </a:solidFill>
          </p:spPr>
          <p:txBody>
            <a:bodyPr/>
            <a:lstStyle/>
            <a:p>
              <a:endParaRPr lang="th-TH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946206" cy="70199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-670913" y="5396696"/>
            <a:ext cx="20283526" cy="5126838"/>
            <a:chOff x="0" y="0"/>
            <a:chExt cx="4407242" cy="11139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07242" cy="1113969"/>
            </a:xfrm>
            <a:custGeom>
              <a:avLst/>
              <a:gdLst/>
              <a:ahLst/>
              <a:cxnLst/>
              <a:rect l="l" t="t" r="r" b="b"/>
              <a:pathLst>
                <a:path w="4407242" h="1113969">
                  <a:moveTo>
                    <a:pt x="0" y="0"/>
                  </a:moveTo>
                  <a:lnTo>
                    <a:pt x="4407242" y="0"/>
                  </a:lnTo>
                  <a:lnTo>
                    <a:pt x="4407242" y="1113969"/>
                  </a:lnTo>
                  <a:lnTo>
                    <a:pt x="0" y="1113969"/>
                  </a:lnTo>
                  <a:close/>
                </a:path>
              </a:pathLst>
            </a:custGeom>
            <a:solidFill>
              <a:srgbClr val="420101">
                <a:alpha val="29804"/>
              </a:srgbClr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407242" cy="1161594"/>
            </a:xfrm>
            <a:prstGeom prst="rect">
              <a:avLst/>
            </a:prstGeom>
          </p:spPr>
          <p:txBody>
            <a:bodyPr lIns="40008" tIns="40008" rIns="40008" bIns="40008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-785709" y="7467526"/>
            <a:ext cx="20283526" cy="5126838"/>
            <a:chOff x="0" y="0"/>
            <a:chExt cx="4407242" cy="111396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07242" cy="1113969"/>
            </a:xfrm>
            <a:custGeom>
              <a:avLst/>
              <a:gdLst/>
              <a:ahLst/>
              <a:cxnLst/>
              <a:rect l="l" t="t" r="r" b="b"/>
              <a:pathLst>
                <a:path w="4407242" h="1113969">
                  <a:moveTo>
                    <a:pt x="0" y="0"/>
                  </a:moveTo>
                  <a:lnTo>
                    <a:pt x="4407242" y="0"/>
                  </a:lnTo>
                  <a:lnTo>
                    <a:pt x="4407242" y="1113969"/>
                  </a:lnTo>
                  <a:lnTo>
                    <a:pt x="0" y="1113969"/>
                  </a:lnTo>
                  <a:close/>
                </a:path>
              </a:pathLst>
            </a:custGeom>
            <a:solidFill>
              <a:srgbClr val="420101">
                <a:alpha val="50980"/>
              </a:srgbClr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407242" cy="1161594"/>
            </a:xfrm>
            <a:prstGeom prst="rect">
              <a:avLst/>
            </a:prstGeom>
          </p:spPr>
          <p:txBody>
            <a:bodyPr lIns="40008" tIns="40008" rIns="40008" bIns="40008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8519" y="9712785"/>
            <a:ext cx="17210961" cy="985179"/>
            <a:chOff x="0" y="0"/>
            <a:chExt cx="6168020" cy="35306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168020" cy="353066"/>
            </a:xfrm>
            <a:custGeom>
              <a:avLst/>
              <a:gdLst/>
              <a:ahLst/>
              <a:cxnLst/>
              <a:rect l="l" t="t" r="r" b="b"/>
              <a:pathLst>
                <a:path w="6168020" h="353066">
                  <a:moveTo>
                    <a:pt x="13945" y="0"/>
                  </a:moveTo>
                  <a:lnTo>
                    <a:pt x="6154076" y="0"/>
                  </a:lnTo>
                  <a:cubicBezTo>
                    <a:pt x="6157774" y="0"/>
                    <a:pt x="6161321" y="1469"/>
                    <a:pt x="6163936" y="4084"/>
                  </a:cubicBezTo>
                  <a:cubicBezTo>
                    <a:pt x="6166551" y="6699"/>
                    <a:pt x="6168020" y="10246"/>
                    <a:pt x="6168020" y="13945"/>
                  </a:cubicBezTo>
                  <a:lnTo>
                    <a:pt x="6168020" y="339121"/>
                  </a:lnTo>
                  <a:cubicBezTo>
                    <a:pt x="6168020" y="342820"/>
                    <a:pt x="6166551" y="346366"/>
                    <a:pt x="6163936" y="348982"/>
                  </a:cubicBezTo>
                  <a:cubicBezTo>
                    <a:pt x="6161321" y="351597"/>
                    <a:pt x="6157774" y="353066"/>
                    <a:pt x="6154076" y="353066"/>
                  </a:cubicBezTo>
                  <a:lnTo>
                    <a:pt x="13945" y="353066"/>
                  </a:lnTo>
                  <a:cubicBezTo>
                    <a:pt x="10246" y="353066"/>
                    <a:pt x="6699" y="351597"/>
                    <a:pt x="4084" y="348982"/>
                  </a:cubicBezTo>
                  <a:cubicBezTo>
                    <a:pt x="1469" y="346366"/>
                    <a:pt x="0" y="342820"/>
                    <a:pt x="0" y="339121"/>
                  </a:cubicBezTo>
                  <a:lnTo>
                    <a:pt x="0" y="13945"/>
                  </a:lnTo>
                  <a:cubicBezTo>
                    <a:pt x="0" y="10246"/>
                    <a:pt x="1469" y="6699"/>
                    <a:pt x="4084" y="4084"/>
                  </a:cubicBezTo>
                  <a:cubicBezTo>
                    <a:pt x="6699" y="1469"/>
                    <a:pt x="10246" y="0"/>
                    <a:pt x="13945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6168020" cy="3911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2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85092" y="10119695"/>
            <a:ext cx="17717816" cy="1968399"/>
            <a:chOff x="0" y="0"/>
            <a:chExt cx="6349665" cy="70543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49665" cy="705430"/>
            </a:xfrm>
            <a:custGeom>
              <a:avLst/>
              <a:gdLst/>
              <a:ahLst/>
              <a:cxnLst/>
              <a:rect l="l" t="t" r="r" b="b"/>
              <a:pathLst>
                <a:path w="6349665" h="705430">
                  <a:moveTo>
                    <a:pt x="10487" y="0"/>
                  </a:moveTo>
                  <a:lnTo>
                    <a:pt x="6339178" y="0"/>
                  </a:lnTo>
                  <a:cubicBezTo>
                    <a:pt x="6341959" y="0"/>
                    <a:pt x="6344627" y="1105"/>
                    <a:pt x="6346594" y="3072"/>
                  </a:cubicBezTo>
                  <a:cubicBezTo>
                    <a:pt x="6348560" y="5038"/>
                    <a:pt x="6349665" y="7706"/>
                    <a:pt x="6349665" y="10487"/>
                  </a:cubicBezTo>
                  <a:lnTo>
                    <a:pt x="6349665" y="694943"/>
                  </a:lnTo>
                  <a:cubicBezTo>
                    <a:pt x="6349665" y="697724"/>
                    <a:pt x="6348560" y="700391"/>
                    <a:pt x="6346594" y="702358"/>
                  </a:cubicBezTo>
                  <a:cubicBezTo>
                    <a:pt x="6344627" y="704325"/>
                    <a:pt x="6341959" y="705430"/>
                    <a:pt x="6339178" y="705430"/>
                  </a:cubicBezTo>
                  <a:lnTo>
                    <a:pt x="10487" y="705430"/>
                  </a:lnTo>
                  <a:cubicBezTo>
                    <a:pt x="7706" y="705430"/>
                    <a:pt x="5038" y="704325"/>
                    <a:pt x="3072" y="702358"/>
                  </a:cubicBezTo>
                  <a:cubicBezTo>
                    <a:pt x="1105" y="700391"/>
                    <a:pt x="0" y="697724"/>
                    <a:pt x="0" y="694943"/>
                  </a:cubicBezTo>
                  <a:lnTo>
                    <a:pt x="0" y="10487"/>
                  </a:lnTo>
                  <a:cubicBezTo>
                    <a:pt x="0" y="7706"/>
                    <a:pt x="1105" y="5038"/>
                    <a:pt x="3072" y="3072"/>
                  </a:cubicBezTo>
                  <a:cubicBezTo>
                    <a:pt x="5038" y="1105"/>
                    <a:pt x="7706" y="0"/>
                    <a:pt x="10487" y="0"/>
                  </a:cubicBezTo>
                  <a:close/>
                </a:path>
              </a:pathLst>
            </a:custGeom>
            <a:solidFill>
              <a:srgbClr val="290101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6349665" cy="743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2"/>
                </a:lnSpc>
              </a:pPr>
              <a:endParaRPr/>
            </a:p>
          </p:txBody>
        </p:sp>
      </p:grpSp>
      <p:sp>
        <p:nvSpPr>
          <p:cNvPr id="17" name="AutoShape 17"/>
          <p:cNvSpPr/>
          <p:nvPr/>
        </p:nvSpPr>
        <p:spPr>
          <a:xfrm>
            <a:off x="2186237" y="380209"/>
            <a:ext cx="10988482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th-TH"/>
          </a:p>
        </p:txBody>
      </p:sp>
      <p:sp>
        <p:nvSpPr>
          <p:cNvPr id="18" name="Freeform 18"/>
          <p:cNvSpPr/>
          <p:nvPr/>
        </p:nvSpPr>
        <p:spPr>
          <a:xfrm>
            <a:off x="245438" y="178403"/>
            <a:ext cx="471856" cy="422661"/>
          </a:xfrm>
          <a:custGeom>
            <a:avLst/>
            <a:gdLst/>
            <a:ahLst/>
            <a:cxnLst/>
            <a:rect l="l" t="t" r="r" b="b"/>
            <a:pathLst>
              <a:path w="471856" h="422661">
                <a:moveTo>
                  <a:pt x="0" y="0"/>
                </a:moveTo>
                <a:lnTo>
                  <a:pt x="471856" y="0"/>
                </a:lnTo>
                <a:lnTo>
                  <a:pt x="471856" y="422661"/>
                </a:lnTo>
                <a:lnTo>
                  <a:pt x="0" y="4226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276783" r="-241223"/>
            </a:stretch>
          </a:blipFill>
        </p:spPr>
        <p:txBody>
          <a:bodyPr/>
          <a:lstStyle/>
          <a:p>
            <a:endParaRPr lang="th-TH"/>
          </a:p>
        </p:txBody>
      </p:sp>
      <p:grpSp>
        <p:nvGrpSpPr>
          <p:cNvPr id="19" name="Group 19"/>
          <p:cNvGrpSpPr/>
          <p:nvPr/>
        </p:nvGrpSpPr>
        <p:grpSpPr>
          <a:xfrm>
            <a:off x="782256" y="178403"/>
            <a:ext cx="1190404" cy="422661"/>
            <a:chOff x="0" y="0"/>
            <a:chExt cx="313522" cy="11131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13522" cy="111318"/>
            </a:xfrm>
            <a:custGeom>
              <a:avLst/>
              <a:gdLst/>
              <a:ahLst/>
              <a:cxnLst/>
              <a:rect l="l" t="t" r="r" b="b"/>
              <a:pathLst>
                <a:path w="313522" h="111318">
                  <a:moveTo>
                    <a:pt x="0" y="0"/>
                  </a:moveTo>
                  <a:lnTo>
                    <a:pt x="313522" y="0"/>
                  </a:lnTo>
                  <a:lnTo>
                    <a:pt x="313522" y="111318"/>
                  </a:lnTo>
                  <a:lnTo>
                    <a:pt x="0" y="11131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13522" cy="149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2"/>
                </a:lnSpc>
              </a:pPr>
              <a:endParaRPr/>
            </a:p>
          </p:txBody>
        </p:sp>
      </p:grpSp>
      <p:sp>
        <p:nvSpPr>
          <p:cNvPr id="22" name="AutoShape 22"/>
          <p:cNvSpPr/>
          <p:nvPr/>
        </p:nvSpPr>
        <p:spPr>
          <a:xfrm flipV="1">
            <a:off x="17792345" y="764907"/>
            <a:ext cx="0" cy="8493393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th-TH"/>
          </a:p>
        </p:txBody>
      </p:sp>
      <p:sp>
        <p:nvSpPr>
          <p:cNvPr id="23" name="Freeform 23"/>
          <p:cNvSpPr/>
          <p:nvPr/>
        </p:nvSpPr>
        <p:spPr>
          <a:xfrm>
            <a:off x="17504028" y="168878"/>
            <a:ext cx="471856" cy="422661"/>
          </a:xfrm>
          <a:custGeom>
            <a:avLst/>
            <a:gdLst/>
            <a:ahLst/>
            <a:cxnLst/>
            <a:rect l="l" t="t" r="r" b="b"/>
            <a:pathLst>
              <a:path w="471856" h="422661">
                <a:moveTo>
                  <a:pt x="0" y="0"/>
                </a:moveTo>
                <a:lnTo>
                  <a:pt x="471855" y="0"/>
                </a:lnTo>
                <a:lnTo>
                  <a:pt x="471855" y="422661"/>
                </a:lnTo>
                <a:lnTo>
                  <a:pt x="0" y="4226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276783" r="-241223"/>
            </a:stretch>
          </a:blipFill>
        </p:spPr>
        <p:txBody>
          <a:bodyPr/>
          <a:lstStyle/>
          <a:p>
            <a:endParaRPr lang="th-TH"/>
          </a:p>
        </p:txBody>
      </p:sp>
      <p:grpSp>
        <p:nvGrpSpPr>
          <p:cNvPr id="24" name="Group 24"/>
          <p:cNvGrpSpPr/>
          <p:nvPr/>
        </p:nvGrpSpPr>
        <p:grpSpPr>
          <a:xfrm>
            <a:off x="11059880" y="-93333"/>
            <a:ext cx="6326436" cy="902849"/>
            <a:chOff x="-17616" y="-45478"/>
            <a:chExt cx="1666222" cy="23778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648606" cy="161588"/>
            </a:xfrm>
            <a:custGeom>
              <a:avLst/>
              <a:gdLst/>
              <a:ahLst/>
              <a:cxnLst/>
              <a:rect l="l" t="t" r="r" b="b"/>
              <a:pathLst>
                <a:path w="1648606" h="161588">
                  <a:moveTo>
                    <a:pt x="0" y="0"/>
                  </a:moveTo>
                  <a:lnTo>
                    <a:pt x="1648606" y="0"/>
                  </a:lnTo>
                  <a:lnTo>
                    <a:pt x="1648606" y="161588"/>
                  </a:lnTo>
                  <a:lnTo>
                    <a:pt x="0" y="1615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-17616" y="-45478"/>
              <a:ext cx="1648606" cy="23778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3712"/>
                </a:lnSpc>
              </a:pPr>
              <a:r>
                <a:rPr lang="en-US" sz="2651" b="1" dirty="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Common Mistakes </a:t>
              </a:r>
              <a:r>
                <a:rPr lang="en-US" sz="2651" b="1" dirty="0" err="1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ข้อผิดพลาดที่พบบ่อย</a:t>
              </a:r>
              <a:endParaRPr lang="en-US" sz="2651" b="1" dirty="0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500921" y="1028700"/>
            <a:ext cx="15326981" cy="8229600"/>
            <a:chOff x="0" y="0"/>
            <a:chExt cx="4036736" cy="216746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036736" cy="2167467"/>
            </a:xfrm>
            <a:custGeom>
              <a:avLst/>
              <a:gdLst/>
              <a:ahLst/>
              <a:cxnLst/>
              <a:rect l="l" t="t" r="r" b="b"/>
              <a:pathLst>
                <a:path w="4036736" h="2167467">
                  <a:moveTo>
                    <a:pt x="10102" y="0"/>
                  </a:moveTo>
                  <a:lnTo>
                    <a:pt x="4026633" y="0"/>
                  </a:lnTo>
                  <a:cubicBezTo>
                    <a:pt x="4032213" y="0"/>
                    <a:pt x="4036736" y="4523"/>
                    <a:pt x="4036736" y="10102"/>
                  </a:cubicBezTo>
                  <a:lnTo>
                    <a:pt x="4036736" y="2157364"/>
                  </a:lnTo>
                  <a:cubicBezTo>
                    <a:pt x="4036736" y="2162944"/>
                    <a:pt x="4032213" y="2167467"/>
                    <a:pt x="4026633" y="2167467"/>
                  </a:cubicBezTo>
                  <a:lnTo>
                    <a:pt x="10102" y="2167467"/>
                  </a:lnTo>
                  <a:cubicBezTo>
                    <a:pt x="7423" y="2167467"/>
                    <a:pt x="4853" y="2166402"/>
                    <a:pt x="2959" y="2164508"/>
                  </a:cubicBezTo>
                  <a:cubicBezTo>
                    <a:pt x="1064" y="2162613"/>
                    <a:pt x="0" y="2160044"/>
                    <a:pt x="0" y="2157364"/>
                  </a:cubicBezTo>
                  <a:lnTo>
                    <a:pt x="0" y="10102"/>
                  </a:lnTo>
                  <a:cubicBezTo>
                    <a:pt x="0" y="4523"/>
                    <a:pt x="4523" y="0"/>
                    <a:pt x="1010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403673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2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854647" y="1281729"/>
            <a:ext cx="2578706" cy="329481"/>
            <a:chOff x="0" y="0"/>
            <a:chExt cx="3438274" cy="43930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90440" cy="439308"/>
            </a:xfrm>
            <a:custGeom>
              <a:avLst/>
              <a:gdLst/>
              <a:ahLst/>
              <a:cxnLst/>
              <a:rect l="l" t="t" r="r" b="b"/>
              <a:pathLst>
                <a:path w="490440" h="439308">
                  <a:moveTo>
                    <a:pt x="0" y="0"/>
                  </a:moveTo>
                  <a:lnTo>
                    <a:pt x="490440" y="0"/>
                  </a:lnTo>
                  <a:lnTo>
                    <a:pt x="490440" y="439308"/>
                  </a:lnTo>
                  <a:lnTo>
                    <a:pt x="0" y="439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276783" r="-241223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590709" y="0"/>
              <a:ext cx="490440" cy="439308"/>
            </a:xfrm>
            <a:custGeom>
              <a:avLst/>
              <a:gdLst/>
              <a:ahLst/>
              <a:cxnLst/>
              <a:rect l="l" t="t" r="r" b="b"/>
              <a:pathLst>
                <a:path w="490440" h="439308">
                  <a:moveTo>
                    <a:pt x="0" y="0"/>
                  </a:moveTo>
                  <a:lnTo>
                    <a:pt x="490440" y="0"/>
                  </a:lnTo>
                  <a:lnTo>
                    <a:pt x="490440" y="439308"/>
                  </a:lnTo>
                  <a:lnTo>
                    <a:pt x="0" y="439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276783" r="-241223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1181418" y="0"/>
              <a:ext cx="490440" cy="439308"/>
            </a:xfrm>
            <a:custGeom>
              <a:avLst/>
              <a:gdLst/>
              <a:ahLst/>
              <a:cxnLst/>
              <a:rect l="l" t="t" r="r" b="b"/>
              <a:pathLst>
                <a:path w="490440" h="439308">
                  <a:moveTo>
                    <a:pt x="0" y="0"/>
                  </a:moveTo>
                  <a:lnTo>
                    <a:pt x="490440" y="0"/>
                  </a:lnTo>
                  <a:lnTo>
                    <a:pt x="490440" y="439308"/>
                  </a:lnTo>
                  <a:lnTo>
                    <a:pt x="0" y="439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276783" r="-241223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1766416" y="0"/>
              <a:ext cx="490440" cy="439308"/>
            </a:xfrm>
            <a:custGeom>
              <a:avLst/>
              <a:gdLst/>
              <a:ahLst/>
              <a:cxnLst/>
              <a:rect l="l" t="t" r="r" b="b"/>
              <a:pathLst>
                <a:path w="490440" h="439308">
                  <a:moveTo>
                    <a:pt x="0" y="0"/>
                  </a:moveTo>
                  <a:lnTo>
                    <a:pt x="490440" y="0"/>
                  </a:lnTo>
                  <a:lnTo>
                    <a:pt x="490440" y="439308"/>
                  </a:lnTo>
                  <a:lnTo>
                    <a:pt x="0" y="439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276783" r="-241223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2357125" y="0"/>
              <a:ext cx="490440" cy="439308"/>
            </a:xfrm>
            <a:custGeom>
              <a:avLst/>
              <a:gdLst/>
              <a:ahLst/>
              <a:cxnLst/>
              <a:rect l="l" t="t" r="r" b="b"/>
              <a:pathLst>
                <a:path w="490440" h="439308">
                  <a:moveTo>
                    <a:pt x="0" y="0"/>
                  </a:moveTo>
                  <a:lnTo>
                    <a:pt x="490440" y="0"/>
                  </a:lnTo>
                  <a:lnTo>
                    <a:pt x="490440" y="439308"/>
                  </a:lnTo>
                  <a:lnTo>
                    <a:pt x="0" y="439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276783" r="-241223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2947834" y="0"/>
              <a:ext cx="490440" cy="439308"/>
            </a:xfrm>
            <a:custGeom>
              <a:avLst/>
              <a:gdLst/>
              <a:ahLst/>
              <a:cxnLst/>
              <a:rect l="l" t="t" r="r" b="b"/>
              <a:pathLst>
                <a:path w="490440" h="439308">
                  <a:moveTo>
                    <a:pt x="0" y="0"/>
                  </a:moveTo>
                  <a:lnTo>
                    <a:pt x="490440" y="0"/>
                  </a:lnTo>
                  <a:lnTo>
                    <a:pt x="490440" y="439308"/>
                  </a:lnTo>
                  <a:lnTo>
                    <a:pt x="0" y="439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276783" r="-241223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37" name="AutoShape 37"/>
          <p:cNvSpPr/>
          <p:nvPr/>
        </p:nvSpPr>
        <p:spPr>
          <a:xfrm flipV="1">
            <a:off x="1896590" y="1446470"/>
            <a:ext cx="5796133" cy="0"/>
          </a:xfrm>
          <a:prstGeom prst="line">
            <a:avLst/>
          </a:prstGeom>
          <a:ln w="19050" cap="flat">
            <a:solidFill>
              <a:srgbClr val="42010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h-TH"/>
          </a:p>
        </p:txBody>
      </p:sp>
      <p:sp>
        <p:nvSpPr>
          <p:cNvPr id="38" name="AutoShape 38"/>
          <p:cNvSpPr/>
          <p:nvPr/>
        </p:nvSpPr>
        <p:spPr>
          <a:xfrm flipV="1">
            <a:off x="10595278" y="1436945"/>
            <a:ext cx="5796133" cy="0"/>
          </a:xfrm>
          <a:prstGeom prst="line">
            <a:avLst/>
          </a:prstGeom>
          <a:ln w="19050" cap="flat">
            <a:solidFill>
              <a:srgbClr val="42010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h-TH"/>
          </a:p>
        </p:txBody>
      </p:sp>
      <p:sp>
        <p:nvSpPr>
          <p:cNvPr id="39" name="AutoShape 39"/>
          <p:cNvSpPr/>
          <p:nvPr/>
        </p:nvSpPr>
        <p:spPr>
          <a:xfrm flipV="1">
            <a:off x="1972659" y="9051534"/>
            <a:ext cx="14494821" cy="0"/>
          </a:xfrm>
          <a:prstGeom prst="line">
            <a:avLst/>
          </a:prstGeom>
          <a:ln w="19050" cap="flat">
            <a:solidFill>
              <a:srgbClr val="42010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h-TH"/>
          </a:p>
        </p:txBody>
      </p:sp>
      <p:grpSp>
        <p:nvGrpSpPr>
          <p:cNvPr id="40" name="Group 40"/>
          <p:cNvGrpSpPr/>
          <p:nvPr/>
        </p:nvGrpSpPr>
        <p:grpSpPr>
          <a:xfrm>
            <a:off x="16120802" y="1446470"/>
            <a:ext cx="47625" cy="1201836"/>
            <a:chOff x="0" y="0"/>
            <a:chExt cx="11158" cy="28158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1158" cy="281580"/>
            </a:xfrm>
            <a:custGeom>
              <a:avLst/>
              <a:gdLst/>
              <a:ahLst/>
              <a:cxnLst/>
              <a:rect l="l" t="t" r="r" b="b"/>
              <a:pathLst>
                <a:path w="11158" h="281580">
                  <a:moveTo>
                    <a:pt x="0" y="0"/>
                  </a:moveTo>
                  <a:lnTo>
                    <a:pt x="11158" y="0"/>
                  </a:lnTo>
                  <a:lnTo>
                    <a:pt x="11158" y="281580"/>
                  </a:lnTo>
                  <a:lnTo>
                    <a:pt x="0" y="281580"/>
                  </a:lnTo>
                  <a:close/>
                </a:path>
              </a:pathLst>
            </a:custGeom>
            <a:solidFill>
              <a:srgbClr val="5E0202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11158" cy="319680"/>
            </a:xfrm>
            <a:prstGeom prst="rect">
              <a:avLst/>
            </a:prstGeom>
          </p:spPr>
          <p:txBody>
            <a:bodyPr lIns="57106" tIns="57106" rIns="57106" bIns="57106" rtlCol="0" anchor="ctr"/>
            <a:lstStyle/>
            <a:p>
              <a:pPr algn="ctr">
                <a:lnSpc>
                  <a:spcPts val="1892"/>
                </a:lnSpc>
              </a:pPr>
              <a:endParaRPr/>
            </a:p>
          </p:txBody>
        </p:sp>
      </p:grpSp>
      <p:sp>
        <p:nvSpPr>
          <p:cNvPr id="43" name="Freeform 43"/>
          <p:cNvSpPr/>
          <p:nvPr/>
        </p:nvSpPr>
        <p:spPr>
          <a:xfrm rot="5400000">
            <a:off x="1848298" y="1659502"/>
            <a:ext cx="868166" cy="771583"/>
          </a:xfrm>
          <a:custGeom>
            <a:avLst/>
            <a:gdLst/>
            <a:ahLst/>
            <a:cxnLst/>
            <a:rect l="l" t="t" r="r" b="b"/>
            <a:pathLst>
              <a:path w="868166" h="771583">
                <a:moveTo>
                  <a:pt x="0" y="0"/>
                </a:moveTo>
                <a:lnTo>
                  <a:pt x="868166" y="0"/>
                </a:lnTo>
                <a:lnTo>
                  <a:pt x="868166" y="771583"/>
                </a:lnTo>
                <a:lnTo>
                  <a:pt x="0" y="7715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grpSp>
        <p:nvGrpSpPr>
          <p:cNvPr id="44" name="Group 44"/>
          <p:cNvGrpSpPr/>
          <p:nvPr/>
        </p:nvGrpSpPr>
        <p:grpSpPr>
          <a:xfrm>
            <a:off x="2400398" y="1611210"/>
            <a:ext cx="47625" cy="1201836"/>
            <a:chOff x="0" y="0"/>
            <a:chExt cx="11158" cy="28158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1158" cy="281580"/>
            </a:xfrm>
            <a:custGeom>
              <a:avLst/>
              <a:gdLst/>
              <a:ahLst/>
              <a:cxnLst/>
              <a:rect l="l" t="t" r="r" b="b"/>
              <a:pathLst>
                <a:path w="11158" h="281580">
                  <a:moveTo>
                    <a:pt x="0" y="0"/>
                  </a:moveTo>
                  <a:lnTo>
                    <a:pt x="11158" y="0"/>
                  </a:lnTo>
                  <a:lnTo>
                    <a:pt x="11158" y="281580"/>
                  </a:lnTo>
                  <a:lnTo>
                    <a:pt x="0" y="281580"/>
                  </a:lnTo>
                  <a:close/>
                </a:path>
              </a:pathLst>
            </a:custGeom>
            <a:solidFill>
              <a:srgbClr val="5E0202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11158" cy="319680"/>
            </a:xfrm>
            <a:prstGeom prst="rect">
              <a:avLst/>
            </a:prstGeom>
          </p:spPr>
          <p:txBody>
            <a:bodyPr lIns="57106" tIns="57106" rIns="57106" bIns="57106" rtlCol="0" anchor="ctr"/>
            <a:lstStyle/>
            <a:p>
              <a:pPr algn="ctr">
                <a:lnSpc>
                  <a:spcPts val="1892"/>
                </a:lnSpc>
              </a:pPr>
              <a:endParaRPr/>
            </a:p>
          </p:txBody>
        </p:sp>
      </p:grpSp>
      <p:sp>
        <p:nvSpPr>
          <p:cNvPr id="47" name="Freeform 47"/>
          <p:cNvSpPr/>
          <p:nvPr/>
        </p:nvSpPr>
        <p:spPr>
          <a:xfrm rot="-5400000">
            <a:off x="15571536" y="1659502"/>
            <a:ext cx="868166" cy="771583"/>
          </a:xfrm>
          <a:custGeom>
            <a:avLst/>
            <a:gdLst/>
            <a:ahLst/>
            <a:cxnLst/>
            <a:rect l="l" t="t" r="r" b="b"/>
            <a:pathLst>
              <a:path w="868166" h="771583">
                <a:moveTo>
                  <a:pt x="0" y="0"/>
                </a:moveTo>
                <a:lnTo>
                  <a:pt x="868166" y="0"/>
                </a:lnTo>
                <a:lnTo>
                  <a:pt x="868166" y="771583"/>
                </a:lnTo>
                <a:lnTo>
                  <a:pt x="0" y="7715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8" name="TextBox 48"/>
          <p:cNvSpPr txBox="1"/>
          <p:nvPr/>
        </p:nvSpPr>
        <p:spPr>
          <a:xfrm>
            <a:off x="2817690" y="1774000"/>
            <a:ext cx="12652620" cy="7115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2"/>
              </a:lnSpc>
            </a:pPr>
            <a:r>
              <a:rPr lang="en-US" sz="2715" b="1">
                <a:solidFill>
                  <a:srgbClr val="000000"/>
                </a:solidFill>
                <a:latin typeface="เอฟซี มินิมอล Bold"/>
                <a:ea typeface="เอฟซี มินิมอล Bold"/>
                <a:cs typeface="เอฟซี มินิมอล Bold"/>
                <a:sym typeface="เอฟซี มินิมอล Bold"/>
              </a:rPr>
              <a:t>1.ใช้ run() แทน start()</a:t>
            </a:r>
          </a:p>
          <a:p>
            <a:pPr algn="l">
              <a:lnSpc>
                <a:spcPts val="3522"/>
              </a:lnSpc>
            </a:pPr>
            <a:r>
              <a:rPr lang="en-US" sz="2515" b="1">
                <a:solidFill>
                  <a:srgbClr val="420101"/>
                </a:solidFill>
                <a:latin typeface="เอฟซี มินิมอล Bold"/>
                <a:ea typeface="เอฟซี มินิมอล Bold"/>
                <a:cs typeface="เอฟซี มินิมอล Bold"/>
                <a:sym typeface="เอฟซี มินิมอล Bold"/>
              </a:rPr>
              <a:t>      </a:t>
            </a:r>
            <a:r>
              <a:rPr lang="en-US" sz="2515">
                <a:solidFill>
                  <a:srgbClr val="420101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ผิด: thread.run();</a:t>
            </a:r>
          </a:p>
          <a:p>
            <a:pPr algn="l">
              <a:lnSpc>
                <a:spcPts val="3522"/>
              </a:lnSpc>
            </a:pPr>
            <a:r>
              <a:rPr lang="en-US" sz="2515">
                <a:solidFill>
                  <a:srgbClr val="420101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      ถูก: thread.start();</a:t>
            </a:r>
          </a:p>
          <a:p>
            <a:pPr algn="l">
              <a:lnSpc>
                <a:spcPts val="3522"/>
              </a:lnSpc>
            </a:pPr>
            <a:r>
              <a:rPr lang="en-US" sz="2515">
                <a:solidFill>
                  <a:srgbClr val="420101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  เพราะ start() จะสร้างการทำงานของ Thread ใหม่ ส่วน run() เป็นการเรียก Method ตามปกติ</a:t>
            </a:r>
          </a:p>
          <a:p>
            <a:pPr algn="l">
              <a:lnSpc>
                <a:spcPts val="3802"/>
              </a:lnSpc>
            </a:pPr>
            <a:endParaRPr lang="en-US" sz="2515">
              <a:solidFill>
                <a:srgbClr val="420101"/>
              </a:solidFill>
              <a:latin typeface="เอฟซี มินิมอล"/>
              <a:ea typeface="เอฟซี มินิมอล"/>
              <a:cs typeface="เอฟซี มินิมอล"/>
              <a:sym typeface="เอฟซี มินิมอล"/>
            </a:endParaRPr>
          </a:p>
          <a:p>
            <a:pPr algn="l">
              <a:lnSpc>
                <a:spcPts val="3802"/>
              </a:lnSpc>
            </a:pPr>
            <a:r>
              <a:rPr lang="en-US" sz="2715" b="1">
                <a:solidFill>
                  <a:srgbClr val="000000"/>
                </a:solidFill>
                <a:latin typeface="เอฟซี มินิมอล Bold"/>
                <a:ea typeface="เอฟซี มินิมอล Bold"/>
                <a:cs typeface="เอฟซี มินิมอล Bold"/>
                <a:sym typeface="เอฟซี มินิมอล Bold"/>
              </a:rPr>
              <a:t>2.คิดว่า Thread จะทำงานตามลำดับเสมอ</a:t>
            </a:r>
          </a:p>
          <a:p>
            <a:pPr algn="just">
              <a:lnSpc>
                <a:spcPts val="3522"/>
              </a:lnSpc>
            </a:pPr>
            <a:r>
              <a:rPr lang="en-US" sz="2515">
                <a:solidFill>
                  <a:srgbClr val="420101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  เช่น Thread A</a:t>
            </a:r>
          </a:p>
          <a:p>
            <a:pPr algn="just">
              <a:lnSpc>
                <a:spcPts val="3522"/>
              </a:lnSpc>
            </a:pPr>
            <a:r>
              <a:rPr lang="en-US" sz="2515">
                <a:solidFill>
                  <a:srgbClr val="420101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        Thread B</a:t>
            </a:r>
          </a:p>
          <a:p>
            <a:pPr algn="just">
              <a:lnSpc>
                <a:spcPts val="3522"/>
              </a:lnSpc>
            </a:pPr>
            <a:r>
              <a:rPr lang="en-US" sz="2515">
                <a:solidFill>
                  <a:srgbClr val="420101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        Thread A</a:t>
            </a:r>
          </a:p>
          <a:p>
            <a:pPr algn="just">
              <a:lnSpc>
                <a:spcPts val="3522"/>
              </a:lnSpc>
            </a:pPr>
            <a:r>
              <a:rPr lang="en-US" sz="2515">
                <a:solidFill>
                  <a:srgbClr val="420101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        Thread B</a:t>
            </a:r>
          </a:p>
          <a:p>
            <a:pPr algn="l">
              <a:lnSpc>
                <a:spcPts val="3522"/>
              </a:lnSpc>
            </a:pPr>
            <a:r>
              <a:rPr lang="en-US" sz="2515">
                <a:solidFill>
                  <a:srgbClr val="420101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  ไม่จำเป็นต้องเป็นแบบนี้ เพราะ Scheduler เป็นผู้จัดสรรเวลาการทำงาน อาจได้: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b="1">
                <a:solidFill>
                  <a:srgbClr val="420101"/>
                </a:solidFill>
                <a:latin typeface="เอฟซี มินิมอล Bold"/>
                <a:ea typeface="เอฟซี มินิมอล Bold"/>
                <a:cs typeface="เอฟซี มินิมอล Bold"/>
                <a:sym typeface="เอฟซี มินิมอล Bold"/>
              </a:rPr>
              <a:t> </a:t>
            </a:r>
            <a:r>
              <a:rPr lang="en-US" sz="2499">
                <a:solidFill>
                  <a:srgbClr val="420101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Thread B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420101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 Thread B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420101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 Thread A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420101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 Thread B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420101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 Thread 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3658756" y="-4535292"/>
            <a:ext cx="11011312" cy="19455200"/>
            <a:chOff x="0" y="0"/>
            <a:chExt cx="3946206" cy="697230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46206" cy="6972305"/>
            </a:xfrm>
            <a:custGeom>
              <a:avLst/>
              <a:gdLst/>
              <a:ahLst/>
              <a:cxnLst/>
              <a:rect l="l" t="t" r="r" b="b"/>
              <a:pathLst>
                <a:path w="3946206" h="6972305">
                  <a:moveTo>
                    <a:pt x="26014" y="0"/>
                  </a:moveTo>
                  <a:lnTo>
                    <a:pt x="3920191" y="0"/>
                  </a:lnTo>
                  <a:cubicBezTo>
                    <a:pt x="3927091" y="0"/>
                    <a:pt x="3933708" y="2741"/>
                    <a:pt x="3938586" y="7619"/>
                  </a:cubicBezTo>
                  <a:cubicBezTo>
                    <a:pt x="3943465" y="12498"/>
                    <a:pt x="3946206" y="19115"/>
                    <a:pt x="3946206" y="26014"/>
                  </a:cubicBezTo>
                  <a:lnTo>
                    <a:pt x="3946206" y="6946291"/>
                  </a:lnTo>
                  <a:cubicBezTo>
                    <a:pt x="3946206" y="6953190"/>
                    <a:pt x="3943465" y="6959807"/>
                    <a:pt x="3938586" y="6964685"/>
                  </a:cubicBezTo>
                  <a:cubicBezTo>
                    <a:pt x="3933708" y="6969564"/>
                    <a:pt x="3927091" y="6972305"/>
                    <a:pt x="3920191" y="6972305"/>
                  </a:cubicBezTo>
                  <a:lnTo>
                    <a:pt x="26014" y="6972305"/>
                  </a:lnTo>
                  <a:cubicBezTo>
                    <a:pt x="19115" y="6972305"/>
                    <a:pt x="12498" y="6969564"/>
                    <a:pt x="7619" y="6964685"/>
                  </a:cubicBezTo>
                  <a:cubicBezTo>
                    <a:pt x="2741" y="6959807"/>
                    <a:pt x="0" y="6953190"/>
                    <a:pt x="0" y="6946291"/>
                  </a:cubicBezTo>
                  <a:lnTo>
                    <a:pt x="0" y="26014"/>
                  </a:lnTo>
                  <a:cubicBezTo>
                    <a:pt x="0" y="19115"/>
                    <a:pt x="2741" y="12498"/>
                    <a:pt x="7619" y="7619"/>
                  </a:cubicBezTo>
                  <a:cubicBezTo>
                    <a:pt x="12498" y="2741"/>
                    <a:pt x="19115" y="0"/>
                    <a:pt x="26014" y="0"/>
                  </a:cubicBezTo>
                  <a:close/>
                </a:path>
              </a:pathLst>
            </a:custGeom>
            <a:solidFill>
              <a:srgbClr val="5E0202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946206" cy="701992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0800000">
            <a:off x="-670913" y="5396696"/>
            <a:ext cx="20283526" cy="5126838"/>
            <a:chOff x="0" y="0"/>
            <a:chExt cx="4407242" cy="11139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07242" cy="1113969"/>
            </a:xfrm>
            <a:custGeom>
              <a:avLst/>
              <a:gdLst/>
              <a:ahLst/>
              <a:cxnLst/>
              <a:rect l="l" t="t" r="r" b="b"/>
              <a:pathLst>
                <a:path w="4407242" h="1113969">
                  <a:moveTo>
                    <a:pt x="0" y="0"/>
                  </a:moveTo>
                  <a:lnTo>
                    <a:pt x="4407242" y="0"/>
                  </a:lnTo>
                  <a:lnTo>
                    <a:pt x="4407242" y="1113969"/>
                  </a:lnTo>
                  <a:lnTo>
                    <a:pt x="0" y="1113969"/>
                  </a:lnTo>
                  <a:close/>
                </a:path>
              </a:pathLst>
            </a:custGeom>
            <a:solidFill>
              <a:srgbClr val="420101">
                <a:alpha val="29804"/>
              </a:srgbClr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407242" cy="1161594"/>
            </a:xfrm>
            <a:prstGeom prst="rect">
              <a:avLst/>
            </a:prstGeom>
          </p:spPr>
          <p:txBody>
            <a:bodyPr lIns="40008" tIns="40008" rIns="40008" bIns="40008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-785709" y="7467526"/>
            <a:ext cx="20283526" cy="5126838"/>
            <a:chOff x="0" y="0"/>
            <a:chExt cx="4407242" cy="111396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407242" cy="1113969"/>
            </a:xfrm>
            <a:custGeom>
              <a:avLst/>
              <a:gdLst/>
              <a:ahLst/>
              <a:cxnLst/>
              <a:rect l="l" t="t" r="r" b="b"/>
              <a:pathLst>
                <a:path w="4407242" h="1113969">
                  <a:moveTo>
                    <a:pt x="0" y="0"/>
                  </a:moveTo>
                  <a:lnTo>
                    <a:pt x="4407242" y="0"/>
                  </a:lnTo>
                  <a:lnTo>
                    <a:pt x="4407242" y="1113969"/>
                  </a:lnTo>
                  <a:lnTo>
                    <a:pt x="0" y="1113969"/>
                  </a:lnTo>
                  <a:close/>
                </a:path>
              </a:pathLst>
            </a:custGeom>
            <a:solidFill>
              <a:srgbClr val="420101">
                <a:alpha val="50980"/>
              </a:srgbClr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407242" cy="1161594"/>
            </a:xfrm>
            <a:prstGeom prst="rect">
              <a:avLst/>
            </a:prstGeom>
          </p:spPr>
          <p:txBody>
            <a:bodyPr lIns="40008" tIns="40008" rIns="40008" bIns="40008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38519" y="9712785"/>
            <a:ext cx="17210961" cy="985179"/>
            <a:chOff x="0" y="0"/>
            <a:chExt cx="6168020" cy="35306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168020" cy="353066"/>
            </a:xfrm>
            <a:custGeom>
              <a:avLst/>
              <a:gdLst/>
              <a:ahLst/>
              <a:cxnLst/>
              <a:rect l="l" t="t" r="r" b="b"/>
              <a:pathLst>
                <a:path w="6168020" h="353066">
                  <a:moveTo>
                    <a:pt x="13945" y="0"/>
                  </a:moveTo>
                  <a:lnTo>
                    <a:pt x="6154076" y="0"/>
                  </a:lnTo>
                  <a:cubicBezTo>
                    <a:pt x="6157774" y="0"/>
                    <a:pt x="6161321" y="1469"/>
                    <a:pt x="6163936" y="4084"/>
                  </a:cubicBezTo>
                  <a:cubicBezTo>
                    <a:pt x="6166551" y="6699"/>
                    <a:pt x="6168020" y="10246"/>
                    <a:pt x="6168020" y="13945"/>
                  </a:cubicBezTo>
                  <a:lnTo>
                    <a:pt x="6168020" y="339121"/>
                  </a:lnTo>
                  <a:cubicBezTo>
                    <a:pt x="6168020" y="342820"/>
                    <a:pt x="6166551" y="346366"/>
                    <a:pt x="6163936" y="348982"/>
                  </a:cubicBezTo>
                  <a:cubicBezTo>
                    <a:pt x="6161321" y="351597"/>
                    <a:pt x="6157774" y="353066"/>
                    <a:pt x="6154076" y="353066"/>
                  </a:cubicBezTo>
                  <a:lnTo>
                    <a:pt x="13945" y="353066"/>
                  </a:lnTo>
                  <a:cubicBezTo>
                    <a:pt x="10246" y="353066"/>
                    <a:pt x="6699" y="351597"/>
                    <a:pt x="4084" y="348982"/>
                  </a:cubicBezTo>
                  <a:cubicBezTo>
                    <a:pt x="1469" y="346366"/>
                    <a:pt x="0" y="342820"/>
                    <a:pt x="0" y="339121"/>
                  </a:cubicBezTo>
                  <a:lnTo>
                    <a:pt x="0" y="13945"/>
                  </a:lnTo>
                  <a:cubicBezTo>
                    <a:pt x="0" y="10246"/>
                    <a:pt x="1469" y="6699"/>
                    <a:pt x="4084" y="4084"/>
                  </a:cubicBezTo>
                  <a:cubicBezTo>
                    <a:pt x="6699" y="1469"/>
                    <a:pt x="10246" y="0"/>
                    <a:pt x="13945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th-TH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6168020" cy="3911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2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85092" y="10119695"/>
            <a:ext cx="17717816" cy="1968399"/>
            <a:chOff x="0" y="0"/>
            <a:chExt cx="6349665" cy="70543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6349665" cy="705430"/>
            </a:xfrm>
            <a:custGeom>
              <a:avLst/>
              <a:gdLst/>
              <a:ahLst/>
              <a:cxnLst/>
              <a:rect l="l" t="t" r="r" b="b"/>
              <a:pathLst>
                <a:path w="6349665" h="705430">
                  <a:moveTo>
                    <a:pt x="10487" y="0"/>
                  </a:moveTo>
                  <a:lnTo>
                    <a:pt x="6339178" y="0"/>
                  </a:lnTo>
                  <a:cubicBezTo>
                    <a:pt x="6341959" y="0"/>
                    <a:pt x="6344627" y="1105"/>
                    <a:pt x="6346594" y="3072"/>
                  </a:cubicBezTo>
                  <a:cubicBezTo>
                    <a:pt x="6348560" y="5038"/>
                    <a:pt x="6349665" y="7706"/>
                    <a:pt x="6349665" y="10487"/>
                  </a:cubicBezTo>
                  <a:lnTo>
                    <a:pt x="6349665" y="694943"/>
                  </a:lnTo>
                  <a:cubicBezTo>
                    <a:pt x="6349665" y="697724"/>
                    <a:pt x="6348560" y="700391"/>
                    <a:pt x="6346594" y="702358"/>
                  </a:cubicBezTo>
                  <a:cubicBezTo>
                    <a:pt x="6344627" y="704325"/>
                    <a:pt x="6341959" y="705430"/>
                    <a:pt x="6339178" y="705430"/>
                  </a:cubicBezTo>
                  <a:lnTo>
                    <a:pt x="10487" y="705430"/>
                  </a:lnTo>
                  <a:cubicBezTo>
                    <a:pt x="7706" y="705430"/>
                    <a:pt x="5038" y="704325"/>
                    <a:pt x="3072" y="702358"/>
                  </a:cubicBezTo>
                  <a:cubicBezTo>
                    <a:pt x="1105" y="700391"/>
                    <a:pt x="0" y="697724"/>
                    <a:pt x="0" y="694943"/>
                  </a:cubicBezTo>
                  <a:lnTo>
                    <a:pt x="0" y="10487"/>
                  </a:lnTo>
                  <a:cubicBezTo>
                    <a:pt x="0" y="7706"/>
                    <a:pt x="1105" y="5038"/>
                    <a:pt x="3072" y="3072"/>
                  </a:cubicBezTo>
                  <a:cubicBezTo>
                    <a:pt x="5038" y="1105"/>
                    <a:pt x="7706" y="0"/>
                    <a:pt x="10487" y="0"/>
                  </a:cubicBezTo>
                  <a:close/>
                </a:path>
              </a:pathLst>
            </a:custGeom>
            <a:solidFill>
              <a:srgbClr val="290101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6349665" cy="7435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2"/>
                </a:lnSpc>
              </a:pPr>
              <a:endParaRPr/>
            </a:p>
          </p:txBody>
        </p:sp>
      </p:grpSp>
      <p:sp>
        <p:nvSpPr>
          <p:cNvPr id="17" name="AutoShape 17"/>
          <p:cNvSpPr/>
          <p:nvPr/>
        </p:nvSpPr>
        <p:spPr>
          <a:xfrm>
            <a:off x="2186237" y="380209"/>
            <a:ext cx="10988482" cy="0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th-TH"/>
          </a:p>
        </p:txBody>
      </p:sp>
      <p:sp>
        <p:nvSpPr>
          <p:cNvPr id="18" name="Freeform 18"/>
          <p:cNvSpPr/>
          <p:nvPr/>
        </p:nvSpPr>
        <p:spPr>
          <a:xfrm>
            <a:off x="245438" y="178403"/>
            <a:ext cx="471856" cy="422661"/>
          </a:xfrm>
          <a:custGeom>
            <a:avLst/>
            <a:gdLst/>
            <a:ahLst/>
            <a:cxnLst/>
            <a:rect l="l" t="t" r="r" b="b"/>
            <a:pathLst>
              <a:path w="471856" h="422661">
                <a:moveTo>
                  <a:pt x="0" y="0"/>
                </a:moveTo>
                <a:lnTo>
                  <a:pt x="471856" y="0"/>
                </a:lnTo>
                <a:lnTo>
                  <a:pt x="471856" y="422661"/>
                </a:lnTo>
                <a:lnTo>
                  <a:pt x="0" y="4226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276783" r="-241223"/>
            </a:stretch>
          </a:blipFill>
        </p:spPr>
        <p:txBody>
          <a:bodyPr/>
          <a:lstStyle/>
          <a:p>
            <a:endParaRPr lang="th-TH"/>
          </a:p>
        </p:txBody>
      </p:sp>
      <p:grpSp>
        <p:nvGrpSpPr>
          <p:cNvPr id="19" name="Group 19"/>
          <p:cNvGrpSpPr/>
          <p:nvPr/>
        </p:nvGrpSpPr>
        <p:grpSpPr>
          <a:xfrm>
            <a:off x="782256" y="178403"/>
            <a:ext cx="1190404" cy="422661"/>
            <a:chOff x="0" y="0"/>
            <a:chExt cx="313522" cy="11131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313522" cy="111318"/>
            </a:xfrm>
            <a:custGeom>
              <a:avLst/>
              <a:gdLst/>
              <a:ahLst/>
              <a:cxnLst/>
              <a:rect l="l" t="t" r="r" b="b"/>
              <a:pathLst>
                <a:path w="313522" h="111318">
                  <a:moveTo>
                    <a:pt x="0" y="0"/>
                  </a:moveTo>
                  <a:lnTo>
                    <a:pt x="313522" y="0"/>
                  </a:lnTo>
                  <a:lnTo>
                    <a:pt x="313522" y="111318"/>
                  </a:lnTo>
                  <a:lnTo>
                    <a:pt x="0" y="11131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313522" cy="1494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2"/>
                </a:lnSpc>
              </a:pPr>
              <a:endParaRPr/>
            </a:p>
          </p:txBody>
        </p:sp>
      </p:grpSp>
      <p:sp>
        <p:nvSpPr>
          <p:cNvPr id="22" name="AutoShape 22"/>
          <p:cNvSpPr/>
          <p:nvPr/>
        </p:nvSpPr>
        <p:spPr>
          <a:xfrm flipV="1">
            <a:off x="17792345" y="764907"/>
            <a:ext cx="0" cy="8493393"/>
          </a:xfrm>
          <a:prstGeom prst="line">
            <a:avLst/>
          </a:prstGeom>
          <a:ln w="19050" cap="flat">
            <a:solidFill>
              <a:srgbClr val="FFFFFF"/>
            </a:solidFill>
            <a:prstDash val="solid"/>
            <a:headEnd type="diamond" w="lg" len="lg"/>
            <a:tailEnd type="diamond" w="lg" len="lg"/>
          </a:ln>
        </p:spPr>
        <p:txBody>
          <a:bodyPr/>
          <a:lstStyle/>
          <a:p>
            <a:endParaRPr lang="th-TH"/>
          </a:p>
        </p:txBody>
      </p:sp>
      <p:sp>
        <p:nvSpPr>
          <p:cNvPr id="23" name="Freeform 23"/>
          <p:cNvSpPr/>
          <p:nvPr/>
        </p:nvSpPr>
        <p:spPr>
          <a:xfrm>
            <a:off x="17504028" y="168878"/>
            <a:ext cx="471856" cy="422661"/>
          </a:xfrm>
          <a:custGeom>
            <a:avLst/>
            <a:gdLst/>
            <a:ahLst/>
            <a:cxnLst/>
            <a:rect l="l" t="t" r="r" b="b"/>
            <a:pathLst>
              <a:path w="471856" h="422661">
                <a:moveTo>
                  <a:pt x="0" y="0"/>
                </a:moveTo>
                <a:lnTo>
                  <a:pt x="471855" y="0"/>
                </a:lnTo>
                <a:lnTo>
                  <a:pt x="471855" y="422661"/>
                </a:lnTo>
                <a:lnTo>
                  <a:pt x="0" y="42266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276783" r="-241223"/>
            </a:stretch>
          </a:blipFill>
        </p:spPr>
        <p:txBody>
          <a:bodyPr/>
          <a:lstStyle/>
          <a:p>
            <a:endParaRPr lang="th-TH"/>
          </a:p>
        </p:txBody>
      </p:sp>
      <p:grpSp>
        <p:nvGrpSpPr>
          <p:cNvPr id="24" name="Group 24"/>
          <p:cNvGrpSpPr/>
          <p:nvPr/>
        </p:nvGrpSpPr>
        <p:grpSpPr>
          <a:xfrm>
            <a:off x="11428907" y="0"/>
            <a:ext cx="5830393" cy="980176"/>
            <a:chOff x="0" y="-44478"/>
            <a:chExt cx="1535577" cy="258153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535577" cy="181953"/>
            </a:xfrm>
            <a:custGeom>
              <a:avLst/>
              <a:gdLst/>
              <a:ahLst/>
              <a:cxnLst/>
              <a:rect l="l" t="t" r="r" b="b"/>
              <a:pathLst>
                <a:path w="1535577" h="181953">
                  <a:moveTo>
                    <a:pt x="0" y="0"/>
                  </a:moveTo>
                  <a:lnTo>
                    <a:pt x="1535577" y="0"/>
                  </a:lnTo>
                  <a:lnTo>
                    <a:pt x="1535577" y="181953"/>
                  </a:lnTo>
                  <a:lnTo>
                    <a:pt x="0" y="1819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th-TH" dirty="0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44478"/>
              <a:ext cx="1535577" cy="2581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272"/>
                </a:lnSpc>
              </a:pPr>
              <a:r>
                <a:rPr lang="en-US" sz="3051" b="1" dirty="0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Challenge: Shared Counter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480509" y="1175406"/>
            <a:ext cx="15326981" cy="8229600"/>
            <a:chOff x="0" y="0"/>
            <a:chExt cx="4036736" cy="2167467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4036736" cy="2167467"/>
            </a:xfrm>
            <a:custGeom>
              <a:avLst/>
              <a:gdLst/>
              <a:ahLst/>
              <a:cxnLst/>
              <a:rect l="l" t="t" r="r" b="b"/>
              <a:pathLst>
                <a:path w="4036736" h="2167467">
                  <a:moveTo>
                    <a:pt x="10102" y="0"/>
                  </a:moveTo>
                  <a:lnTo>
                    <a:pt x="4026633" y="0"/>
                  </a:lnTo>
                  <a:cubicBezTo>
                    <a:pt x="4032213" y="0"/>
                    <a:pt x="4036736" y="4523"/>
                    <a:pt x="4036736" y="10102"/>
                  </a:cubicBezTo>
                  <a:lnTo>
                    <a:pt x="4036736" y="2157364"/>
                  </a:lnTo>
                  <a:cubicBezTo>
                    <a:pt x="4036736" y="2162944"/>
                    <a:pt x="4032213" y="2167467"/>
                    <a:pt x="4026633" y="2167467"/>
                  </a:cubicBezTo>
                  <a:lnTo>
                    <a:pt x="10102" y="2167467"/>
                  </a:lnTo>
                  <a:cubicBezTo>
                    <a:pt x="7423" y="2167467"/>
                    <a:pt x="4853" y="2166402"/>
                    <a:pt x="2959" y="2164508"/>
                  </a:cubicBezTo>
                  <a:cubicBezTo>
                    <a:pt x="1064" y="2162613"/>
                    <a:pt x="0" y="2160044"/>
                    <a:pt x="0" y="2157364"/>
                  </a:cubicBezTo>
                  <a:lnTo>
                    <a:pt x="0" y="10102"/>
                  </a:lnTo>
                  <a:cubicBezTo>
                    <a:pt x="0" y="4523"/>
                    <a:pt x="4523" y="0"/>
                    <a:pt x="10102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403673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892"/>
                </a:lnSpc>
              </a:pPr>
              <a:endParaRPr/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854647" y="1281729"/>
            <a:ext cx="2578706" cy="329481"/>
            <a:chOff x="0" y="0"/>
            <a:chExt cx="3438274" cy="43930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90440" cy="439308"/>
            </a:xfrm>
            <a:custGeom>
              <a:avLst/>
              <a:gdLst/>
              <a:ahLst/>
              <a:cxnLst/>
              <a:rect l="l" t="t" r="r" b="b"/>
              <a:pathLst>
                <a:path w="490440" h="439308">
                  <a:moveTo>
                    <a:pt x="0" y="0"/>
                  </a:moveTo>
                  <a:lnTo>
                    <a:pt x="490440" y="0"/>
                  </a:lnTo>
                  <a:lnTo>
                    <a:pt x="490440" y="439308"/>
                  </a:lnTo>
                  <a:lnTo>
                    <a:pt x="0" y="439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276783" r="-241223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590709" y="0"/>
              <a:ext cx="490440" cy="439308"/>
            </a:xfrm>
            <a:custGeom>
              <a:avLst/>
              <a:gdLst/>
              <a:ahLst/>
              <a:cxnLst/>
              <a:rect l="l" t="t" r="r" b="b"/>
              <a:pathLst>
                <a:path w="490440" h="439308">
                  <a:moveTo>
                    <a:pt x="0" y="0"/>
                  </a:moveTo>
                  <a:lnTo>
                    <a:pt x="490440" y="0"/>
                  </a:lnTo>
                  <a:lnTo>
                    <a:pt x="490440" y="439308"/>
                  </a:lnTo>
                  <a:lnTo>
                    <a:pt x="0" y="439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276783" r="-241223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1181418" y="0"/>
              <a:ext cx="490440" cy="439308"/>
            </a:xfrm>
            <a:custGeom>
              <a:avLst/>
              <a:gdLst/>
              <a:ahLst/>
              <a:cxnLst/>
              <a:rect l="l" t="t" r="r" b="b"/>
              <a:pathLst>
                <a:path w="490440" h="439308">
                  <a:moveTo>
                    <a:pt x="0" y="0"/>
                  </a:moveTo>
                  <a:lnTo>
                    <a:pt x="490440" y="0"/>
                  </a:lnTo>
                  <a:lnTo>
                    <a:pt x="490440" y="439308"/>
                  </a:lnTo>
                  <a:lnTo>
                    <a:pt x="0" y="439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276783" r="-241223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1766416" y="0"/>
              <a:ext cx="490440" cy="439308"/>
            </a:xfrm>
            <a:custGeom>
              <a:avLst/>
              <a:gdLst/>
              <a:ahLst/>
              <a:cxnLst/>
              <a:rect l="l" t="t" r="r" b="b"/>
              <a:pathLst>
                <a:path w="490440" h="439308">
                  <a:moveTo>
                    <a:pt x="0" y="0"/>
                  </a:moveTo>
                  <a:lnTo>
                    <a:pt x="490440" y="0"/>
                  </a:lnTo>
                  <a:lnTo>
                    <a:pt x="490440" y="439308"/>
                  </a:lnTo>
                  <a:lnTo>
                    <a:pt x="0" y="439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276783" r="-241223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2357125" y="0"/>
              <a:ext cx="490440" cy="439308"/>
            </a:xfrm>
            <a:custGeom>
              <a:avLst/>
              <a:gdLst/>
              <a:ahLst/>
              <a:cxnLst/>
              <a:rect l="l" t="t" r="r" b="b"/>
              <a:pathLst>
                <a:path w="490440" h="439308">
                  <a:moveTo>
                    <a:pt x="0" y="0"/>
                  </a:moveTo>
                  <a:lnTo>
                    <a:pt x="490440" y="0"/>
                  </a:lnTo>
                  <a:lnTo>
                    <a:pt x="490440" y="439308"/>
                  </a:lnTo>
                  <a:lnTo>
                    <a:pt x="0" y="439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276783" r="-241223"/>
              </a:stretch>
            </a:blipFill>
          </p:spPr>
          <p:txBody>
            <a:bodyPr/>
            <a:lstStyle/>
            <a:p>
              <a:endParaRPr lang="th-TH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2947834" y="0"/>
              <a:ext cx="490440" cy="439308"/>
            </a:xfrm>
            <a:custGeom>
              <a:avLst/>
              <a:gdLst/>
              <a:ahLst/>
              <a:cxnLst/>
              <a:rect l="l" t="t" r="r" b="b"/>
              <a:pathLst>
                <a:path w="490440" h="439308">
                  <a:moveTo>
                    <a:pt x="0" y="0"/>
                  </a:moveTo>
                  <a:lnTo>
                    <a:pt x="490440" y="0"/>
                  </a:lnTo>
                  <a:lnTo>
                    <a:pt x="490440" y="439308"/>
                  </a:lnTo>
                  <a:lnTo>
                    <a:pt x="0" y="4393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t="-276783" r="-241223"/>
              </a:stretch>
            </a:blipFill>
          </p:spPr>
          <p:txBody>
            <a:bodyPr/>
            <a:lstStyle/>
            <a:p>
              <a:endParaRPr lang="th-TH"/>
            </a:p>
          </p:txBody>
        </p:sp>
      </p:grpSp>
      <p:sp>
        <p:nvSpPr>
          <p:cNvPr id="37" name="AutoShape 37"/>
          <p:cNvSpPr/>
          <p:nvPr/>
        </p:nvSpPr>
        <p:spPr>
          <a:xfrm flipV="1">
            <a:off x="1896590" y="1446470"/>
            <a:ext cx="5796133" cy="0"/>
          </a:xfrm>
          <a:prstGeom prst="line">
            <a:avLst/>
          </a:prstGeom>
          <a:ln w="19050" cap="flat">
            <a:solidFill>
              <a:srgbClr val="42010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h-TH"/>
          </a:p>
        </p:txBody>
      </p:sp>
      <p:sp>
        <p:nvSpPr>
          <p:cNvPr id="38" name="AutoShape 38"/>
          <p:cNvSpPr/>
          <p:nvPr/>
        </p:nvSpPr>
        <p:spPr>
          <a:xfrm flipV="1">
            <a:off x="10595278" y="1436945"/>
            <a:ext cx="5796133" cy="0"/>
          </a:xfrm>
          <a:prstGeom prst="line">
            <a:avLst/>
          </a:prstGeom>
          <a:ln w="19050" cap="flat">
            <a:solidFill>
              <a:srgbClr val="42010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h-TH"/>
          </a:p>
        </p:txBody>
      </p:sp>
      <p:sp>
        <p:nvSpPr>
          <p:cNvPr id="39" name="AutoShape 39"/>
          <p:cNvSpPr/>
          <p:nvPr/>
        </p:nvSpPr>
        <p:spPr>
          <a:xfrm>
            <a:off x="1917001" y="9057840"/>
            <a:ext cx="14494821" cy="0"/>
          </a:xfrm>
          <a:prstGeom prst="line">
            <a:avLst/>
          </a:prstGeom>
          <a:ln w="19050" cap="flat">
            <a:solidFill>
              <a:srgbClr val="42010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th-TH"/>
          </a:p>
        </p:txBody>
      </p:sp>
      <p:grpSp>
        <p:nvGrpSpPr>
          <p:cNvPr id="40" name="Group 40"/>
          <p:cNvGrpSpPr/>
          <p:nvPr/>
        </p:nvGrpSpPr>
        <p:grpSpPr>
          <a:xfrm>
            <a:off x="16120802" y="1446470"/>
            <a:ext cx="47625" cy="1201836"/>
            <a:chOff x="0" y="0"/>
            <a:chExt cx="11158" cy="28158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11158" cy="281580"/>
            </a:xfrm>
            <a:custGeom>
              <a:avLst/>
              <a:gdLst/>
              <a:ahLst/>
              <a:cxnLst/>
              <a:rect l="l" t="t" r="r" b="b"/>
              <a:pathLst>
                <a:path w="11158" h="281580">
                  <a:moveTo>
                    <a:pt x="0" y="0"/>
                  </a:moveTo>
                  <a:lnTo>
                    <a:pt x="11158" y="0"/>
                  </a:lnTo>
                  <a:lnTo>
                    <a:pt x="11158" y="281580"/>
                  </a:lnTo>
                  <a:lnTo>
                    <a:pt x="0" y="281580"/>
                  </a:lnTo>
                  <a:close/>
                </a:path>
              </a:pathLst>
            </a:custGeom>
            <a:solidFill>
              <a:srgbClr val="5E0202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11158" cy="319680"/>
            </a:xfrm>
            <a:prstGeom prst="rect">
              <a:avLst/>
            </a:prstGeom>
          </p:spPr>
          <p:txBody>
            <a:bodyPr lIns="57106" tIns="57106" rIns="57106" bIns="57106" rtlCol="0" anchor="ctr"/>
            <a:lstStyle/>
            <a:p>
              <a:pPr algn="ctr">
                <a:lnSpc>
                  <a:spcPts val="1892"/>
                </a:lnSpc>
              </a:pPr>
              <a:endParaRPr/>
            </a:p>
          </p:txBody>
        </p:sp>
      </p:grpSp>
      <p:sp>
        <p:nvSpPr>
          <p:cNvPr id="43" name="Freeform 43"/>
          <p:cNvSpPr/>
          <p:nvPr/>
        </p:nvSpPr>
        <p:spPr>
          <a:xfrm rot="5400000">
            <a:off x="1848298" y="1659502"/>
            <a:ext cx="868166" cy="771583"/>
          </a:xfrm>
          <a:custGeom>
            <a:avLst/>
            <a:gdLst/>
            <a:ahLst/>
            <a:cxnLst/>
            <a:rect l="l" t="t" r="r" b="b"/>
            <a:pathLst>
              <a:path w="868166" h="771583">
                <a:moveTo>
                  <a:pt x="0" y="0"/>
                </a:moveTo>
                <a:lnTo>
                  <a:pt x="868166" y="0"/>
                </a:lnTo>
                <a:lnTo>
                  <a:pt x="868166" y="771583"/>
                </a:lnTo>
                <a:lnTo>
                  <a:pt x="0" y="7715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grpSp>
        <p:nvGrpSpPr>
          <p:cNvPr id="44" name="Group 44"/>
          <p:cNvGrpSpPr/>
          <p:nvPr/>
        </p:nvGrpSpPr>
        <p:grpSpPr>
          <a:xfrm>
            <a:off x="2400398" y="1611210"/>
            <a:ext cx="47625" cy="1201836"/>
            <a:chOff x="0" y="0"/>
            <a:chExt cx="11158" cy="28158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11158" cy="281580"/>
            </a:xfrm>
            <a:custGeom>
              <a:avLst/>
              <a:gdLst/>
              <a:ahLst/>
              <a:cxnLst/>
              <a:rect l="l" t="t" r="r" b="b"/>
              <a:pathLst>
                <a:path w="11158" h="281580">
                  <a:moveTo>
                    <a:pt x="0" y="0"/>
                  </a:moveTo>
                  <a:lnTo>
                    <a:pt x="11158" y="0"/>
                  </a:lnTo>
                  <a:lnTo>
                    <a:pt x="11158" y="281580"/>
                  </a:lnTo>
                  <a:lnTo>
                    <a:pt x="0" y="281580"/>
                  </a:lnTo>
                  <a:close/>
                </a:path>
              </a:pathLst>
            </a:custGeom>
            <a:solidFill>
              <a:srgbClr val="5E0202"/>
            </a:solidFill>
          </p:spPr>
          <p:txBody>
            <a:bodyPr/>
            <a:lstStyle/>
            <a:p>
              <a:endParaRPr lang="th-TH"/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0" y="-38100"/>
              <a:ext cx="11158" cy="319680"/>
            </a:xfrm>
            <a:prstGeom prst="rect">
              <a:avLst/>
            </a:prstGeom>
          </p:spPr>
          <p:txBody>
            <a:bodyPr lIns="57106" tIns="57106" rIns="57106" bIns="57106" rtlCol="0" anchor="ctr"/>
            <a:lstStyle/>
            <a:p>
              <a:pPr algn="ctr">
                <a:lnSpc>
                  <a:spcPts val="1892"/>
                </a:lnSpc>
              </a:pPr>
              <a:endParaRPr/>
            </a:p>
          </p:txBody>
        </p:sp>
      </p:grpSp>
      <p:sp>
        <p:nvSpPr>
          <p:cNvPr id="47" name="Freeform 47"/>
          <p:cNvSpPr/>
          <p:nvPr/>
        </p:nvSpPr>
        <p:spPr>
          <a:xfrm rot="-5400000">
            <a:off x="15571536" y="1659502"/>
            <a:ext cx="868166" cy="771583"/>
          </a:xfrm>
          <a:custGeom>
            <a:avLst/>
            <a:gdLst/>
            <a:ahLst/>
            <a:cxnLst/>
            <a:rect l="l" t="t" r="r" b="b"/>
            <a:pathLst>
              <a:path w="868166" h="771583">
                <a:moveTo>
                  <a:pt x="0" y="0"/>
                </a:moveTo>
                <a:lnTo>
                  <a:pt x="868166" y="0"/>
                </a:lnTo>
                <a:lnTo>
                  <a:pt x="868166" y="771583"/>
                </a:lnTo>
                <a:lnTo>
                  <a:pt x="0" y="7715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h-TH"/>
          </a:p>
        </p:txBody>
      </p:sp>
      <p:sp>
        <p:nvSpPr>
          <p:cNvPr id="48" name="TextBox 48"/>
          <p:cNvSpPr txBox="1"/>
          <p:nvPr/>
        </p:nvSpPr>
        <p:spPr>
          <a:xfrm>
            <a:off x="2958102" y="2422227"/>
            <a:ext cx="12652620" cy="4750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02"/>
              </a:lnSpc>
            </a:pPr>
            <a:r>
              <a:rPr lang="en-US" sz="2715">
                <a:solidFill>
                  <a:srgbClr val="000000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มี Thread จำนวน 5 Threads แต่ละ Thread เพิ่มค่า Counter จำนวน 1,000 ครั้ง</a:t>
            </a:r>
          </a:p>
          <a:p>
            <a:pPr algn="l">
              <a:lnSpc>
                <a:spcPts val="3802"/>
              </a:lnSpc>
            </a:pPr>
            <a:endParaRPr lang="en-US" sz="2715">
              <a:solidFill>
                <a:srgbClr val="000000"/>
              </a:solidFill>
              <a:latin typeface="เอฟซี มินิมอล"/>
              <a:ea typeface="เอฟซี มินิมอล"/>
              <a:cs typeface="เอฟซี มินิมอล"/>
              <a:sym typeface="เอฟซี มินิมอล"/>
            </a:endParaRPr>
          </a:p>
          <a:p>
            <a:pPr algn="ctr">
              <a:lnSpc>
                <a:spcPts val="3802"/>
              </a:lnSpc>
            </a:pPr>
            <a:r>
              <a:rPr lang="en-US" sz="2715">
                <a:solidFill>
                  <a:srgbClr val="66020D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5 Threads × 1,000</a:t>
            </a:r>
          </a:p>
          <a:p>
            <a:pPr algn="ctr">
              <a:lnSpc>
                <a:spcPts val="3802"/>
              </a:lnSpc>
            </a:pPr>
            <a:r>
              <a:rPr lang="en-US" sz="2715">
                <a:solidFill>
                  <a:srgbClr val="66020D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= 5,000</a:t>
            </a:r>
          </a:p>
          <a:p>
            <a:pPr algn="l">
              <a:lnSpc>
                <a:spcPts val="3802"/>
              </a:lnSpc>
            </a:pPr>
            <a:endParaRPr lang="en-US" sz="2715">
              <a:solidFill>
                <a:srgbClr val="66020D"/>
              </a:solidFill>
              <a:latin typeface="เอฟซี มินิมอล"/>
              <a:ea typeface="เอฟซี มินิมอล"/>
              <a:cs typeface="เอฟซี มินิมอล"/>
              <a:sym typeface="เอฟซี มินิมอล"/>
            </a:endParaRPr>
          </a:p>
          <a:p>
            <a:pPr algn="l">
              <a:lnSpc>
                <a:spcPts val="3802"/>
              </a:lnSpc>
            </a:pPr>
            <a:r>
              <a:rPr lang="en-US" sz="2715">
                <a:solidFill>
                  <a:srgbClr val="000000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คำถาม</a:t>
            </a:r>
            <a:r>
              <a:rPr lang="en-US" sz="2715">
                <a:solidFill>
                  <a:srgbClr val="66020D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 ถ้าโปรแกรมแสดงผลไม่ถึง 5,000 เกิดจากอะไร?</a:t>
            </a:r>
          </a:p>
          <a:p>
            <a:pPr algn="l">
              <a:lnSpc>
                <a:spcPts val="3802"/>
              </a:lnSpc>
            </a:pPr>
            <a:endParaRPr lang="en-US" sz="2715">
              <a:solidFill>
                <a:srgbClr val="66020D"/>
              </a:solidFill>
              <a:latin typeface="เอฟซี มินิมอล"/>
              <a:ea typeface="เอฟซี มินิมอล"/>
              <a:cs typeface="เอฟซี มินิมอล"/>
              <a:sym typeface="เอฟซี มินิมอล"/>
            </a:endParaRPr>
          </a:p>
          <a:p>
            <a:pPr algn="l">
              <a:lnSpc>
                <a:spcPts val="3802"/>
              </a:lnSpc>
            </a:pPr>
            <a:r>
              <a:rPr lang="en-US" sz="2715">
                <a:solidFill>
                  <a:srgbClr val="000000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คำตอบ</a:t>
            </a:r>
          </a:p>
          <a:p>
            <a:pPr algn="l">
              <a:lnSpc>
                <a:spcPts val="3802"/>
              </a:lnSpc>
            </a:pPr>
            <a:r>
              <a:rPr lang="en-US" sz="2715">
                <a:solidFill>
                  <a:srgbClr val="66020D"/>
                </a:solidFill>
                <a:latin typeface="เอฟซี มินิมอล"/>
                <a:ea typeface="เอฟซี มินิมอล"/>
                <a:cs typeface="เอฟซี มินิมอล"/>
                <a:sym typeface="เอฟซี มินิมอล"/>
              </a:rPr>
              <a:t>         เกิดจาก Race Condition เพราะหลาย Thread เข้าถึงและแก้ไขข้อมูล counter พร้อมกัน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2136</Words>
  <Application>Microsoft Office PowerPoint</Application>
  <PresentationFormat>กำหนดเอง</PresentationFormat>
  <Paragraphs>254</Paragraphs>
  <Slides>16</Slides>
  <Notes>0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11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16</vt:i4>
      </vt:variant>
    </vt:vector>
  </HeadingPairs>
  <TitlesOfParts>
    <vt:vector size="28" baseType="lpstr">
      <vt:lpstr>Arimo Bold</vt:lpstr>
      <vt:lpstr>Arial</vt:lpstr>
      <vt:lpstr>Cloud Soft Bold</vt:lpstr>
      <vt:lpstr>Prompt</vt:lpstr>
      <vt:lpstr>Th Sarabun New</vt:lpstr>
      <vt:lpstr>Calibri</vt:lpstr>
      <vt:lpstr>เอฟซี มินิมอล Bold</vt:lpstr>
      <vt:lpstr>Th Sarabun New Bold</vt:lpstr>
      <vt:lpstr>Cloud Soft Semi-Bold</vt:lpstr>
      <vt:lpstr>เอฟซี มินิมอล</vt:lpstr>
      <vt:lpstr>Arimo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22: Concurrency &amp; Threads- #26</dc:title>
  <cp:lastModifiedBy>phaguy mueangman</cp:lastModifiedBy>
  <cp:revision>2</cp:revision>
  <dcterms:created xsi:type="dcterms:W3CDTF">2006-08-16T00:00:00Z</dcterms:created>
  <dcterms:modified xsi:type="dcterms:W3CDTF">2026-10-04T14:04:46Z</dcterms:modified>
  <dc:identifier>DAHW3NbdwGs</dc:identifier>
</cp:coreProperties>
</file>