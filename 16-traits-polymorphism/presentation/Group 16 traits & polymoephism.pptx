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8288000" cy="10287000"/>
  <p:notesSz cx="6858000" cy="9144000"/>
  <p:embeddedFontLst>
    <p:embeddedFont>
      <p:font typeface="DM Sans" charset="1" panose="00000000000000000000"/>
      <p:regular r:id="rId41"/>
    </p:embeddedFont>
    <p:embeddedFont>
      <p:font typeface="Bungee" charset="1" panose="00000000000000000000"/>
      <p:regular r:id="rId42"/>
    </p:embeddedFont>
    <p:embeddedFont>
      <p:font typeface="เอฟซี มินิมอล" charset="1" panose="020B0500040200020003"/>
      <p:regular r:id="rId43"/>
    </p:embeddedFont>
    <p:embeddedFont>
      <p:font typeface="DM Sans Bold" charset="1" panose="00000000000000000000"/>
      <p:regular r:id="rId44"/>
    </p:embeddedFont>
    <p:embeddedFont>
      <p:font typeface="Garuda" charset="1" panose="020B0604020202020204"/>
      <p:regular r:id="rId45"/>
    </p:embeddedFont>
    <p:embeddedFont>
      <p:font typeface="IBM Plex Sans Thai" charset="1" panose="020B0503050203000203"/>
      <p:regular r:id="rId46"/>
    </p:embeddedFont>
    <p:embeddedFont>
      <p:font typeface="IBM Plex Sans Thai Bold" charset="1" panose="020B0803050203000203"/>
      <p:regular r:id="rId47"/>
    </p:embeddedFont>
    <p:embeddedFont>
      <p:font typeface="Roboto Bold" charset="1" panose="02000000000000000000"/>
      <p:regular r:id="rId48"/>
    </p:embeddedFont>
    <p:embeddedFont>
      <p:font typeface="เอฟซี มินิมอล Bold" charset="1" panose="020B0500040200020003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14" Target="../media/image26.png" Type="http://schemas.openxmlformats.org/officeDocument/2006/relationships/image"/><Relationship Id="rId15" Target="../media/image27.svg" Type="http://schemas.openxmlformats.org/officeDocument/2006/relationships/image"/><Relationship Id="rId16" Target="../media/image28.png" Type="http://schemas.openxmlformats.org/officeDocument/2006/relationships/image"/><Relationship Id="rId17" Target="../media/image29.svg" Type="http://schemas.openxmlformats.org/officeDocument/2006/relationships/image"/><Relationship Id="rId18" Target="../media/image30.png" Type="http://schemas.openxmlformats.org/officeDocument/2006/relationships/image"/><Relationship Id="rId19" Target="../media/image13.pn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13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9.png" Type="http://schemas.openxmlformats.org/officeDocument/2006/relationships/image"/><Relationship Id="rId6" Target="../media/image38.pn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svg" Type="http://schemas.openxmlformats.org/officeDocument/2006/relationships/image"/><Relationship Id="rId2" Target="../media/image13.pn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40.png" Type="http://schemas.openxmlformats.org/officeDocument/2006/relationships/image"/><Relationship Id="rId6" Target="../media/image38.png" Type="http://schemas.openxmlformats.org/officeDocument/2006/relationships/image"/><Relationship Id="rId7" Target="../media/image41.pn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13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48.png" Type="http://schemas.openxmlformats.org/officeDocument/2006/relationships/image"/><Relationship Id="rId6" Target="../media/image38.png" Type="http://schemas.openxmlformats.org/officeDocument/2006/relationships/image"/><Relationship Id="rId7" Target="../media/image4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13.png" Type="http://schemas.openxmlformats.org/officeDocument/2006/relationships/image"/><Relationship Id="rId5" Target="../media/image49.png" Type="http://schemas.openxmlformats.org/officeDocument/2006/relationships/image"/><Relationship Id="rId6" Target="../media/image38.png" Type="http://schemas.openxmlformats.org/officeDocument/2006/relationships/image"/><Relationship Id="rId7" Target="../media/image4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svg" Type="http://schemas.openxmlformats.org/officeDocument/2006/relationships/image"/><Relationship Id="rId4" Target="../media/image13.pn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svg" Type="http://schemas.openxmlformats.org/officeDocument/2006/relationships/image"/><Relationship Id="rId4" Target="../media/image13.pn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svg" Type="http://schemas.openxmlformats.org/officeDocument/2006/relationships/image"/><Relationship Id="rId4" Target="../media/image13.pn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svg" Type="http://schemas.openxmlformats.org/officeDocument/2006/relationships/image"/><Relationship Id="rId4" Target="../media/image13.pn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58.pn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59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13.png" Type="http://schemas.openxmlformats.org/officeDocument/2006/relationships/image"/><Relationship Id="rId5" Target="../media/image58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3.png" Type="http://schemas.openxmlformats.org/officeDocument/2006/relationships/image"/><Relationship Id="rId5" Target="../media/image65.png" Type="http://schemas.openxmlformats.org/officeDocument/2006/relationships/image"/><Relationship Id="rId6" Target="../media/image6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67.png" Type="http://schemas.openxmlformats.org/officeDocument/2006/relationships/image"/><Relationship Id="rId5" Target="../media/image68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69.png" Type="http://schemas.openxmlformats.org/officeDocument/2006/relationships/image"/><Relationship Id="rId5" Target="../media/image70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71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72.png" Type="http://schemas.openxmlformats.org/officeDocument/2006/relationships/image"/><Relationship Id="rId5" Target="../media/image73.png" Type="http://schemas.openxmlformats.org/officeDocument/2006/relationships/image"/><Relationship Id="rId6" Target="../media/image74.png" Type="http://schemas.openxmlformats.org/officeDocument/2006/relationships/image"/><Relationship Id="rId7" Target="../media/image75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76.png" Type="http://schemas.openxmlformats.org/officeDocument/2006/relationships/image"/><Relationship Id="rId5" Target="../media/image77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68111" y="-2095053"/>
            <a:ext cx="20624222" cy="11488825"/>
            <a:chOff x="0" y="0"/>
            <a:chExt cx="27498962" cy="153184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962653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077082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-10800000">
            <a:off x="9885855" y="3649360"/>
            <a:ext cx="8306436" cy="8541323"/>
          </a:xfrm>
          <a:custGeom>
            <a:avLst/>
            <a:gdLst/>
            <a:ahLst/>
            <a:cxnLst/>
            <a:rect r="r" b="b" t="t" l="l"/>
            <a:pathLst>
              <a:path h="8541323" w="8306436">
                <a:moveTo>
                  <a:pt x="0" y="0"/>
                </a:moveTo>
                <a:lnTo>
                  <a:pt x="8306437" y="0"/>
                </a:lnTo>
                <a:lnTo>
                  <a:pt x="8306437" y="8541322"/>
                </a:lnTo>
                <a:lnTo>
                  <a:pt x="0" y="8541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C101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816593" cy="318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2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68121" y="755278"/>
            <a:ext cx="501847" cy="498711"/>
          </a:xfrm>
          <a:custGeom>
            <a:avLst/>
            <a:gdLst/>
            <a:ahLst/>
            <a:cxnLst/>
            <a:rect r="r" b="b" t="t" l="l"/>
            <a:pathLst>
              <a:path h="498711" w="501847">
                <a:moveTo>
                  <a:pt x="0" y="0"/>
                </a:moveTo>
                <a:lnTo>
                  <a:pt x="501847" y="0"/>
                </a:lnTo>
                <a:lnTo>
                  <a:pt x="501847" y="498711"/>
                </a:lnTo>
                <a:lnTo>
                  <a:pt x="0" y="4987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173066">
            <a:off x="17263078" y="7078289"/>
            <a:ext cx="1021144" cy="1691336"/>
          </a:xfrm>
          <a:custGeom>
            <a:avLst/>
            <a:gdLst/>
            <a:ahLst/>
            <a:cxnLst/>
            <a:rect r="r" b="b" t="t" l="l"/>
            <a:pathLst>
              <a:path h="1691336" w="1021144">
                <a:moveTo>
                  <a:pt x="0" y="0"/>
                </a:moveTo>
                <a:lnTo>
                  <a:pt x="1021144" y="0"/>
                </a:lnTo>
                <a:lnTo>
                  <a:pt x="1021144" y="1691336"/>
                </a:lnTo>
                <a:lnTo>
                  <a:pt x="0" y="16913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869139" y="2965470"/>
            <a:ext cx="1005574" cy="1013173"/>
          </a:xfrm>
          <a:custGeom>
            <a:avLst/>
            <a:gdLst/>
            <a:ahLst/>
            <a:cxnLst/>
            <a:rect r="r" b="b" t="t" l="l"/>
            <a:pathLst>
              <a:path h="1013173" w="1005574">
                <a:moveTo>
                  <a:pt x="0" y="0"/>
                </a:moveTo>
                <a:lnTo>
                  <a:pt x="1005574" y="0"/>
                </a:lnTo>
                <a:lnTo>
                  <a:pt x="1005574" y="1013173"/>
                </a:lnTo>
                <a:lnTo>
                  <a:pt x="0" y="10131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3882565">
            <a:off x="16431110" y="3491483"/>
            <a:ext cx="715423" cy="715423"/>
          </a:xfrm>
          <a:custGeom>
            <a:avLst/>
            <a:gdLst/>
            <a:ahLst/>
            <a:cxnLst/>
            <a:rect r="r" b="b" t="t" l="l"/>
            <a:pathLst>
              <a:path h="715423" w="715423">
                <a:moveTo>
                  <a:pt x="0" y="0"/>
                </a:moveTo>
                <a:lnTo>
                  <a:pt x="715423" y="0"/>
                </a:lnTo>
                <a:lnTo>
                  <a:pt x="715423" y="715423"/>
                </a:lnTo>
                <a:lnTo>
                  <a:pt x="0" y="7154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173200" y="-4856649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10631" y="826822"/>
            <a:ext cx="4026470" cy="356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  <a:spcBef>
                <a:spcPct val="0"/>
              </a:spcBef>
            </a:pPr>
            <a:r>
              <a:rPr lang="en-US" sz="2076">
                <a:solidFill>
                  <a:srgbClr val="481F21"/>
                </a:solidFill>
                <a:latin typeface="DM Sans"/>
                <a:ea typeface="DM Sans"/>
                <a:cs typeface="DM Sans"/>
                <a:sym typeface="DM Sans"/>
              </a:rPr>
              <a:t>RUST</a:t>
            </a:r>
            <a:r>
              <a:rPr lang="en-US" sz="2076">
                <a:solidFill>
                  <a:srgbClr val="481F21"/>
                </a:solidFill>
                <a:latin typeface="DM Sans"/>
                <a:ea typeface="DM Sans"/>
                <a:cs typeface="DM Sans"/>
                <a:sym typeface="DM Sans"/>
              </a:rPr>
              <a:t> TUTORIAL PRESENTATION​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32827" y="9570772"/>
            <a:ext cx="8942440" cy="356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  <a:spcBef>
                <a:spcPct val="0"/>
              </a:spcBef>
            </a:pPr>
            <a:r>
              <a:rPr lang="en-US" sz="2076">
                <a:solidFill>
                  <a:srgbClr val="F9F8F4"/>
                </a:solidFill>
                <a:latin typeface="DM Sans"/>
                <a:ea typeface="DM Sans"/>
                <a:cs typeface="DM Sans"/>
                <a:sym typeface="DM Sans"/>
              </a:rPr>
              <a:t>517321</a:t>
            </a:r>
            <a:r>
              <a:rPr lang="en-US" sz="2076">
                <a:solidFill>
                  <a:srgbClr val="F9F8F4"/>
                </a:solidFill>
                <a:latin typeface="DM Sans"/>
                <a:ea typeface="DM Sans"/>
                <a:cs typeface="DM Sans"/>
                <a:sym typeface="DM Sans"/>
              </a:rPr>
              <a:t> PRINCIPLES OF PROGRAMMING LANGUAGES​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772975" y="2728966"/>
            <a:ext cx="15953845" cy="4891521"/>
            <a:chOff x="0" y="0"/>
            <a:chExt cx="21271794" cy="6522028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38100"/>
              <a:ext cx="8749053" cy="15349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204"/>
                </a:lnSpc>
              </a:pPr>
              <a:r>
                <a:rPr lang="en-US" sz="7746">
                  <a:solidFill>
                    <a:srgbClr val="CA9BA0"/>
                  </a:solidFill>
                  <a:latin typeface="Bungee"/>
                  <a:ea typeface="Bungee"/>
                  <a:cs typeface="Bungee"/>
                  <a:sym typeface="Bungee"/>
                </a:rPr>
                <a:t>GROUP 16 : 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668256"/>
              <a:ext cx="21271794" cy="48537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770"/>
                </a:lnSpc>
              </a:pPr>
              <a:r>
                <a:rPr lang="en-US" sz="13731">
                  <a:solidFill>
                    <a:srgbClr val="481F21"/>
                  </a:solidFill>
                  <a:latin typeface="Bungee"/>
                  <a:ea typeface="Bungee"/>
                  <a:cs typeface="Bungee"/>
                  <a:sym typeface="Bungee"/>
                </a:rPr>
                <a:t>TRAITS &amp; POLYMORPHISM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-4325801" y="7358713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91228" y="0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3676474" y="-4445914"/>
            <a:ext cx="7477754" cy="7019741"/>
          </a:xfrm>
          <a:custGeom>
            <a:avLst/>
            <a:gdLst/>
            <a:ahLst/>
            <a:cxnLst/>
            <a:rect r="r" b="b" t="t" l="l"/>
            <a:pathLst>
              <a:path h="7019741" w="7477754">
                <a:moveTo>
                  <a:pt x="0" y="0"/>
                </a:moveTo>
                <a:lnTo>
                  <a:pt x="7477753" y="0"/>
                </a:lnTo>
                <a:lnTo>
                  <a:pt x="7477753" y="7019742"/>
                </a:lnTo>
                <a:lnTo>
                  <a:pt x="0" y="7019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67373">
            <a:off x="-1216300" y="4954468"/>
            <a:ext cx="6546861" cy="6758050"/>
          </a:xfrm>
          <a:custGeom>
            <a:avLst/>
            <a:gdLst/>
            <a:ahLst/>
            <a:cxnLst/>
            <a:rect r="r" b="b" t="t" l="l"/>
            <a:pathLst>
              <a:path h="6758050" w="6546861">
                <a:moveTo>
                  <a:pt x="0" y="0"/>
                </a:moveTo>
                <a:lnTo>
                  <a:pt x="6546862" y="0"/>
                </a:lnTo>
                <a:lnTo>
                  <a:pt x="6546862" y="6758050"/>
                </a:lnTo>
                <a:lnTo>
                  <a:pt x="0" y="67580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338259">
            <a:off x="16899470" y="1374742"/>
            <a:ext cx="2381637" cy="2411784"/>
          </a:xfrm>
          <a:custGeom>
            <a:avLst/>
            <a:gdLst/>
            <a:ahLst/>
            <a:cxnLst/>
            <a:rect r="r" b="b" t="t" l="l"/>
            <a:pathLst>
              <a:path h="2411784" w="2381637">
                <a:moveTo>
                  <a:pt x="0" y="0"/>
                </a:moveTo>
                <a:lnTo>
                  <a:pt x="2381637" y="0"/>
                </a:lnTo>
                <a:lnTo>
                  <a:pt x="2381637" y="2411784"/>
                </a:lnTo>
                <a:lnTo>
                  <a:pt x="0" y="24117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6569556">
            <a:off x="-1095654" y="3000770"/>
            <a:ext cx="2537229" cy="2823065"/>
          </a:xfrm>
          <a:custGeom>
            <a:avLst/>
            <a:gdLst/>
            <a:ahLst/>
            <a:cxnLst/>
            <a:rect r="r" b="b" t="t" l="l"/>
            <a:pathLst>
              <a:path h="2823065" w="2537229">
                <a:moveTo>
                  <a:pt x="0" y="0"/>
                </a:moveTo>
                <a:lnTo>
                  <a:pt x="2537229" y="0"/>
                </a:lnTo>
                <a:lnTo>
                  <a:pt x="2537229" y="2823064"/>
                </a:lnTo>
                <a:lnTo>
                  <a:pt x="0" y="28230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430182" y="4412302"/>
            <a:ext cx="5669303" cy="750426"/>
            <a:chOff x="0" y="0"/>
            <a:chExt cx="1493150" cy="1976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93150" cy="197643"/>
            </a:xfrm>
            <a:custGeom>
              <a:avLst/>
              <a:gdLst/>
              <a:ahLst/>
              <a:cxnLst/>
              <a:rect r="r" b="b" t="t" l="l"/>
              <a:pathLst>
                <a:path h="197643" w="1493150">
                  <a:moveTo>
                    <a:pt x="0" y="0"/>
                  </a:moveTo>
                  <a:lnTo>
                    <a:pt x="1493150" y="0"/>
                  </a:lnTo>
                  <a:lnTo>
                    <a:pt x="1493150" y="197643"/>
                  </a:lnTo>
                  <a:lnTo>
                    <a:pt x="0" y="197643"/>
                  </a:lnTo>
                  <a:close/>
                </a:path>
              </a:pathLst>
            </a:custGeom>
            <a:solidFill>
              <a:srgbClr val="8E0E17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93150" cy="235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36678" y="5864923"/>
            <a:ext cx="5670383" cy="750426"/>
            <a:chOff x="0" y="0"/>
            <a:chExt cx="1493434" cy="1976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93434" cy="197643"/>
            </a:xfrm>
            <a:custGeom>
              <a:avLst/>
              <a:gdLst/>
              <a:ahLst/>
              <a:cxnLst/>
              <a:rect r="r" b="b" t="t" l="l"/>
              <a:pathLst>
                <a:path h="197643" w="1493434">
                  <a:moveTo>
                    <a:pt x="0" y="0"/>
                  </a:moveTo>
                  <a:lnTo>
                    <a:pt x="1493434" y="0"/>
                  </a:lnTo>
                  <a:lnTo>
                    <a:pt x="1493434" y="197643"/>
                  </a:lnTo>
                  <a:lnTo>
                    <a:pt x="0" y="197643"/>
                  </a:lnTo>
                  <a:close/>
                </a:path>
              </a:pathLst>
            </a:custGeom>
            <a:solidFill>
              <a:srgbClr val="8E0E17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93434" cy="235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30182" y="7564347"/>
            <a:ext cx="5669303" cy="750426"/>
            <a:chOff x="0" y="0"/>
            <a:chExt cx="1493150" cy="1976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93150" cy="197643"/>
            </a:xfrm>
            <a:custGeom>
              <a:avLst/>
              <a:gdLst/>
              <a:ahLst/>
              <a:cxnLst/>
              <a:rect r="r" b="b" t="t" l="l"/>
              <a:pathLst>
                <a:path h="197643" w="1493150">
                  <a:moveTo>
                    <a:pt x="0" y="0"/>
                  </a:moveTo>
                  <a:lnTo>
                    <a:pt x="1493150" y="0"/>
                  </a:lnTo>
                  <a:lnTo>
                    <a:pt x="1493150" y="197643"/>
                  </a:lnTo>
                  <a:lnTo>
                    <a:pt x="0" y="197643"/>
                  </a:lnTo>
                  <a:close/>
                </a:path>
              </a:pathLst>
            </a:custGeom>
            <a:solidFill>
              <a:srgbClr val="8E0E17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93150" cy="235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455054">
            <a:off x="14753505" y="1553117"/>
            <a:ext cx="2300774" cy="1610541"/>
          </a:xfrm>
          <a:custGeom>
            <a:avLst/>
            <a:gdLst/>
            <a:ahLst/>
            <a:cxnLst/>
            <a:rect r="r" b="b" t="t" l="l"/>
            <a:pathLst>
              <a:path h="1610541" w="2300774">
                <a:moveTo>
                  <a:pt x="0" y="0"/>
                </a:moveTo>
                <a:lnTo>
                  <a:pt x="2300773" y="0"/>
                </a:lnTo>
                <a:lnTo>
                  <a:pt x="2300773" y="1610541"/>
                </a:lnTo>
                <a:lnTo>
                  <a:pt x="0" y="16105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-456000">
            <a:off x="269357" y="3118889"/>
            <a:ext cx="2300774" cy="1610541"/>
          </a:xfrm>
          <a:custGeom>
            <a:avLst/>
            <a:gdLst/>
            <a:ahLst/>
            <a:cxnLst/>
            <a:rect r="r" b="b" t="t" l="l"/>
            <a:pathLst>
              <a:path h="1610541" w="2300774">
                <a:moveTo>
                  <a:pt x="2300774" y="0"/>
                </a:moveTo>
                <a:lnTo>
                  <a:pt x="0" y="0"/>
                </a:lnTo>
                <a:lnTo>
                  <a:pt x="0" y="1610542"/>
                </a:lnTo>
                <a:lnTo>
                  <a:pt x="2300774" y="1610542"/>
                </a:lnTo>
                <a:lnTo>
                  <a:pt x="2300774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28700" y="1759391"/>
            <a:ext cx="598997" cy="598997"/>
          </a:xfrm>
          <a:custGeom>
            <a:avLst/>
            <a:gdLst/>
            <a:ahLst/>
            <a:cxnLst/>
            <a:rect r="r" b="b" t="t" l="l"/>
            <a:pathLst>
              <a:path h="598997" w="598997">
                <a:moveTo>
                  <a:pt x="0" y="0"/>
                </a:moveTo>
                <a:lnTo>
                  <a:pt x="598997" y="0"/>
                </a:lnTo>
                <a:lnTo>
                  <a:pt x="598997" y="598997"/>
                </a:lnTo>
                <a:lnTo>
                  <a:pt x="0" y="5989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363252" y="1239518"/>
            <a:ext cx="598997" cy="598997"/>
          </a:xfrm>
          <a:custGeom>
            <a:avLst/>
            <a:gdLst/>
            <a:ahLst/>
            <a:cxnLst/>
            <a:rect r="r" b="b" t="t" l="l"/>
            <a:pathLst>
              <a:path h="598997" w="598997">
                <a:moveTo>
                  <a:pt x="0" y="0"/>
                </a:moveTo>
                <a:lnTo>
                  <a:pt x="598997" y="0"/>
                </a:lnTo>
                <a:lnTo>
                  <a:pt x="598997" y="598997"/>
                </a:lnTo>
                <a:lnTo>
                  <a:pt x="0" y="5989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663588" y="4518518"/>
            <a:ext cx="544490" cy="544490"/>
          </a:xfrm>
          <a:custGeom>
            <a:avLst/>
            <a:gdLst/>
            <a:ahLst/>
            <a:cxnLst/>
            <a:rect r="r" b="b" t="t" l="l"/>
            <a:pathLst>
              <a:path h="544490" w="544490">
                <a:moveTo>
                  <a:pt x="0" y="0"/>
                </a:moveTo>
                <a:lnTo>
                  <a:pt x="544490" y="0"/>
                </a:lnTo>
                <a:lnTo>
                  <a:pt x="544490" y="544490"/>
                </a:lnTo>
                <a:lnTo>
                  <a:pt x="0" y="54449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663588" y="5964643"/>
            <a:ext cx="544490" cy="544490"/>
          </a:xfrm>
          <a:custGeom>
            <a:avLst/>
            <a:gdLst/>
            <a:ahLst/>
            <a:cxnLst/>
            <a:rect r="r" b="b" t="t" l="l"/>
            <a:pathLst>
              <a:path h="544490" w="544490">
                <a:moveTo>
                  <a:pt x="0" y="0"/>
                </a:moveTo>
                <a:lnTo>
                  <a:pt x="544490" y="0"/>
                </a:lnTo>
                <a:lnTo>
                  <a:pt x="544490" y="544490"/>
                </a:lnTo>
                <a:lnTo>
                  <a:pt x="0" y="54449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979524" y="2046481"/>
            <a:ext cx="12626969" cy="193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24"/>
              </a:lnSpc>
            </a:pPr>
            <a:r>
              <a:rPr lang="en-US" sz="13252">
                <a:solidFill>
                  <a:srgbClr val="8E0E17"/>
                </a:solidFill>
                <a:latin typeface="Bungee"/>
                <a:ea typeface="Bungee"/>
                <a:cs typeface="Bungee"/>
                <a:sym typeface="Bungee"/>
              </a:rPr>
              <a:t>MEM</a:t>
            </a:r>
            <a:r>
              <a:rPr lang="en-US" sz="13252">
                <a:solidFill>
                  <a:srgbClr val="8E0E17"/>
                </a:solidFill>
                <a:latin typeface="Bungee"/>
                <a:ea typeface="Bungee"/>
                <a:cs typeface="Bungee"/>
                <a:sym typeface="Bungee"/>
              </a:rPr>
              <a:t>BER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257924" y="4541770"/>
            <a:ext cx="6012739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นพรัตน์ นรนิล [670710627]</a:t>
            </a: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36678" y="5994391"/>
            <a:ext cx="5670383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ปริยากร คาวิน</a:t>
            </a: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[670710629]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02415" y="7693815"/>
            <a:ext cx="4792535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000">
                <a:solidFill>
                  <a:srgbClr val="F6F3F4"/>
                </a:solidFill>
                <a:latin typeface="DM Sans"/>
                <a:ea typeface="DM Sans"/>
                <a:cs typeface="DM Sans"/>
                <a:sym typeface="DM Sans"/>
              </a:rPr>
              <a:t>พิชญธิดา รักดี</a:t>
            </a:r>
            <a:r>
              <a:rPr lang="en-US" sz="3000">
                <a:solidFill>
                  <a:srgbClr val="F6F3F4"/>
                </a:solidFill>
                <a:latin typeface="DM Sans"/>
                <a:ea typeface="DM Sans"/>
                <a:cs typeface="DM Sans"/>
                <a:sym typeface="DM Sans"/>
              </a:rPr>
              <a:t> [</a:t>
            </a:r>
            <a:r>
              <a:rPr lang="en-US" sz="3000">
                <a:solidFill>
                  <a:srgbClr val="F6F3F4"/>
                </a:solidFill>
                <a:latin typeface="DM Sans"/>
                <a:ea typeface="DM Sans"/>
                <a:cs typeface="DM Sans"/>
                <a:sym typeface="DM Sans"/>
              </a:rPr>
              <a:t>670710630]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323618" y="5143678"/>
            <a:ext cx="4050487" cy="330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206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Concept + Short Code Illustration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105432" y="6660107"/>
            <a:ext cx="427624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Rust vs Other Language + PPL Analysis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994959" y="8359531"/>
            <a:ext cx="480744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</a:t>
            </a: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ercises + Common Mistakes + Challenge 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-3399307" y="-5142846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3300550" y="747336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5663588" y="7667315"/>
            <a:ext cx="544490" cy="544490"/>
          </a:xfrm>
          <a:custGeom>
            <a:avLst/>
            <a:gdLst/>
            <a:ahLst/>
            <a:cxnLst/>
            <a:rect r="r" b="b" t="t" l="l"/>
            <a:pathLst>
              <a:path h="544490" w="544490">
                <a:moveTo>
                  <a:pt x="0" y="0"/>
                </a:moveTo>
                <a:lnTo>
                  <a:pt x="544490" y="0"/>
                </a:lnTo>
                <a:lnTo>
                  <a:pt x="544490" y="544490"/>
                </a:lnTo>
                <a:lnTo>
                  <a:pt x="0" y="54449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68888"/>
            <a:ext cx="16230600" cy="0"/>
          </a:xfrm>
          <a:prstGeom prst="line">
            <a:avLst/>
          </a:prstGeom>
          <a:ln cap="flat" w="38100">
            <a:solidFill>
              <a:srgbClr val="664A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67730" y="9239250"/>
            <a:ext cx="16230600" cy="0"/>
          </a:xfrm>
          <a:prstGeom prst="line">
            <a:avLst/>
          </a:prstGeom>
          <a:ln cap="flat" w="38100">
            <a:solidFill>
              <a:srgbClr val="664A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5961735" y="6965298"/>
            <a:ext cx="6364530" cy="655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9"/>
              </a:lnSpc>
            </a:pPr>
            <a:r>
              <a:rPr lang="en-US" sz="4416">
                <a:solidFill>
                  <a:srgbClr val="664A3E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PART 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99646" y="9572625"/>
            <a:ext cx="94532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>
                <a:solidFill>
                  <a:srgbClr val="664A3E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517321 PRINCIPLES OF PROGRAMMING LANGUAGES​</a:t>
            </a:r>
          </a:p>
          <a:p>
            <a:pPr algn="r">
              <a:lnSpc>
                <a:spcPts val="28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98418" y="675418"/>
            <a:ext cx="6493962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64A3E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RUST TUTORIAL PRESENTATION​</a:t>
            </a:r>
          </a:p>
          <a:p>
            <a:pPr algn="l">
              <a:lnSpc>
                <a:spcPts val="28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020895" y="3085243"/>
            <a:ext cx="13367062" cy="383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98"/>
              </a:lnSpc>
            </a:pPr>
            <a:r>
              <a:rPr lang="en-US" sz="14622">
                <a:solidFill>
                  <a:srgbClr val="8E0E17"/>
                </a:solidFill>
                <a:latin typeface="Bungee"/>
                <a:ea typeface="Bungee"/>
                <a:cs typeface="Bungee"/>
                <a:sym typeface="Bungee"/>
              </a:rPr>
              <a:t> </a:t>
            </a:r>
            <a:r>
              <a:rPr lang="en-US" sz="14622">
                <a:solidFill>
                  <a:srgbClr val="8E0E17"/>
                </a:solidFill>
                <a:latin typeface="Bungee"/>
                <a:ea typeface="Bungee"/>
                <a:cs typeface="Bungee"/>
                <a:sym typeface="Bungee"/>
              </a:rPr>
              <a:t>c</a:t>
            </a:r>
            <a:r>
              <a:rPr lang="en-US" sz="14622">
                <a:solidFill>
                  <a:srgbClr val="8E0E17"/>
                </a:solidFill>
                <a:latin typeface="Bungee"/>
                <a:ea typeface="Bungee"/>
                <a:cs typeface="Bungee"/>
                <a:sym typeface="Bungee"/>
              </a:rPr>
              <a:t>ONCEPT &amp; SHORT CODE</a:t>
            </a:r>
          </a:p>
        </p:txBody>
      </p:sp>
      <p:grpSp>
        <p:nvGrpSpPr>
          <p:cNvPr name="Group 8" id="8"/>
          <p:cNvGrpSpPr/>
          <p:nvPr/>
        </p:nvGrpSpPr>
        <p:grpSpPr>
          <a:xfrm rot="5400000">
            <a:off x="-8629650" y="6695084"/>
            <a:ext cx="18288000" cy="1028700"/>
            <a:chOff x="0" y="0"/>
            <a:chExt cx="4816593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C101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816593" cy="318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2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5400000">
            <a:off x="8715968" y="6524193"/>
            <a:ext cx="18288000" cy="1028700"/>
            <a:chOff x="0" y="0"/>
            <a:chExt cx="4816593" cy="270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C101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816593" cy="318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091228" y="0"/>
            <a:ext cx="20696420" cy="10766835"/>
            <a:chOff x="0" y="0"/>
            <a:chExt cx="27595227" cy="143557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27806" y="8725066"/>
            <a:ext cx="6978212" cy="6978212"/>
          </a:xfrm>
          <a:custGeom>
            <a:avLst/>
            <a:gdLst/>
            <a:ahLst/>
            <a:cxnLst/>
            <a:rect r="r" b="b" t="t" l="l"/>
            <a:pathLst>
              <a:path h="6978212" w="6978212">
                <a:moveTo>
                  <a:pt x="0" y="0"/>
                </a:moveTo>
                <a:lnTo>
                  <a:pt x="6978212" y="0"/>
                </a:lnTo>
                <a:lnTo>
                  <a:pt x="6978212" y="6978212"/>
                </a:lnTo>
                <a:lnTo>
                  <a:pt x="0" y="697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04210" y="-239917"/>
            <a:ext cx="20696420" cy="10766835"/>
            <a:chOff x="0" y="0"/>
            <a:chExt cx="27595227" cy="143557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685259" y="3144644"/>
            <a:ext cx="5480400" cy="6743710"/>
            <a:chOff x="0" y="0"/>
            <a:chExt cx="1036136" cy="12749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6136" cy="1274980"/>
            </a:xfrm>
            <a:custGeom>
              <a:avLst/>
              <a:gdLst/>
              <a:ahLst/>
              <a:cxnLst/>
              <a:rect r="r" b="b" t="t" l="l"/>
              <a:pathLst>
                <a:path h="1274980" w="1036136">
                  <a:moveTo>
                    <a:pt x="77696" y="0"/>
                  </a:moveTo>
                  <a:lnTo>
                    <a:pt x="958440" y="0"/>
                  </a:lnTo>
                  <a:cubicBezTo>
                    <a:pt x="1001351" y="0"/>
                    <a:pt x="1036136" y="34786"/>
                    <a:pt x="1036136" y="77696"/>
                  </a:cubicBezTo>
                  <a:lnTo>
                    <a:pt x="1036136" y="1197284"/>
                  </a:lnTo>
                  <a:cubicBezTo>
                    <a:pt x="1036136" y="1240195"/>
                    <a:pt x="1001351" y="1274980"/>
                    <a:pt x="958440" y="1274980"/>
                  </a:cubicBezTo>
                  <a:lnTo>
                    <a:pt x="77696" y="1274980"/>
                  </a:lnTo>
                  <a:cubicBezTo>
                    <a:pt x="34786" y="1274980"/>
                    <a:pt x="0" y="1240195"/>
                    <a:pt x="0" y="1197284"/>
                  </a:cubicBezTo>
                  <a:lnTo>
                    <a:pt x="0" y="77696"/>
                  </a:lnTo>
                  <a:cubicBezTo>
                    <a:pt x="0" y="34786"/>
                    <a:pt x="34786" y="0"/>
                    <a:pt x="77696" y="0"/>
                  </a:cubicBezTo>
                  <a:close/>
                </a:path>
              </a:pathLst>
            </a:custGeom>
            <a:blipFill>
              <a:blip r:embed="rId5"/>
              <a:stretch>
                <a:fillRect l="-3948" t="0" r="-803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33226" y="3800431"/>
            <a:ext cx="9490956" cy="1672303"/>
            <a:chOff x="0" y="0"/>
            <a:chExt cx="2499676" cy="4404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99676" cy="440442"/>
            </a:xfrm>
            <a:custGeom>
              <a:avLst/>
              <a:gdLst/>
              <a:ahLst/>
              <a:cxnLst/>
              <a:rect r="r" b="b" t="t" l="l"/>
              <a:pathLst>
                <a:path h="440442" w="2499676">
                  <a:moveTo>
                    <a:pt x="0" y="0"/>
                  </a:moveTo>
                  <a:lnTo>
                    <a:pt x="2499676" y="0"/>
                  </a:lnTo>
                  <a:lnTo>
                    <a:pt x="2499676" y="440442"/>
                  </a:lnTo>
                  <a:lnTo>
                    <a:pt x="0" y="440442"/>
                  </a:lnTo>
                  <a:close/>
                </a:path>
              </a:pathLst>
            </a:custGeom>
            <a:solidFill>
              <a:srgbClr val="F2EAEA"/>
            </a:solidFill>
            <a:ln w="38100" cap="sq">
              <a:solidFill>
                <a:srgbClr val="5C373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99676" cy="47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3226" y="5748959"/>
            <a:ext cx="9490956" cy="1696357"/>
            <a:chOff x="0" y="0"/>
            <a:chExt cx="2499676" cy="4467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99676" cy="446777"/>
            </a:xfrm>
            <a:custGeom>
              <a:avLst/>
              <a:gdLst/>
              <a:ahLst/>
              <a:cxnLst/>
              <a:rect r="r" b="b" t="t" l="l"/>
              <a:pathLst>
                <a:path h="446777" w="2499676">
                  <a:moveTo>
                    <a:pt x="0" y="0"/>
                  </a:moveTo>
                  <a:lnTo>
                    <a:pt x="2499676" y="0"/>
                  </a:lnTo>
                  <a:lnTo>
                    <a:pt x="2499676" y="446777"/>
                  </a:lnTo>
                  <a:lnTo>
                    <a:pt x="0" y="446777"/>
                  </a:lnTo>
                  <a:close/>
                </a:path>
              </a:pathLst>
            </a:custGeom>
            <a:solidFill>
              <a:srgbClr val="F2EAEA"/>
            </a:solidFill>
            <a:ln w="38100" cap="sq">
              <a:solidFill>
                <a:srgbClr val="5C373A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499676" cy="484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33226" y="7746265"/>
            <a:ext cx="9406874" cy="978801"/>
            <a:chOff x="0" y="0"/>
            <a:chExt cx="2477531" cy="2577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77531" cy="257791"/>
            </a:xfrm>
            <a:custGeom>
              <a:avLst/>
              <a:gdLst/>
              <a:ahLst/>
              <a:cxnLst/>
              <a:rect r="r" b="b" t="t" l="l"/>
              <a:pathLst>
                <a:path h="257791" w="2477531">
                  <a:moveTo>
                    <a:pt x="0" y="0"/>
                  </a:moveTo>
                  <a:lnTo>
                    <a:pt x="2477531" y="0"/>
                  </a:lnTo>
                  <a:lnTo>
                    <a:pt x="2477531" y="257791"/>
                  </a:lnTo>
                  <a:lnTo>
                    <a:pt x="0" y="257791"/>
                  </a:lnTo>
                  <a:close/>
                </a:path>
              </a:pathLst>
            </a:custGeom>
            <a:solidFill>
              <a:srgbClr val="F2EAEA"/>
            </a:solidFill>
            <a:ln w="38100" cap="sq">
              <a:solidFill>
                <a:srgbClr val="5C373A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477531" cy="295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4812090" y="-3833568"/>
            <a:ext cx="6978212" cy="6978212"/>
          </a:xfrm>
          <a:custGeom>
            <a:avLst/>
            <a:gdLst/>
            <a:ahLst/>
            <a:cxnLst/>
            <a:rect r="r" b="b" t="t" l="l"/>
            <a:pathLst>
              <a:path h="6978212" w="6978212">
                <a:moveTo>
                  <a:pt x="0" y="0"/>
                </a:moveTo>
                <a:lnTo>
                  <a:pt x="6978212" y="0"/>
                </a:lnTo>
                <a:lnTo>
                  <a:pt x="6978212" y="6978212"/>
                </a:lnTo>
                <a:lnTo>
                  <a:pt x="0" y="697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2606735">
            <a:off x="-30581" y="8903114"/>
            <a:ext cx="3142059" cy="3247607"/>
          </a:xfrm>
          <a:custGeom>
            <a:avLst/>
            <a:gdLst/>
            <a:ahLst/>
            <a:cxnLst/>
            <a:rect r="r" b="b" t="t" l="l"/>
            <a:pathLst>
              <a:path h="3247607" w="3142059">
                <a:moveTo>
                  <a:pt x="0" y="0"/>
                </a:moveTo>
                <a:lnTo>
                  <a:pt x="3142059" y="0"/>
                </a:lnTo>
                <a:lnTo>
                  <a:pt x="3142059" y="3247607"/>
                </a:lnTo>
                <a:lnTo>
                  <a:pt x="0" y="32476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77319" y="3914587"/>
            <a:ext cx="9202772" cy="142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3780"/>
              </a:lnSpc>
              <a:buFont typeface="Arial"/>
              <a:buChar char="•"/>
            </a:pPr>
            <a:r>
              <a:rPr lang="en-US" b="true" sz="3000">
                <a:solidFill>
                  <a:srgbClr val="481F21"/>
                </a:solidFill>
                <a:latin typeface="DM Sans Bold"/>
                <a:ea typeface="DM Sans Bold"/>
                <a:cs typeface="DM Sans Bold"/>
                <a:sym typeface="DM Sans Bold"/>
              </a:rPr>
              <a:t>Polymorphism </a:t>
            </a:r>
            <a:r>
              <a:rPr lang="en-US" sz="3000">
                <a:solidFill>
                  <a:srgbClr val="481F21"/>
                </a:solidFill>
                <a:latin typeface="DM Sans"/>
                <a:ea typeface="DM Sans"/>
                <a:cs typeface="DM Sans"/>
                <a:sym typeface="DM Sans"/>
              </a:rPr>
              <a:t>คือ การใช้ interface เดียวกันกับหลาย Type โดยแต่ละ Type สามารถมีพฤติกรรมแตกต่างกันได้โดย Rust ใช้ Trait สำหรับทำ Polymorphism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2357" y="5880022"/>
            <a:ext cx="9202772" cy="142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3780"/>
              </a:lnSpc>
              <a:buFont typeface="Arial"/>
              <a:buChar char="•"/>
            </a:pPr>
            <a:r>
              <a:rPr lang="en-US" sz="3000">
                <a:solidFill>
                  <a:srgbClr val="481F21"/>
                </a:solidFill>
                <a:latin typeface="DM Sans"/>
                <a:ea typeface="DM Sans"/>
                <a:cs typeface="DM Sans"/>
                <a:sym typeface="DM Sans"/>
              </a:rPr>
              <a:t>เหตุผลที่ Rust ออกแบบแนวคิดนี้ คือ ทำให้ ผู้เรียกใช้(caller) ไม่ต้องรู้ว่าเรียก Type ไหน และ เพิ่ม Type ใหม่ได้ง่าย โดยไม่ต้องเเก้ไขโค้ดเดิม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7988280"/>
            <a:ext cx="9184987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3780"/>
              </a:lnSpc>
              <a:buFont typeface="Arial"/>
              <a:buChar char="•"/>
            </a:pPr>
            <a:r>
              <a:rPr lang="en-US" sz="3000">
                <a:solidFill>
                  <a:srgbClr val="481F21"/>
                </a:solidFill>
                <a:latin typeface="DM Sans"/>
                <a:ea typeface="DM Sans"/>
                <a:cs typeface="DM Sans"/>
                <a:sym typeface="DM Sans"/>
              </a:rPr>
              <a:t>ช่วยลด การเขียนโค้ดซ้ำ และทำให้ขยายโปรแกรมได้ง่าย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4510060" y="7752770"/>
            <a:ext cx="3777940" cy="2135584"/>
            <a:chOff x="0" y="0"/>
            <a:chExt cx="5037253" cy="284744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5037253" cy="899152"/>
              <a:chOff x="0" y="0"/>
              <a:chExt cx="995013" cy="17761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95013" cy="177610"/>
              </a:xfrm>
              <a:custGeom>
                <a:avLst/>
                <a:gdLst/>
                <a:ahLst/>
                <a:cxnLst/>
                <a:rect r="r" b="b" t="t" l="l"/>
                <a:pathLst>
                  <a:path h="177610" w="995013">
                    <a:moveTo>
                      <a:pt x="0" y="0"/>
                    </a:moveTo>
                    <a:lnTo>
                      <a:pt x="995013" y="0"/>
                    </a:lnTo>
                    <a:lnTo>
                      <a:pt x="995013" y="177610"/>
                    </a:lnTo>
                    <a:lnTo>
                      <a:pt x="0" y="177610"/>
                    </a:lnTo>
                    <a:close/>
                  </a:path>
                </a:pathLst>
              </a:custGeom>
              <a:solidFill>
                <a:srgbClr val="B87E82"/>
              </a:solidFill>
              <a:ln w="38100" cap="sq">
                <a:solidFill>
                  <a:srgbClr val="000000"/>
                </a:solidFill>
                <a:prstDash val="sysDot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995013" cy="2252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899152"/>
              <a:ext cx="5037253" cy="1948293"/>
              <a:chOff x="0" y="0"/>
              <a:chExt cx="995013" cy="384848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995013" cy="384848"/>
              </a:xfrm>
              <a:custGeom>
                <a:avLst/>
                <a:gdLst/>
                <a:ahLst/>
                <a:cxnLst/>
                <a:rect r="r" b="b" t="t" l="l"/>
                <a:pathLst>
                  <a:path h="384848" w="995013">
                    <a:moveTo>
                      <a:pt x="0" y="0"/>
                    </a:moveTo>
                    <a:lnTo>
                      <a:pt x="995013" y="0"/>
                    </a:lnTo>
                    <a:lnTo>
                      <a:pt x="995013" y="384848"/>
                    </a:lnTo>
                    <a:lnTo>
                      <a:pt x="0" y="384848"/>
                    </a:lnTo>
                    <a:close/>
                  </a:path>
                </a:pathLst>
              </a:custGeom>
              <a:solidFill>
                <a:srgbClr val="F2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995013" cy="422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0" y="899152"/>
              <a:ext cx="5037253" cy="1948293"/>
            </a:xfrm>
            <a:custGeom>
              <a:avLst/>
              <a:gdLst/>
              <a:ahLst/>
              <a:cxnLst/>
              <a:rect r="r" b="b" t="t" l="l"/>
              <a:pathLst>
                <a:path h="1948293" w="5037253">
                  <a:moveTo>
                    <a:pt x="0" y="0"/>
                  </a:moveTo>
                  <a:lnTo>
                    <a:pt x="5037253" y="0"/>
                  </a:lnTo>
                  <a:lnTo>
                    <a:pt x="5037253" y="1948293"/>
                  </a:lnTo>
                  <a:lnTo>
                    <a:pt x="0" y="1948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553" t="-30180" r="-184574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0" y="78130"/>
              <a:ext cx="5037253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Garuda"/>
                  <a:ea typeface="Garuda"/>
                  <a:cs typeface="Garuda"/>
                  <a:sym typeface="Garuda"/>
                </a:rPr>
                <a:t>result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14141" y="1433029"/>
            <a:ext cx="13697949" cy="164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38"/>
              </a:lnSpc>
            </a:pPr>
            <a:r>
              <a:rPr lang="en-US" sz="11223">
                <a:solidFill>
                  <a:srgbClr val="481F21"/>
                </a:solidFill>
                <a:latin typeface="Bungee"/>
                <a:ea typeface="Bungee"/>
                <a:cs typeface="Bungee"/>
                <a:sym typeface="Bungee"/>
              </a:rPr>
              <a:t>POLYMORPHISM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0" y="0"/>
            <a:ext cx="18288000" cy="1055289"/>
            <a:chOff x="0" y="0"/>
            <a:chExt cx="4816593" cy="27793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16592" cy="277936"/>
            </a:xfrm>
            <a:custGeom>
              <a:avLst/>
              <a:gdLst/>
              <a:ahLst/>
              <a:cxnLst/>
              <a:rect r="r" b="b" t="t" l="l"/>
              <a:pathLst>
                <a:path h="27793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7936"/>
                  </a:lnTo>
                  <a:lnTo>
                    <a:pt x="0" y="277936"/>
                  </a:lnTo>
                  <a:close/>
                </a:path>
              </a:pathLst>
            </a:custGeom>
            <a:solidFill>
              <a:srgbClr val="8C101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4816593" cy="325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2"/>
                </a:lnSpc>
              </a:pPr>
            </a:p>
          </p:txBody>
        </p:sp>
      </p:grp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04210" y="-239917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4634790" y="6458611"/>
            <a:ext cx="6978212" cy="6978212"/>
          </a:xfrm>
          <a:custGeom>
            <a:avLst/>
            <a:gdLst/>
            <a:ahLst/>
            <a:cxnLst/>
            <a:rect r="r" b="b" t="t" l="l"/>
            <a:pathLst>
              <a:path h="6978212" w="6978212">
                <a:moveTo>
                  <a:pt x="0" y="0"/>
                </a:moveTo>
                <a:lnTo>
                  <a:pt x="6978212" y="0"/>
                </a:lnTo>
                <a:lnTo>
                  <a:pt x="6978212" y="6978212"/>
                </a:lnTo>
                <a:lnTo>
                  <a:pt x="0" y="6978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48399" y="1483914"/>
            <a:ext cx="7217865" cy="8229600"/>
            <a:chOff x="0" y="0"/>
            <a:chExt cx="1118236" cy="12749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18236" cy="1274980"/>
            </a:xfrm>
            <a:custGeom>
              <a:avLst/>
              <a:gdLst/>
              <a:ahLst/>
              <a:cxnLst/>
              <a:rect r="r" b="b" t="t" l="l"/>
              <a:pathLst>
                <a:path h="1274980" w="1118236">
                  <a:moveTo>
                    <a:pt x="58993" y="0"/>
                  </a:moveTo>
                  <a:lnTo>
                    <a:pt x="1059243" y="0"/>
                  </a:lnTo>
                  <a:cubicBezTo>
                    <a:pt x="1091824" y="0"/>
                    <a:pt x="1118236" y="26412"/>
                    <a:pt x="1118236" y="58993"/>
                  </a:cubicBezTo>
                  <a:lnTo>
                    <a:pt x="1118236" y="1215987"/>
                  </a:lnTo>
                  <a:cubicBezTo>
                    <a:pt x="1118236" y="1231633"/>
                    <a:pt x="1112021" y="1246638"/>
                    <a:pt x="1100958" y="1257702"/>
                  </a:cubicBezTo>
                  <a:cubicBezTo>
                    <a:pt x="1089894" y="1268765"/>
                    <a:pt x="1074889" y="1274980"/>
                    <a:pt x="1059243" y="1274980"/>
                  </a:cubicBezTo>
                  <a:lnTo>
                    <a:pt x="58993" y="1274980"/>
                  </a:lnTo>
                  <a:cubicBezTo>
                    <a:pt x="43347" y="1274980"/>
                    <a:pt x="28342" y="1268765"/>
                    <a:pt x="17279" y="1257702"/>
                  </a:cubicBezTo>
                  <a:cubicBezTo>
                    <a:pt x="6215" y="1246638"/>
                    <a:pt x="0" y="1231633"/>
                    <a:pt x="0" y="1215987"/>
                  </a:cubicBezTo>
                  <a:lnTo>
                    <a:pt x="0" y="58993"/>
                  </a:lnTo>
                  <a:cubicBezTo>
                    <a:pt x="0" y="43347"/>
                    <a:pt x="6215" y="28342"/>
                    <a:pt x="17279" y="17279"/>
                  </a:cubicBezTo>
                  <a:cubicBezTo>
                    <a:pt x="28342" y="6215"/>
                    <a:pt x="43347" y="0"/>
                    <a:pt x="58993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-121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188325" y="8190508"/>
            <a:ext cx="3777940" cy="2135584"/>
            <a:chOff x="0" y="0"/>
            <a:chExt cx="5037253" cy="284744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037253" cy="899152"/>
              <a:chOff x="0" y="0"/>
              <a:chExt cx="995013" cy="17761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95013" cy="177610"/>
              </a:xfrm>
              <a:custGeom>
                <a:avLst/>
                <a:gdLst/>
                <a:ahLst/>
                <a:cxnLst/>
                <a:rect r="r" b="b" t="t" l="l"/>
                <a:pathLst>
                  <a:path h="177610" w="995013">
                    <a:moveTo>
                      <a:pt x="0" y="0"/>
                    </a:moveTo>
                    <a:lnTo>
                      <a:pt x="995013" y="0"/>
                    </a:lnTo>
                    <a:lnTo>
                      <a:pt x="995013" y="177610"/>
                    </a:lnTo>
                    <a:lnTo>
                      <a:pt x="0" y="177610"/>
                    </a:lnTo>
                    <a:close/>
                  </a:path>
                </a:pathLst>
              </a:custGeom>
              <a:solidFill>
                <a:srgbClr val="B87E82"/>
              </a:solidFill>
              <a:ln w="38100" cap="sq">
                <a:solidFill>
                  <a:srgbClr val="000000"/>
                </a:solidFill>
                <a:prstDash val="sysDot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995013" cy="2252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899152"/>
              <a:ext cx="5037253" cy="1948293"/>
              <a:chOff x="0" y="0"/>
              <a:chExt cx="995013" cy="38484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95013" cy="384848"/>
              </a:xfrm>
              <a:custGeom>
                <a:avLst/>
                <a:gdLst/>
                <a:ahLst/>
                <a:cxnLst/>
                <a:rect r="r" b="b" t="t" l="l"/>
                <a:pathLst>
                  <a:path h="384848" w="995013">
                    <a:moveTo>
                      <a:pt x="0" y="0"/>
                    </a:moveTo>
                    <a:lnTo>
                      <a:pt x="995013" y="0"/>
                    </a:lnTo>
                    <a:lnTo>
                      <a:pt x="995013" y="384848"/>
                    </a:lnTo>
                    <a:lnTo>
                      <a:pt x="0" y="384848"/>
                    </a:lnTo>
                    <a:close/>
                  </a:path>
                </a:pathLst>
              </a:custGeom>
              <a:solidFill>
                <a:srgbClr val="F2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995013" cy="422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78130"/>
              <a:ext cx="5037253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Garuda"/>
                  <a:ea typeface="Garuda"/>
                  <a:cs typeface="Garuda"/>
                  <a:sym typeface="Garuda"/>
                </a:rPr>
                <a:t>result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0" y="923368"/>
              <a:ext cx="5037253" cy="1924077"/>
            </a:xfrm>
            <a:custGeom>
              <a:avLst/>
              <a:gdLst/>
              <a:ahLst/>
              <a:cxnLst/>
              <a:rect r="r" b="b" t="t" l="l"/>
              <a:pathLst>
                <a:path h="1924077" w="5037253">
                  <a:moveTo>
                    <a:pt x="0" y="0"/>
                  </a:moveTo>
                  <a:lnTo>
                    <a:pt x="5037253" y="0"/>
                  </a:lnTo>
                  <a:lnTo>
                    <a:pt x="5037253" y="1924077"/>
                  </a:lnTo>
                  <a:lnTo>
                    <a:pt x="0" y="1924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098" r="-44776" b="-21023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035651" y="1673307"/>
            <a:ext cx="6988529" cy="1959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62"/>
              </a:lnSpc>
            </a:pPr>
            <a:r>
              <a:rPr lang="en-US" sz="13507">
                <a:solidFill>
                  <a:srgbClr val="481F21"/>
                </a:solidFill>
                <a:latin typeface="Bungee"/>
                <a:ea typeface="Bungee"/>
                <a:cs typeface="Bungee"/>
                <a:sym typeface="Bungee"/>
              </a:rPr>
              <a:t>TRAIT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622490" y="3633279"/>
            <a:ext cx="9406874" cy="6080235"/>
            <a:chOff x="0" y="0"/>
            <a:chExt cx="2477531" cy="160137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77531" cy="1601379"/>
            </a:xfrm>
            <a:custGeom>
              <a:avLst/>
              <a:gdLst/>
              <a:ahLst/>
              <a:cxnLst/>
              <a:rect r="r" b="b" t="t" l="l"/>
              <a:pathLst>
                <a:path h="1601379" w="2477531">
                  <a:moveTo>
                    <a:pt x="0" y="0"/>
                  </a:moveTo>
                  <a:lnTo>
                    <a:pt x="2477531" y="0"/>
                  </a:lnTo>
                  <a:lnTo>
                    <a:pt x="2477531" y="1601379"/>
                  </a:lnTo>
                  <a:lnTo>
                    <a:pt x="0" y="1601379"/>
                  </a:lnTo>
                  <a:close/>
                </a:path>
              </a:pathLst>
            </a:custGeom>
            <a:solidFill>
              <a:srgbClr val="F2EAEA"/>
            </a:solidFill>
            <a:ln w="38100" cap="sq">
              <a:solidFill>
                <a:srgbClr val="5C373A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477531" cy="163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008858" y="4046402"/>
            <a:ext cx="8634138" cy="523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378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Trait คือ ข้อกำหนดของพฤติกรรม โดยรวมกลุ่มของ method signature ที่เกี่ยวข้องกันไว้ด้วยกัน โดยที่ type ใดที่ implement trait นั้น ถือว่าได้ รับรอง ว่าจะมี method ตามที่ traitกำหนดไว้ครบถ้วน</a:t>
            </a:r>
          </a:p>
          <a:p>
            <a:pPr algn="l" marL="647702" indent="-323851" lvl="1">
              <a:lnSpc>
                <a:spcPts val="378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เหตุผลที่ Rust ออกแบบแนวคิดนี้ คือ rust ไม่มี class/inheritance แบบภาษาอื่น จึงต้องการกลไกที่ทำให้เกิด polymorphism</a:t>
            </a:r>
          </a:p>
          <a:p>
            <a:pPr algn="l" marL="647702" indent="-323851" lvl="1">
              <a:lnSpc>
                <a:spcPts val="378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ช่วยทำให้ rust สามารถ เกิด polymorphism</a:t>
            </a:r>
          </a:p>
          <a:p>
            <a:pPr algn="l" marL="647702" indent="-323851" lvl="1">
              <a:lnSpc>
                <a:spcPts val="378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trait แบ่งเป็น 2 แบบ</a:t>
            </a:r>
          </a:p>
          <a:p>
            <a:pPr algn="l" marL="647702" indent="-323851" lvl="1">
              <a:lnSpc>
                <a:spcPts val="378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required method (ไม่มี body)</a:t>
            </a:r>
          </a:p>
          <a:p>
            <a:pPr algn="l" marL="647702" indent="-323851" lvl="1">
              <a:lnSpc>
                <a:spcPts val="378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default method (มี implementation สำเร็จรูปให้)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4797527" y="-3175898"/>
            <a:ext cx="6978212" cy="6978212"/>
          </a:xfrm>
          <a:custGeom>
            <a:avLst/>
            <a:gdLst/>
            <a:ahLst/>
            <a:cxnLst/>
            <a:rect r="r" b="b" t="t" l="l"/>
            <a:pathLst>
              <a:path h="6978212" w="6978212">
                <a:moveTo>
                  <a:pt x="0" y="0"/>
                </a:moveTo>
                <a:lnTo>
                  <a:pt x="6978212" y="0"/>
                </a:lnTo>
                <a:lnTo>
                  <a:pt x="6978212" y="6978212"/>
                </a:lnTo>
                <a:lnTo>
                  <a:pt x="0" y="69782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0" y="0"/>
            <a:ext cx="18288000" cy="1055289"/>
            <a:chOff x="0" y="0"/>
            <a:chExt cx="4816593" cy="2779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16592" cy="277936"/>
            </a:xfrm>
            <a:custGeom>
              <a:avLst/>
              <a:gdLst/>
              <a:ahLst/>
              <a:cxnLst/>
              <a:rect r="r" b="b" t="t" l="l"/>
              <a:pathLst>
                <a:path h="27793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7936"/>
                  </a:lnTo>
                  <a:lnTo>
                    <a:pt x="0" y="277936"/>
                  </a:lnTo>
                  <a:close/>
                </a:path>
              </a:pathLst>
            </a:custGeom>
            <a:solidFill>
              <a:srgbClr val="8C101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816593" cy="325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2"/>
                </a:lnSpc>
              </a:pPr>
            </a:p>
          </p:txBody>
        </p:sp>
      </p:grp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47613" y="7779659"/>
            <a:ext cx="6978212" cy="6978212"/>
          </a:xfrm>
          <a:custGeom>
            <a:avLst/>
            <a:gdLst/>
            <a:ahLst/>
            <a:cxnLst/>
            <a:rect r="r" b="b" t="t" l="l"/>
            <a:pathLst>
              <a:path h="6978212" w="6978212">
                <a:moveTo>
                  <a:pt x="0" y="0"/>
                </a:moveTo>
                <a:lnTo>
                  <a:pt x="6978212" y="0"/>
                </a:lnTo>
                <a:lnTo>
                  <a:pt x="6978212" y="6978212"/>
                </a:lnTo>
                <a:lnTo>
                  <a:pt x="0" y="697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04210" y="-239917"/>
            <a:ext cx="20696420" cy="10766835"/>
            <a:chOff x="0" y="0"/>
            <a:chExt cx="27595227" cy="143557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35023" y="1281711"/>
            <a:ext cx="7539045" cy="8229600"/>
            <a:chOff x="0" y="0"/>
            <a:chExt cx="1167995" cy="12749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67995" cy="1274980"/>
            </a:xfrm>
            <a:custGeom>
              <a:avLst/>
              <a:gdLst/>
              <a:ahLst/>
              <a:cxnLst/>
              <a:rect r="r" b="b" t="t" l="l"/>
              <a:pathLst>
                <a:path h="1274980" w="1167995">
                  <a:moveTo>
                    <a:pt x="56480" y="0"/>
                  </a:moveTo>
                  <a:lnTo>
                    <a:pt x="1111515" y="0"/>
                  </a:lnTo>
                  <a:cubicBezTo>
                    <a:pt x="1142708" y="0"/>
                    <a:pt x="1167995" y="25287"/>
                    <a:pt x="1167995" y="56480"/>
                  </a:cubicBezTo>
                  <a:lnTo>
                    <a:pt x="1167995" y="1218500"/>
                  </a:lnTo>
                  <a:cubicBezTo>
                    <a:pt x="1167995" y="1249693"/>
                    <a:pt x="1142708" y="1274980"/>
                    <a:pt x="1111515" y="1274980"/>
                  </a:cubicBezTo>
                  <a:lnTo>
                    <a:pt x="56480" y="1274980"/>
                  </a:lnTo>
                  <a:cubicBezTo>
                    <a:pt x="25287" y="1274980"/>
                    <a:pt x="0" y="1249693"/>
                    <a:pt x="0" y="1218500"/>
                  </a:cubicBezTo>
                  <a:lnTo>
                    <a:pt x="0" y="56480"/>
                  </a:lnTo>
                  <a:cubicBezTo>
                    <a:pt x="0" y="25287"/>
                    <a:pt x="25287" y="0"/>
                    <a:pt x="56480" y="0"/>
                  </a:cubicBezTo>
                  <a:close/>
                </a:path>
              </a:pathLst>
            </a:custGeom>
            <a:blipFill>
              <a:blip r:embed="rId5"/>
              <a:stretch>
                <a:fillRect l="-1884" t="-357" r="-5551" b="-35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6321" y="4333665"/>
            <a:ext cx="9490956" cy="1386553"/>
            <a:chOff x="0" y="0"/>
            <a:chExt cx="2499676" cy="3651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99676" cy="365183"/>
            </a:xfrm>
            <a:custGeom>
              <a:avLst/>
              <a:gdLst/>
              <a:ahLst/>
              <a:cxnLst/>
              <a:rect r="r" b="b" t="t" l="l"/>
              <a:pathLst>
                <a:path h="365183" w="2499676">
                  <a:moveTo>
                    <a:pt x="0" y="0"/>
                  </a:moveTo>
                  <a:lnTo>
                    <a:pt x="2499676" y="0"/>
                  </a:lnTo>
                  <a:lnTo>
                    <a:pt x="2499676" y="365183"/>
                  </a:lnTo>
                  <a:lnTo>
                    <a:pt x="0" y="365183"/>
                  </a:lnTo>
                  <a:close/>
                </a:path>
              </a:pathLst>
            </a:custGeom>
            <a:solidFill>
              <a:srgbClr val="F2EAEA"/>
            </a:solidFill>
            <a:ln w="38100" cap="sq">
              <a:solidFill>
                <a:srgbClr val="5C373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99676" cy="403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01626" y="6017683"/>
            <a:ext cx="9490956" cy="1696357"/>
            <a:chOff x="0" y="0"/>
            <a:chExt cx="2499676" cy="4467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99676" cy="446777"/>
            </a:xfrm>
            <a:custGeom>
              <a:avLst/>
              <a:gdLst/>
              <a:ahLst/>
              <a:cxnLst/>
              <a:rect r="r" b="b" t="t" l="l"/>
              <a:pathLst>
                <a:path h="446777" w="2499676">
                  <a:moveTo>
                    <a:pt x="0" y="0"/>
                  </a:moveTo>
                  <a:lnTo>
                    <a:pt x="2499676" y="0"/>
                  </a:lnTo>
                  <a:lnTo>
                    <a:pt x="2499676" y="446777"/>
                  </a:lnTo>
                  <a:lnTo>
                    <a:pt x="0" y="446777"/>
                  </a:lnTo>
                  <a:close/>
                </a:path>
              </a:pathLst>
            </a:custGeom>
            <a:solidFill>
              <a:srgbClr val="F2EAEA"/>
            </a:solidFill>
            <a:ln w="38100" cap="sq">
              <a:solidFill>
                <a:srgbClr val="5C373A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499676" cy="484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16321" y="8009315"/>
            <a:ext cx="9406874" cy="1949043"/>
            <a:chOff x="0" y="0"/>
            <a:chExt cx="2477531" cy="5133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77531" cy="513328"/>
            </a:xfrm>
            <a:custGeom>
              <a:avLst/>
              <a:gdLst/>
              <a:ahLst/>
              <a:cxnLst/>
              <a:rect r="r" b="b" t="t" l="l"/>
              <a:pathLst>
                <a:path h="513328" w="2477531">
                  <a:moveTo>
                    <a:pt x="0" y="0"/>
                  </a:moveTo>
                  <a:lnTo>
                    <a:pt x="2477531" y="0"/>
                  </a:lnTo>
                  <a:lnTo>
                    <a:pt x="2477531" y="513328"/>
                  </a:lnTo>
                  <a:lnTo>
                    <a:pt x="0" y="513328"/>
                  </a:lnTo>
                  <a:close/>
                </a:path>
              </a:pathLst>
            </a:custGeom>
            <a:solidFill>
              <a:srgbClr val="F2EAEA"/>
            </a:solidFill>
            <a:ln w="38100" cap="sq">
              <a:solidFill>
                <a:srgbClr val="5C373A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477531" cy="551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28700" y="-4395026"/>
            <a:ext cx="6978212" cy="6978212"/>
          </a:xfrm>
          <a:custGeom>
            <a:avLst/>
            <a:gdLst/>
            <a:ahLst/>
            <a:cxnLst/>
            <a:rect r="r" b="b" t="t" l="l"/>
            <a:pathLst>
              <a:path h="6978212" w="6978212">
                <a:moveTo>
                  <a:pt x="0" y="0"/>
                </a:moveTo>
                <a:lnTo>
                  <a:pt x="6978212" y="0"/>
                </a:lnTo>
                <a:lnTo>
                  <a:pt x="6978212" y="6978213"/>
                </a:lnTo>
                <a:lnTo>
                  <a:pt x="0" y="69782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3915332" y="7856922"/>
            <a:ext cx="4187578" cy="2367143"/>
            <a:chOff x="0" y="0"/>
            <a:chExt cx="5583437" cy="3156191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5583437" cy="996646"/>
              <a:chOff x="0" y="0"/>
              <a:chExt cx="995013" cy="17761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95013" cy="177610"/>
              </a:xfrm>
              <a:custGeom>
                <a:avLst/>
                <a:gdLst/>
                <a:ahLst/>
                <a:cxnLst/>
                <a:rect r="r" b="b" t="t" l="l"/>
                <a:pathLst>
                  <a:path h="177610" w="995013">
                    <a:moveTo>
                      <a:pt x="0" y="0"/>
                    </a:moveTo>
                    <a:lnTo>
                      <a:pt x="995013" y="0"/>
                    </a:lnTo>
                    <a:lnTo>
                      <a:pt x="995013" y="177610"/>
                    </a:lnTo>
                    <a:lnTo>
                      <a:pt x="0" y="177610"/>
                    </a:lnTo>
                    <a:close/>
                  </a:path>
                </a:pathLst>
              </a:custGeom>
              <a:solidFill>
                <a:srgbClr val="B87E82"/>
              </a:solidFill>
              <a:ln w="38100" cap="sq">
                <a:solidFill>
                  <a:srgbClr val="000000"/>
                </a:solidFill>
                <a:prstDash val="sysDot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995013" cy="2252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996646"/>
              <a:ext cx="5583437" cy="2159545"/>
              <a:chOff x="0" y="0"/>
              <a:chExt cx="995013" cy="38484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95013" cy="384848"/>
              </a:xfrm>
              <a:custGeom>
                <a:avLst/>
                <a:gdLst/>
                <a:ahLst/>
                <a:cxnLst/>
                <a:rect r="r" b="b" t="t" l="l"/>
                <a:pathLst>
                  <a:path h="384848" w="995013">
                    <a:moveTo>
                      <a:pt x="0" y="0"/>
                    </a:moveTo>
                    <a:lnTo>
                      <a:pt x="995013" y="0"/>
                    </a:lnTo>
                    <a:lnTo>
                      <a:pt x="995013" y="384848"/>
                    </a:lnTo>
                    <a:lnTo>
                      <a:pt x="0" y="384848"/>
                    </a:lnTo>
                    <a:close/>
                  </a:path>
                </a:pathLst>
              </a:custGeom>
              <a:solidFill>
                <a:srgbClr val="F2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995013" cy="422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0" y="93831"/>
              <a:ext cx="5583437" cy="7423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5"/>
                </a:lnSpc>
                <a:spcBef>
                  <a:spcPct val="0"/>
                </a:spcBef>
              </a:pPr>
              <a:r>
                <a:rPr lang="en-US" sz="3325">
                  <a:solidFill>
                    <a:srgbClr val="000000"/>
                  </a:solidFill>
                  <a:latin typeface="Garuda"/>
                  <a:ea typeface="Garuda"/>
                  <a:cs typeface="Garuda"/>
                  <a:sym typeface="Garuda"/>
                </a:rPr>
                <a:t>result</a:t>
              </a:r>
            </a:p>
          </p:txBody>
        </p:sp>
        <p:sp>
          <p:nvSpPr>
            <p:cNvPr name="Freeform 26" id="26"/>
            <p:cNvSpPr/>
            <p:nvPr/>
          </p:nvSpPr>
          <p:spPr>
            <a:xfrm flipH="false" flipV="false" rot="0">
              <a:off x="0" y="1023488"/>
              <a:ext cx="5583437" cy="2132703"/>
            </a:xfrm>
            <a:custGeom>
              <a:avLst/>
              <a:gdLst/>
              <a:ahLst/>
              <a:cxnLst/>
              <a:rect r="r" b="b" t="t" l="l"/>
              <a:pathLst>
                <a:path h="2132703" w="5583437">
                  <a:moveTo>
                    <a:pt x="0" y="0"/>
                  </a:moveTo>
                  <a:lnTo>
                    <a:pt x="5583437" y="0"/>
                  </a:lnTo>
                  <a:lnTo>
                    <a:pt x="5583437" y="2132703"/>
                  </a:lnTo>
                  <a:lnTo>
                    <a:pt x="0" y="2132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098" r="-44776" b="-21023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660413" y="4447821"/>
            <a:ext cx="9202772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3780"/>
              </a:lnSpc>
              <a:buFont typeface="Arial"/>
              <a:buChar char="•"/>
            </a:pPr>
            <a:r>
              <a:rPr lang="en-US" b="true" sz="3000">
                <a:solidFill>
                  <a:srgbClr val="481F21"/>
                </a:solidFill>
                <a:latin typeface="DM Sans Bold"/>
                <a:ea typeface="DM Sans Bold"/>
                <a:cs typeface="DM Sans Bold"/>
                <a:sym typeface="DM Sans Bold"/>
              </a:rPr>
              <a:t>Trait Imp</a:t>
            </a:r>
            <a:r>
              <a:rPr lang="en-US" b="true" sz="3000">
                <a:solidFill>
                  <a:srgbClr val="481F21"/>
                </a:solidFill>
                <a:latin typeface="DM Sans Bold"/>
                <a:ea typeface="DM Sans Bold"/>
                <a:cs typeface="DM Sans Bold"/>
                <a:sym typeface="DM Sans Bold"/>
              </a:rPr>
              <a:t>lementation</a:t>
            </a:r>
            <a:r>
              <a:rPr lang="en-US" sz="3000">
                <a:solidFill>
                  <a:srgbClr val="481F21"/>
                </a:solidFill>
                <a:latin typeface="DM Sans"/>
                <a:ea typeface="DM Sans"/>
                <a:cs typeface="DM Sans"/>
                <a:sym typeface="DM Sans"/>
              </a:rPr>
              <a:t> คือขั้นตอนที่ type หนึ่ง เขียนโค้ดให้ตรงกับ contract ที่ trait กำหนดไว้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20756" y="6148746"/>
            <a:ext cx="9202772" cy="142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3780"/>
              </a:lnSpc>
              <a:buFont typeface="Arial"/>
              <a:buChar char="•"/>
            </a:pPr>
            <a:r>
              <a:rPr lang="en-US" sz="3000">
                <a:solidFill>
                  <a:srgbClr val="481F21"/>
                </a:solidFill>
                <a:latin typeface="DM Sans"/>
                <a:ea typeface="DM Sans"/>
                <a:cs typeface="DM Sans"/>
                <a:sym typeface="DM Sans"/>
              </a:rPr>
              <a:t>เหตุผลที่ Rust ออกแบบแนวคิดนี้ คือ ทำให้ Type นำ Trait ไปใช้งาน โดยใช้ impl Trait for Type เพื่อให้ใช้งานได้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01626" y="8314115"/>
            <a:ext cx="9390718" cy="142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3780"/>
              </a:lnSpc>
              <a:buFont typeface="Arial"/>
              <a:buChar char="•"/>
            </a:pPr>
            <a:r>
              <a:rPr lang="en-US" sz="3000">
                <a:solidFill>
                  <a:srgbClr val="481F21"/>
                </a:solidFill>
                <a:latin typeface="DM Sans"/>
                <a:ea typeface="DM Sans"/>
                <a:cs typeface="DM Sans"/>
                <a:sym typeface="DM Sans"/>
              </a:rPr>
              <a:t>ทำให้สามารถกำหนดพฤติกรรมร</a:t>
            </a:r>
            <a:r>
              <a:rPr lang="en-US" sz="3000">
                <a:solidFill>
                  <a:srgbClr val="481F21"/>
                </a:solidFill>
                <a:latin typeface="DM Sans"/>
                <a:ea typeface="DM Sans"/>
                <a:cs typeface="DM Sans"/>
                <a:sym typeface="DM Sans"/>
              </a:rPr>
              <a:t>่วมกันและนำกลับมาใช้ซ้ำได้ โดยแต่ละ type สามารถมี implementation ของตัวเอง และเพิ่ม type ใหม่ได้โดยไม่ต้องแก้ trait เดิม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60413" y="1841371"/>
            <a:ext cx="9774610" cy="205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7"/>
              </a:lnSpc>
            </a:pPr>
            <a:r>
              <a:rPr lang="en-US" sz="7824">
                <a:solidFill>
                  <a:srgbClr val="481F21"/>
                </a:solidFill>
                <a:latin typeface="Bungee"/>
                <a:ea typeface="Bungee"/>
                <a:cs typeface="Bungee"/>
                <a:sym typeface="Bungee"/>
              </a:rPr>
              <a:t>TRAIT</a:t>
            </a:r>
            <a:r>
              <a:rPr lang="en-US" sz="7824">
                <a:solidFill>
                  <a:srgbClr val="481F21"/>
                </a:solidFill>
                <a:latin typeface="Bungee"/>
                <a:ea typeface="Bungee"/>
                <a:cs typeface="Bungee"/>
                <a:sym typeface="Bungee"/>
              </a:rPr>
              <a:t> IMPLEMENTATION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-2828693" y="-5184467"/>
            <a:ext cx="6978212" cy="6978212"/>
          </a:xfrm>
          <a:custGeom>
            <a:avLst/>
            <a:gdLst/>
            <a:ahLst/>
            <a:cxnLst/>
            <a:rect r="r" b="b" t="t" l="l"/>
            <a:pathLst>
              <a:path h="6978212" w="6978212">
                <a:moveTo>
                  <a:pt x="0" y="0"/>
                </a:moveTo>
                <a:lnTo>
                  <a:pt x="6978212" y="0"/>
                </a:lnTo>
                <a:lnTo>
                  <a:pt x="6978212" y="6978213"/>
                </a:lnTo>
                <a:lnTo>
                  <a:pt x="0" y="69782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3882565">
            <a:off x="13191870" y="7975454"/>
            <a:ext cx="715423" cy="715423"/>
          </a:xfrm>
          <a:custGeom>
            <a:avLst/>
            <a:gdLst/>
            <a:ahLst/>
            <a:cxnLst/>
            <a:rect r="r" b="b" t="t" l="l"/>
            <a:pathLst>
              <a:path h="715423" w="715423">
                <a:moveTo>
                  <a:pt x="0" y="0"/>
                </a:moveTo>
                <a:lnTo>
                  <a:pt x="715423" y="0"/>
                </a:lnTo>
                <a:lnTo>
                  <a:pt x="715423" y="715423"/>
                </a:lnTo>
                <a:lnTo>
                  <a:pt x="0" y="7154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0" y="0"/>
            <a:ext cx="18288000" cy="1055289"/>
            <a:chOff x="0" y="0"/>
            <a:chExt cx="4816593" cy="2779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16592" cy="277936"/>
            </a:xfrm>
            <a:custGeom>
              <a:avLst/>
              <a:gdLst/>
              <a:ahLst/>
              <a:cxnLst/>
              <a:rect r="r" b="b" t="t" l="l"/>
              <a:pathLst>
                <a:path h="27793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7936"/>
                  </a:lnTo>
                  <a:lnTo>
                    <a:pt x="0" y="277936"/>
                  </a:lnTo>
                  <a:close/>
                </a:path>
              </a:pathLst>
            </a:custGeom>
            <a:solidFill>
              <a:srgbClr val="8C1019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4816593" cy="325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2"/>
                </a:lnSpc>
              </a:pPr>
            </a:p>
          </p:txBody>
        </p:sp>
      </p:grp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34118" y="-5184416"/>
            <a:ext cx="6978212" cy="6978212"/>
          </a:xfrm>
          <a:custGeom>
            <a:avLst/>
            <a:gdLst/>
            <a:ahLst/>
            <a:cxnLst/>
            <a:rect r="r" b="b" t="t" l="l"/>
            <a:pathLst>
              <a:path h="6978212" w="6978212">
                <a:moveTo>
                  <a:pt x="0" y="0"/>
                </a:moveTo>
                <a:lnTo>
                  <a:pt x="6978212" y="0"/>
                </a:lnTo>
                <a:lnTo>
                  <a:pt x="6978212" y="6978212"/>
                </a:lnTo>
                <a:lnTo>
                  <a:pt x="0" y="697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04210" y="-239917"/>
            <a:ext cx="20696420" cy="10766835"/>
            <a:chOff x="0" y="0"/>
            <a:chExt cx="27595227" cy="143557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04210" y="7487265"/>
            <a:ext cx="6978212" cy="6978212"/>
          </a:xfrm>
          <a:custGeom>
            <a:avLst/>
            <a:gdLst/>
            <a:ahLst/>
            <a:cxnLst/>
            <a:rect r="r" b="b" t="t" l="l"/>
            <a:pathLst>
              <a:path h="6978212" w="6978212">
                <a:moveTo>
                  <a:pt x="0" y="0"/>
                </a:moveTo>
                <a:lnTo>
                  <a:pt x="6978212" y="0"/>
                </a:lnTo>
                <a:lnTo>
                  <a:pt x="6978212" y="6978212"/>
                </a:lnTo>
                <a:lnTo>
                  <a:pt x="0" y="697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05777" y="1483914"/>
            <a:ext cx="6687936" cy="8229600"/>
            <a:chOff x="0" y="0"/>
            <a:chExt cx="1036136" cy="12749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6136" cy="1274980"/>
            </a:xfrm>
            <a:custGeom>
              <a:avLst/>
              <a:gdLst/>
              <a:ahLst/>
              <a:cxnLst/>
              <a:rect r="r" b="b" t="t" l="l"/>
              <a:pathLst>
                <a:path h="1274980" w="1036136">
                  <a:moveTo>
                    <a:pt x="63668" y="0"/>
                  </a:moveTo>
                  <a:lnTo>
                    <a:pt x="972469" y="0"/>
                  </a:lnTo>
                  <a:cubicBezTo>
                    <a:pt x="989354" y="0"/>
                    <a:pt x="1005548" y="6708"/>
                    <a:pt x="1017488" y="18648"/>
                  </a:cubicBezTo>
                  <a:cubicBezTo>
                    <a:pt x="1029428" y="30588"/>
                    <a:pt x="1036136" y="46782"/>
                    <a:pt x="1036136" y="63668"/>
                  </a:cubicBezTo>
                  <a:lnTo>
                    <a:pt x="1036136" y="1211313"/>
                  </a:lnTo>
                  <a:cubicBezTo>
                    <a:pt x="1036136" y="1228198"/>
                    <a:pt x="1029428" y="1244393"/>
                    <a:pt x="1017488" y="1256333"/>
                  </a:cubicBezTo>
                  <a:cubicBezTo>
                    <a:pt x="1005548" y="1268273"/>
                    <a:pt x="989354" y="1274980"/>
                    <a:pt x="972469" y="1274980"/>
                  </a:cubicBezTo>
                  <a:lnTo>
                    <a:pt x="63668" y="1274980"/>
                  </a:lnTo>
                  <a:cubicBezTo>
                    <a:pt x="46782" y="1274980"/>
                    <a:pt x="30588" y="1268273"/>
                    <a:pt x="18648" y="1256333"/>
                  </a:cubicBezTo>
                  <a:cubicBezTo>
                    <a:pt x="6708" y="1244393"/>
                    <a:pt x="0" y="1228198"/>
                    <a:pt x="0" y="1211313"/>
                  </a:cubicBezTo>
                  <a:lnTo>
                    <a:pt x="0" y="63668"/>
                  </a:lnTo>
                  <a:cubicBezTo>
                    <a:pt x="0" y="46782"/>
                    <a:pt x="6708" y="30588"/>
                    <a:pt x="18648" y="18648"/>
                  </a:cubicBezTo>
                  <a:cubicBezTo>
                    <a:pt x="30588" y="6708"/>
                    <a:pt x="46782" y="0"/>
                    <a:pt x="63668" y="0"/>
                  </a:cubicBezTo>
                  <a:close/>
                </a:path>
              </a:pathLst>
            </a:custGeom>
            <a:blipFill>
              <a:blip r:embed="rId5"/>
              <a:stretch>
                <a:fillRect l="-2214" t="0" r="-2214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622959" y="3083803"/>
            <a:ext cx="9406874" cy="6080235"/>
            <a:chOff x="0" y="0"/>
            <a:chExt cx="2477531" cy="16013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77531" cy="1601379"/>
            </a:xfrm>
            <a:custGeom>
              <a:avLst/>
              <a:gdLst/>
              <a:ahLst/>
              <a:cxnLst/>
              <a:rect r="r" b="b" t="t" l="l"/>
              <a:pathLst>
                <a:path h="1601379" w="2477531">
                  <a:moveTo>
                    <a:pt x="0" y="0"/>
                  </a:moveTo>
                  <a:lnTo>
                    <a:pt x="2477531" y="0"/>
                  </a:lnTo>
                  <a:lnTo>
                    <a:pt x="2477531" y="1601379"/>
                  </a:lnTo>
                  <a:lnTo>
                    <a:pt x="0" y="1601379"/>
                  </a:lnTo>
                  <a:close/>
                </a:path>
              </a:pathLst>
            </a:custGeom>
            <a:solidFill>
              <a:srgbClr val="F2EAEA"/>
            </a:solidFill>
            <a:ln w="38100" cap="sq">
              <a:solidFill>
                <a:srgbClr val="5C373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77531" cy="163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113169" y="7302944"/>
            <a:ext cx="3204990" cy="1811708"/>
            <a:chOff x="0" y="0"/>
            <a:chExt cx="4273320" cy="241561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273320" cy="762790"/>
              <a:chOff x="0" y="0"/>
              <a:chExt cx="995013" cy="17761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95013" cy="177610"/>
              </a:xfrm>
              <a:custGeom>
                <a:avLst/>
                <a:gdLst/>
                <a:ahLst/>
                <a:cxnLst/>
                <a:rect r="r" b="b" t="t" l="l"/>
                <a:pathLst>
                  <a:path h="177610" w="995013">
                    <a:moveTo>
                      <a:pt x="0" y="0"/>
                    </a:moveTo>
                    <a:lnTo>
                      <a:pt x="995013" y="0"/>
                    </a:lnTo>
                    <a:lnTo>
                      <a:pt x="995013" y="177610"/>
                    </a:lnTo>
                    <a:lnTo>
                      <a:pt x="0" y="177610"/>
                    </a:lnTo>
                    <a:close/>
                  </a:path>
                </a:pathLst>
              </a:custGeom>
              <a:solidFill>
                <a:srgbClr val="B87E82"/>
              </a:solidFill>
              <a:ln w="38100" cap="sq">
                <a:solidFill>
                  <a:srgbClr val="000000"/>
                </a:solidFill>
                <a:prstDash val="sysDot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995013" cy="2252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762790"/>
              <a:ext cx="4273320" cy="1652822"/>
              <a:chOff x="0" y="0"/>
              <a:chExt cx="995013" cy="38484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95013" cy="384848"/>
              </a:xfrm>
              <a:custGeom>
                <a:avLst/>
                <a:gdLst/>
                <a:ahLst/>
                <a:cxnLst/>
                <a:rect r="r" b="b" t="t" l="l"/>
                <a:pathLst>
                  <a:path h="384848" w="995013">
                    <a:moveTo>
                      <a:pt x="0" y="0"/>
                    </a:moveTo>
                    <a:lnTo>
                      <a:pt x="995013" y="0"/>
                    </a:lnTo>
                    <a:lnTo>
                      <a:pt x="995013" y="384848"/>
                    </a:lnTo>
                    <a:lnTo>
                      <a:pt x="0" y="384848"/>
                    </a:lnTo>
                    <a:close/>
                  </a:path>
                </a:pathLst>
              </a:custGeom>
              <a:solidFill>
                <a:srgbClr val="F2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995013" cy="422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75220"/>
              <a:ext cx="4273320" cy="564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3"/>
                </a:lnSpc>
                <a:spcBef>
                  <a:spcPct val="0"/>
                </a:spcBef>
              </a:pPr>
              <a:r>
                <a:rPr lang="en-US" sz="2545">
                  <a:solidFill>
                    <a:srgbClr val="000000"/>
                  </a:solidFill>
                  <a:latin typeface="Garuda"/>
                  <a:ea typeface="Garuda"/>
                  <a:cs typeface="Garuda"/>
                  <a:sym typeface="Garuda"/>
                </a:rPr>
                <a:t>result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0" y="783333"/>
              <a:ext cx="4273320" cy="1632278"/>
            </a:xfrm>
            <a:custGeom>
              <a:avLst/>
              <a:gdLst/>
              <a:ahLst/>
              <a:cxnLst/>
              <a:rect r="r" b="b" t="t" l="l"/>
              <a:pathLst>
                <a:path h="1632278" w="4273320">
                  <a:moveTo>
                    <a:pt x="0" y="0"/>
                  </a:moveTo>
                  <a:lnTo>
                    <a:pt x="4273320" y="0"/>
                  </a:lnTo>
                  <a:lnTo>
                    <a:pt x="4273320" y="1632278"/>
                  </a:lnTo>
                  <a:lnTo>
                    <a:pt x="0" y="1632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098" r="-44776" b="-21023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786374"/>
              <a:ext cx="4116800" cy="1570235"/>
            </a:xfrm>
            <a:custGeom>
              <a:avLst/>
              <a:gdLst/>
              <a:ahLst/>
              <a:cxnLst/>
              <a:rect r="r" b="b" t="t" l="l"/>
              <a:pathLst>
                <a:path h="1570235" w="4116800">
                  <a:moveTo>
                    <a:pt x="0" y="0"/>
                  </a:moveTo>
                  <a:lnTo>
                    <a:pt x="4116800" y="0"/>
                  </a:lnTo>
                  <a:lnTo>
                    <a:pt x="4116800" y="1570235"/>
                  </a:lnTo>
                  <a:lnTo>
                    <a:pt x="0" y="1570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9287" r="-44080" b="-31957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true" flipV="false" rot="-456000">
            <a:off x="302173" y="8453029"/>
            <a:ext cx="2300774" cy="1610541"/>
          </a:xfrm>
          <a:custGeom>
            <a:avLst/>
            <a:gdLst/>
            <a:ahLst/>
            <a:cxnLst/>
            <a:rect r="r" b="b" t="t" l="l"/>
            <a:pathLst>
              <a:path h="1610541" w="2300774">
                <a:moveTo>
                  <a:pt x="2300774" y="0"/>
                </a:moveTo>
                <a:lnTo>
                  <a:pt x="0" y="0"/>
                </a:lnTo>
                <a:lnTo>
                  <a:pt x="0" y="1610542"/>
                </a:lnTo>
                <a:lnTo>
                  <a:pt x="2300774" y="1610542"/>
                </a:lnTo>
                <a:lnTo>
                  <a:pt x="23007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0" y="0"/>
            <a:ext cx="18288000" cy="1055289"/>
            <a:chOff x="0" y="0"/>
            <a:chExt cx="4816593" cy="2779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16592" cy="277936"/>
            </a:xfrm>
            <a:custGeom>
              <a:avLst/>
              <a:gdLst/>
              <a:ahLst/>
              <a:cxnLst/>
              <a:rect r="r" b="b" t="t" l="l"/>
              <a:pathLst>
                <a:path h="27793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7936"/>
                  </a:lnTo>
                  <a:lnTo>
                    <a:pt x="0" y="277936"/>
                  </a:lnTo>
                  <a:close/>
                </a:path>
              </a:pathLst>
            </a:custGeom>
            <a:solidFill>
              <a:srgbClr val="8C101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816593" cy="325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2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3385620" y="5533244"/>
            <a:ext cx="1526152" cy="358646"/>
          </a:xfrm>
          <a:custGeom>
            <a:avLst/>
            <a:gdLst/>
            <a:ahLst/>
            <a:cxnLst/>
            <a:rect r="r" b="b" t="t" l="l"/>
            <a:pathLst>
              <a:path h="358646" w="1526152">
                <a:moveTo>
                  <a:pt x="0" y="0"/>
                </a:moveTo>
                <a:lnTo>
                  <a:pt x="1526152" y="0"/>
                </a:lnTo>
                <a:lnTo>
                  <a:pt x="1526152" y="358646"/>
                </a:lnTo>
                <a:lnTo>
                  <a:pt x="0" y="3586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4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6007168" y="1258805"/>
            <a:ext cx="12280832" cy="169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92"/>
              </a:lnSpc>
            </a:pPr>
            <a:r>
              <a:rPr lang="en-US" sz="11712">
                <a:solidFill>
                  <a:srgbClr val="481F21"/>
                </a:solidFill>
                <a:latin typeface="Bungee"/>
                <a:ea typeface="Bungee"/>
                <a:cs typeface="Bungee"/>
                <a:sym typeface="Bungee"/>
              </a:rPr>
              <a:t>TRAIT BOUNDS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0" y="3258801"/>
            <a:ext cx="8634138" cy="523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378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Trait Bounds</a:t>
            </a: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คือการที่เรายังไม่กำหนดว่า parameterนั้น เป็น Type อะไร แต่เรากำหนดว่า Typeนัั้น ต้อง implement traitนี้</a:t>
            </a:r>
          </a:p>
          <a:p>
            <a:pPr algn="l" marL="647702" indent="-323851" lvl="1">
              <a:lnSpc>
                <a:spcPts val="378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เหตุผลที่ Rust ออกแบบแนวคิดนี้ คือ ทำให้สามารถเรียกใช้ method ของ trait ที่กำหนดไว้ได้อย่าง</a:t>
            </a:r>
          </a:p>
          <a:p>
            <a:pPr algn="l">
              <a:lnSpc>
                <a:spcPts val="3780"/>
              </a:lnSpc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  ปลอดภัยในระหว่าง Compile Time</a:t>
            </a:r>
          </a:p>
          <a:p>
            <a:pPr algn="l" marL="647702" indent="-323851" lvl="1">
              <a:lnSpc>
                <a:spcPts val="378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ทำให้สามารถกำหนดพฤติกรรมร่วมกันและนำกลับมาใช้ซ้ำได้ โดยแต่ละ type สามารถมี implementation ของตัวเอง </a:t>
            </a:r>
          </a:p>
          <a:p>
            <a:pPr algn="l" marL="647702" indent="-323851" lvl="1">
              <a:lnSpc>
                <a:spcPts val="378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โดยใช้ T: Trait ซึ่งหมายถึง T ต้อง implement Trait นี้ ก่อนจึงจะนำมาใช้ได้</a:t>
            </a: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04210" y="-239917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1777841" y="6795274"/>
            <a:ext cx="6978212" cy="6978212"/>
          </a:xfrm>
          <a:custGeom>
            <a:avLst/>
            <a:gdLst/>
            <a:ahLst/>
            <a:cxnLst/>
            <a:rect r="r" b="b" t="t" l="l"/>
            <a:pathLst>
              <a:path h="6978212" w="6978212">
                <a:moveTo>
                  <a:pt x="0" y="0"/>
                </a:moveTo>
                <a:lnTo>
                  <a:pt x="6978212" y="0"/>
                </a:lnTo>
                <a:lnTo>
                  <a:pt x="6978212" y="6978212"/>
                </a:lnTo>
                <a:lnTo>
                  <a:pt x="0" y="6978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0"/>
            <a:ext cx="18288000" cy="1055289"/>
            <a:chOff x="0" y="0"/>
            <a:chExt cx="4816593" cy="2779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277936"/>
            </a:xfrm>
            <a:custGeom>
              <a:avLst/>
              <a:gdLst/>
              <a:ahLst/>
              <a:cxnLst/>
              <a:rect r="r" b="b" t="t" l="l"/>
              <a:pathLst>
                <a:path h="27793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7936"/>
                  </a:lnTo>
                  <a:lnTo>
                    <a:pt x="0" y="277936"/>
                  </a:lnTo>
                  <a:close/>
                </a:path>
              </a:pathLst>
            </a:custGeom>
            <a:solidFill>
              <a:srgbClr val="8C101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816593" cy="325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852426" y="3674353"/>
            <a:ext cx="9406874" cy="5064915"/>
            <a:chOff x="0" y="0"/>
            <a:chExt cx="2477531" cy="13339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77531" cy="1333969"/>
            </a:xfrm>
            <a:custGeom>
              <a:avLst/>
              <a:gdLst/>
              <a:ahLst/>
              <a:cxnLst/>
              <a:rect r="r" b="b" t="t" l="l"/>
              <a:pathLst>
                <a:path h="1333969" w="2477531">
                  <a:moveTo>
                    <a:pt x="0" y="0"/>
                  </a:moveTo>
                  <a:lnTo>
                    <a:pt x="2477531" y="0"/>
                  </a:lnTo>
                  <a:lnTo>
                    <a:pt x="2477531" y="1333969"/>
                  </a:lnTo>
                  <a:lnTo>
                    <a:pt x="0" y="1333969"/>
                  </a:lnTo>
                  <a:close/>
                </a:path>
              </a:pathLst>
            </a:custGeom>
            <a:solidFill>
              <a:srgbClr val="F2EAEA"/>
            </a:solidFill>
            <a:ln w="38100" cap="sq">
              <a:solidFill>
                <a:srgbClr val="5C373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77531" cy="1372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03470" y="2115070"/>
            <a:ext cx="6293447" cy="7744175"/>
            <a:chOff x="0" y="0"/>
            <a:chExt cx="1036136" cy="12749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6136" cy="1274980"/>
            </a:xfrm>
            <a:custGeom>
              <a:avLst/>
              <a:gdLst/>
              <a:ahLst/>
              <a:cxnLst/>
              <a:rect r="r" b="b" t="t" l="l"/>
              <a:pathLst>
                <a:path h="1274980" w="1036136">
                  <a:moveTo>
                    <a:pt x="67659" y="0"/>
                  </a:moveTo>
                  <a:lnTo>
                    <a:pt x="968478" y="0"/>
                  </a:lnTo>
                  <a:cubicBezTo>
                    <a:pt x="986422" y="0"/>
                    <a:pt x="1003631" y="7128"/>
                    <a:pt x="1016320" y="19817"/>
                  </a:cubicBezTo>
                  <a:cubicBezTo>
                    <a:pt x="1029008" y="32505"/>
                    <a:pt x="1036136" y="49714"/>
                    <a:pt x="1036136" y="67659"/>
                  </a:cubicBezTo>
                  <a:lnTo>
                    <a:pt x="1036136" y="1207322"/>
                  </a:lnTo>
                  <a:cubicBezTo>
                    <a:pt x="1036136" y="1225266"/>
                    <a:pt x="1029008" y="1242475"/>
                    <a:pt x="1016320" y="1255164"/>
                  </a:cubicBezTo>
                  <a:cubicBezTo>
                    <a:pt x="1003631" y="1267852"/>
                    <a:pt x="986422" y="1274980"/>
                    <a:pt x="968478" y="1274980"/>
                  </a:cubicBezTo>
                  <a:lnTo>
                    <a:pt x="67659" y="1274980"/>
                  </a:lnTo>
                  <a:cubicBezTo>
                    <a:pt x="49714" y="1274980"/>
                    <a:pt x="32505" y="1267852"/>
                    <a:pt x="19817" y="1255164"/>
                  </a:cubicBezTo>
                  <a:cubicBezTo>
                    <a:pt x="7128" y="1242475"/>
                    <a:pt x="0" y="1225266"/>
                    <a:pt x="0" y="1207322"/>
                  </a:cubicBezTo>
                  <a:lnTo>
                    <a:pt x="0" y="67659"/>
                  </a:lnTo>
                  <a:cubicBezTo>
                    <a:pt x="0" y="49714"/>
                    <a:pt x="7128" y="32505"/>
                    <a:pt x="19817" y="19817"/>
                  </a:cubicBezTo>
                  <a:cubicBezTo>
                    <a:pt x="32505" y="7128"/>
                    <a:pt x="49714" y="0"/>
                    <a:pt x="67659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-6642" b="-1031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332872" y="7747936"/>
            <a:ext cx="3734997" cy="2111309"/>
            <a:chOff x="0" y="0"/>
            <a:chExt cx="4979996" cy="2815079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4979996" cy="888931"/>
              <a:chOff x="0" y="0"/>
              <a:chExt cx="995013" cy="17761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95013" cy="177610"/>
              </a:xfrm>
              <a:custGeom>
                <a:avLst/>
                <a:gdLst/>
                <a:ahLst/>
                <a:cxnLst/>
                <a:rect r="r" b="b" t="t" l="l"/>
                <a:pathLst>
                  <a:path h="177610" w="995013">
                    <a:moveTo>
                      <a:pt x="0" y="0"/>
                    </a:moveTo>
                    <a:lnTo>
                      <a:pt x="995013" y="0"/>
                    </a:lnTo>
                    <a:lnTo>
                      <a:pt x="995013" y="177610"/>
                    </a:lnTo>
                    <a:lnTo>
                      <a:pt x="0" y="177610"/>
                    </a:lnTo>
                    <a:close/>
                  </a:path>
                </a:pathLst>
              </a:custGeom>
              <a:solidFill>
                <a:srgbClr val="B87E82"/>
              </a:solidFill>
              <a:ln w="38100" cap="sq">
                <a:solidFill>
                  <a:srgbClr val="000000"/>
                </a:solidFill>
                <a:prstDash val="sysDot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995013" cy="2252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888931"/>
              <a:ext cx="4979996" cy="1926148"/>
              <a:chOff x="0" y="0"/>
              <a:chExt cx="995013" cy="38484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95013" cy="384848"/>
              </a:xfrm>
              <a:custGeom>
                <a:avLst/>
                <a:gdLst/>
                <a:ahLst/>
                <a:cxnLst/>
                <a:rect r="r" b="b" t="t" l="l"/>
                <a:pathLst>
                  <a:path h="384848" w="995013">
                    <a:moveTo>
                      <a:pt x="0" y="0"/>
                    </a:moveTo>
                    <a:lnTo>
                      <a:pt x="995013" y="0"/>
                    </a:lnTo>
                    <a:lnTo>
                      <a:pt x="995013" y="384848"/>
                    </a:lnTo>
                    <a:lnTo>
                      <a:pt x="0" y="384848"/>
                    </a:lnTo>
                    <a:close/>
                  </a:path>
                </a:pathLst>
              </a:custGeom>
              <a:solidFill>
                <a:srgbClr val="F2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995013" cy="422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0" y="86009"/>
              <a:ext cx="4979996" cy="659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52"/>
                </a:lnSpc>
                <a:spcBef>
                  <a:spcPct val="0"/>
                </a:spcBef>
              </a:pPr>
              <a:r>
                <a:rPr lang="en-US" sz="2965">
                  <a:solidFill>
                    <a:srgbClr val="000000"/>
                  </a:solidFill>
                  <a:latin typeface="Garuda"/>
                  <a:ea typeface="Garuda"/>
                  <a:cs typeface="Garuda"/>
                  <a:sym typeface="Garuda"/>
                </a:rPr>
                <a:t>result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0" y="845994"/>
              <a:ext cx="4979996" cy="1969085"/>
            </a:xfrm>
            <a:custGeom>
              <a:avLst/>
              <a:gdLst/>
              <a:ahLst/>
              <a:cxnLst/>
              <a:rect r="r" b="b" t="t" l="l"/>
              <a:pathLst>
                <a:path h="1969085" w="4979996">
                  <a:moveTo>
                    <a:pt x="0" y="0"/>
                  </a:moveTo>
                  <a:lnTo>
                    <a:pt x="4979996" y="0"/>
                  </a:lnTo>
                  <a:lnTo>
                    <a:pt x="4979996" y="1969085"/>
                  </a:lnTo>
                  <a:lnTo>
                    <a:pt x="0" y="19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7446" b="-46471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060959" y="4067438"/>
            <a:ext cx="8553188" cy="428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378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Supert</a:t>
            </a: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raits</a:t>
            </a: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คือ การสร้าง trait ใหม่ ขึ้นมา แล้วกำหนดว่า Trait นี้ ต้องอาศัยความสามารถจากอีก Trait หนึ่ง</a:t>
            </a:r>
          </a:p>
          <a:p>
            <a:pPr algn="l" marL="647702" indent="-323851" lvl="1">
              <a:lnSpc>
                <a:spcPts val="378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เหตุผลที่ Rust ออกแบบแนวคิดนี้ คือ มีพฤติกรรมพื้นฐาน จากอีก trait ก่อน จึงจะสามารถใช้งานพฤติกรรมที่ซับซ้อนขึ้นได้</a:t>
            </a:r>
          </a:p>
          <a:p>
            <a:pPr algn="l" marL="647702" indent="-323851" lvl="1">
              <a:lnSpc>
                <a:spcPts val="378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โดยใช้ </a:t>
            </a: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trait G</a:t>
            </a: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reet: Named</a:t>
            </a: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หมายถึง Greet ต้องอาศัย Named และ type ที่ implement Greetต้อง implement Named ด้วย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04056" y="1554792"/>
            <a:ext cx="12103615" cy="1696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84"/>
              </a:lnSpc>
            </a:pPr>
            <a:r>
              <a:rPr lang="en-US" sz="11703">
                <a:solidFill>
                  <a:srgbClr val="481F21"/>
                </a:solidFill>
                <a:latin typeface="Bungee"/>
                <a:ea typeface="Bungee"/>
                <a:cs typeface="Bungee"/>
                <a:sym typeface="Bungee"/>
              </a:rPr>
              <a:t>SUPERTRAITS</a:t>
            </a: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4154" y="6771772"/>
            <a:ext cx="6978212" cy="6978212"/>
          </a:xfrm>
          <a:custGeom>
            <a:avLst/>
            <a:gdLst/>
            <a:ahLst/>
            <a:cxnLst/>
            <a:rect r="r" b="b" t="t" l="l"/>
            <a:pathLst>
              <a:path h="6978212" w="6978212">
                <a:moveTo>
                  <a:pt x="0" y="0"/>
                </a:moveTo>
                <a:lnTo>
                  <a:pt x="6978212" y="0"/>
                </a:lnTo>
                <a:lnTo>
                  <a:pt x="6978212" y="6978212"/>
                </a:lnTo>
                <a:lnTo>
                  <a:pt x="0" y="697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54950" y="-4323378"/>
            <a:ext cx="6978212" cy="6978212"/>
          </a:xfrm>
          <a:custGeom>
            <a:avLst/>
            <a:gdLst/>
            <a:ahLst/>
            <a:cxnLst/>
            <a:rect r="r" b="b" t="t" l="l"/>
            <a:pathLst>
              <a:path h="6978212" w="6978212">
                <a:moveTo>
                  <a:pt x="0" y="0"/>
                </a:moveTo>
                <a:lnTo>
                  <a:pt x="6978212" y="0"/>
                </a:lnTo>
                <a:lnTo>
                  <a:pt x="6978212" y="6978212"/>
                </a:lnTo>
                <a:lnTo>
                  <a:pt x="0" y="697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204210" y="-239917"/>
            <a:ext cx="20696420" cy="10766835"/>
            <a:chOff x="0" y="0"/>
            <a:chExt cx="27595227" cy="143557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18288000" cy="1055289"/>
            <a:chOff x="0" y="0"/>
            <a:chExt cx="4816593" cy="2779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16592" cy="277936"/>
            </a:xfrm>
            <a:custGeom>
              <a:avLst/>
              <a:gdLst/>
              <a:ahLst/>
              <a:cxnLst/>
              <a:rect r="r" b="b" t="t" l="l"/>
              <a:pathLst>
                <a:path h="27793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7936"/>
                  </a:lnTo>
                  <a:lnTo>
                    <a:pt x="0" y="277936"/>
                  </a:lnTo>
                  <a:close/>
                </a:path>
              </a:pathLst>
            </a:custGeom>
            <a:solidFill>
              <a:srgbClr val="8C101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816593" cy="325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2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4554206"/>
            <a:ext cx="9406874" cy="3727562"/>
            <a:chOff x="0" y="0"/>
            <a:chExt cx="2477531" cy="9817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77531" cy="981745"/>
            </a:xfrm>
            <a:custGeom>
              <a:avLst/>
              <a:gdLst/>
              <a:ahLst/>
              <a:cxnLst/>
              <a:rect r="r" b="b" t="t" l="l"/>
              <a:pathLst>
                <a:path h="981745" w="2477531">
                  <a:moveTo>
                    <a:pt x="0" y="0"/>
                  </a:moveTo>
                  <a:lnTo>
                    <a:pt x="2477531" y="0"/>
                  </a:lnTo>
                  <a:lnTo>
                    <a:pt x="2477531" y="981745"/>
                  </a:lnTo>
                  <a:lnTo>
                    <a:pt x="0" y="981745"/>
                  </a:lnTo>
                  <a:close/>
                </a:path>
              </a:pathLst>
            </a:custGeom>
            <a:solidFill>
              <a:srgbClr val="F2EAEA"/>
            </a:solidFill>
            <a:ln w="38100" cap="sq">
              <a:solidFill>
                <a:srgbClr val="5C373A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477531" cy="1019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007968" y="2084158"/>
            <a:ext cx="5830198" cy="7174142"/>
            <a:chOff x="0" y="0"/>
            <a:chExt cx="1036136" cy="12749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6136" cy="1274980"/>
            </a:xfrm>
            <a:custGeom>
              <a:avLst/>
              <a:gdLst/>
              <a:ahLst/>
              <a:cxnLst/>
              <a:rect r="r" b="b" t="t" l="l"/>
              <a:pathLst>
                <a:path h="1274980" w="1036136">
                  <a:moveTo>
                    <a:pt x="73034" y="0"/>
                  </a:moveTo>
                  <a:lnTo>
                    <a:pt x="963102" y="0"/>
                  </a:lnTo>
                  <a:cubicBezTo>
                    <a:pt x="1003438" y="0"/>
                    <a:pt x="1036136" y="32699"/>
                    <a:pt x="1036136" y="73034"/>
                  </a:cubicBezTo>
                  <a:lnTo>
                    <a:pt x="1036136" y="1201946"/>
                  </a:lnTo>
                  <a:cubicBezTo>
                    <a:pt x="1036136" y="1221316"/>
                    <a:pt x="1028442" y="1239892"/>
                    <a:pt x="1014745" y="1253589"/>
                  </a:cubicBezTo>
                  <a:cubicBezTo>
                    <a:pt x="1001048" y="1267286"/>
                    <a:pt x="982472" y="1274980"/>
                    <a:pt x="963102" y="1274980"/>
                  </a:cubicBezTo>
                  <a:lnTo>
                    <a:pt x="73034" y="1274980"/>
                  </a:lnTo>
                  <a:cubicBezTo>
                    <a:pt x="53665" y="1274980"/>
                    <a:pt x="35088" y="1267286"/>
                    <a:pt x="21391" y="1253589"/>
                  </a:cubicBezTo>
                  <a:cubicBezTo>
                    <a:pt x="7695" y="1239892"/>
                    <a:pt x="0" y="1221316"/>
                    <a:pt x="0" y="1201946"/>
                  </a:cubicBezTo>
                  <a:lnTo>
                    <a:pt x="0" y="73034"/>
                  </a:lnTo>
                  <a:cubicBezTo>
                    <a:pt x="0" y="53665"/>
                    <a:pt x="7695" y="35088"/>
                    <a:pt x="21391" y="21391"/>
                  </a:cubicBezTo>
                  <a:cubicBezTo>
                    <a:pt x="35088" y="7695"/>
                    <a:pt x="53665" y="0"/>
                    <a:pt x="73034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-756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954950" y="1590257"/>
            <a:ext cx="6532174" cy="248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5"/>
              </a:lnSpc>
            </a:pPr>
            <a:r>
              <a:rPr lang="en-US" sz="9468">
                <a:solidFill>
                  <a:srgbClr val="481F21"/>
                </a:solidFill>
                <a:latin typeface="Bungee"/>
                <a:ea typeface="Bungee"/>
                <a:cs typeface="Bungee"/>
                <a:sym typeface="Bungee"/>
              </a:rPr>
              <a:t>STATIC DISPATCH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4853723"/>
            <a:ext cx="9386180" cy="332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378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</a:t>
            </a: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atic Dispatch</a:t>
            </a: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คือ การที่compiler รู้ concrete type ตั้งแต่ compile time จึงเลือก method ที่ต้องเรียกได้ล่วงหน้า โดยมักใช้ Trait Bounds หรือ impl Trait</a:t>
            </a:r>
          </a:p>
          <a:p>
            <a:pPr algn="l" marL="647702" indent="-323851" lvl="1">
              <a:lnSpc>
                <a:spcPts val="378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เหตุผลที่ Rust ออกแบบแนวคิดนี้ เพื่อให้ compiler สามารถเลือก implementation ล่วงหน้า ทำให้โค้ดทำงานได้รวดเร็วโดย</a:t>
            </a: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มี runtime overhead ต่ำ</a:t>
            </a:r>
          </a:p>
          <a:p>
            <a:pPr algn="l">
              <a:lnSpc>
                <a:spcPts val="3780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4321610" y="7710359"/>
            <a:ext cx="3204990" cy="1811708"/>
            <a:chOff x="0" y="0"/>
            <a:chExt cx="4273320" cy="2415611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4273320" cy="762790"/>
              <a:chOff x="0" y="0"/>
              <a:chExt cx="995013" cy="17761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95013" cy="177610"/>
              </a:xfrm>
              <a:custGeom>
                <a:avLst/>
                <a:gdLst/>
                <a:ahLst/>
                <a:cxnLst/>
                <a:rect r="r" b="b" t="t" l="l"/>
                <a:pathLst>
                  <a:path h="177610" w="995013">
                    <a:moveTo>
                      <a:pt x="0" y="0"/>
                    </a:moveTo>
                    <a:lnTo>
                      <a:pt x="995013" y="0"/>
                    </a:lnTo>
                    <a:lnTo>
                      <a:pt x="995013" y="177610"/>
                    </a:lnTo>
                    <a:lnTo>
                      <a:pt x="0" y="177610"/>
                    </a:lnTo>
                    <a:close/>
                  </a:path>
                </a:pathLst>
              </a:custGeom>
              <a:solidFill>
                <a:srgbClr val="B87E82"/>
              </a:solidFill>
              <a:ln w="38100" cap="sq">
                <a:solidFill>
                  <a:srgbClr val="000000"/>
                </a:solidFill>
                <a:prstDash val="sysDot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995013" cy="2252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762790"/>
              <a:ext cx="4273320" cy="1652822"/>
              <a:chOff x="0" y="0"/>
              <a:chExt cx="995013" cy="384848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95013" cy="384848"/>
              </a:xfrm>
              <a:custGeom>
                <a:avLst/>
                <a:gdLst/>
                <a:ahLst/>
                <a:cxnLst/>
                <a:rect r="r" b="b" t="t" l="l"/>
                <a:pathLst>
                  <a:path h="384848" w="995013">
                    <a:moveTo>
                      <a:pt x="0" y="0"/>
                    </a:moveTo>
                    <a:lnTo>
                      <a:pt x="995013" y="0"/>
                    </a:lnTo>
                    <a:lnTo>
                      <a:pt x="995013" y="384848"/>
                    </a:lnTo>
                    <a:lnTo>
                      <a:pt x="0" y="384848"/>
                    </a:lnTo>
                    <a:close/>
                  </a:path>
                </a:pathLst>
              </a:custGeom>
              <a:solidFill>
                <a:srgbClr val="F2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995013" cy="422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75220"/>
              <a:ext cx="4273320" cy="564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3"/>
                </a:lnSpc>
                <a:spcBef>
                  <a:spcPct val="0"/>
                </a:spcBef>
              </a:pPr>
              <a:r>
                <a:rPr lang="en-US" sz="2545">
                  <a:solidFill>
                    <a:srgbClr val="000000"/>
                  </a:solidFill>
                  <a:latin typeface="Garuda"/>
                  <a:ea typeface="Garuda"/>
                  <a:cs typeface="Garuda"/>
                  <a:sym typeface="Garuda"/>
                </a:rPr>
                <a:t>result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0" y="783333"/>
              <a:ext cx="4273320" cy="1632278"/>
            </a:xfrm>
            <a:custGeom>
              <a:avLst/>
              <a:gdLst/>
              <a:ahLst/>
              <a:cxnLst/>
              <a:rect r="r" b="b" t="t" l="l"/>
              <a:pathLst>
                <a:path h="1632278" w="4273320">
                  <a:moveTo>
                    <a:pt x="0" y="0"/>
                  </a:moveTo>
                  <a:lnTo>
                    <a:pt x="4273320" y="0"/>
                  </a:lnTo>
                  <a:lnTo>
                    <a:pt x="4273320" y="1632278"/>
                  </a:lnTo>
                  <a:lnTo>
                    <a:pt x="0" y="1632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098" r="-44776" b="-21023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786374"/>
              <a:ext cx="4116800" cy="1570235"/>
            </a:xfrm>
            <a:custGeom>
              <a:avLst/>
              <a:gdLst/>
              <a:ahLst/>
              <a:cxnLst/>
              <a:rect r="r" b="b" t="t" l="l"/>
              <a:pathLst>
                <a:path h="1570235" w="4116800">
                  <a:moveTo>
                    <a:pt x="0" y="0"/>
                  </a:moveTo>
                  <a:lnTo>
                    <a:pt x="4116800" y="0"/>
                  </a:lnTo>
                  <a:lnTo>
                    <a:pt x="4116800" y="1570235"/>
                  </a:lnTo>
                  <a:lnTo>
                    <a:pt x="0" y="1570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9287" r="-44080" b="-31957"/>
              </a:stretch>
            </a:blipFill>
          </p:spPr>
        </p:sp>
      </p:grp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04210" y="-239917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055289"/>
            <a:chOff x="0" y="0"/>
            <a:chExt cx="4816593" cy="2779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77936"/>
            </a:xfrm>
            <a:custGeom>
              <a:avLst/>
              <a:gdLst/>
              <a:ahLst/>
              <a:cxnLst/>
              <a:rect r="r" b="b" t="t" l="l"/>
              <a:pathLst>
                <a:path h="27793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7936"/>
                  </a:lnTo>
                  <a:lnTo>
                    <a:pt x="0" y="277936"/>
                  </a:lnTo>
                  <a:close/>
                </a:path>
              </a:pathLst>
            </a:custGeom>
            <a:solidFill>
              <a:srgbClr val="8C101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325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48723" y="4465297"/>
            <a:ext cx="9635831" cy="4534770"/>
            <a:chOff x="0" y="0"/>
            <a:chExt cx="2537832" cy="11943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37832" cy="1194343"/>
            </a:xfrm>
            <a:custGeom>
              <a:avLst/>
              <a:gdLst/>
              <a:ahLst/>
              <a:cxnLst/>
              <a:rect r="r" b="b" t="t" l="l"/>
              <a:pathLst>
                <a:path h="1194343" w="2537832">
                  <a:moveTo>
                    <a:pt x="0" y="0"/>
                  </a:moveTo>
                  <a:lnTo>
                    <a:pt x="2537832" y="0"/>
                  </a:lnTo>
                  <a:lnTo>
                    <a:pt x="2537832" y="1194343"/>
                  </a:lnTo>
                  <a:lnTo>
                    <a:pt x="0" y="1194343"/>
                  </a:lnTo>
                  <a:close/>
                </a:path>
              </a:pathLst>
            </a:custGeom>
            <a:solidFill>
              <a:srgbClr val="F2EAEA"/>
            </a:solidFill>
            <a:ln w="38100" cap="sq">
              <a:solidFill>
                <a:srgbClr val="5C373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37832" cy="1232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215127" y="6670347"/>
            <a:ext cx="6978212" cy="6978212"/>
          </a:xfrm>
          <a:custGeom>
            <a:avLst/>
            <a:gdLst/>
            <a:ahLst/>
            <a:cxnLst/>
            <a:rect r="r" b="b" t="t" l="l"/>
            <a:pathLst>
              <a:path h="6978212" w="6978212">
                <a:moveTo>
                  <a:pt x="0" y="0"/>
                </a:moveTo>
                <a:lnTo>
                  <a:pt x="6978212" y="0"/>
                </a:lnTo>
                <a:lnTo>
                  <a:pt x="6978212" y="6978212"/>
                </a:lnTo>
                <a:lnTo>
                  <a:pt x="0" y="6978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1964852"/>
            <a:ext cx="5830198" cy="7174142"/>
            <a:chOff x="0" y="0"/>
            <a:chExt cx="1036136" cy="12749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6136" cy="1274980"/>
            </a:xfrm>
            <a:custGeom>
              <a:avLst/>
              <a:gdLst/>
              <a:ahLst/>
              <a:cxnLst/>
              <a:rect r="r" b="b" t="t" l="l"/>
              <a:pathLst>
                <a:path h="1274980" w="1036136">
                  <a:moveTo>
                    <a:pt x="73034" y="0"/>
                  </a:moveTo>
                  <a:lnTo>
                    <a:pt x="963102" y="0"/>
                  </a:lnTo>
                  <a:cubicBezTo>
                    <a:pt x="1003438" y="0"/>
                    <a:pt x="1036136" y="32699"/>
                    <a:pt x="1036136" y="73034"/>
                  </a:cubicBezTo>
                  <a:lnTo>
                    <a:pt x="1036136" y="1201946"/>
                  </a:lnTo>
                  <a:cubicBezTo>
                    <a:pt x="1036136" y="1221316"/>
                    <a:pt x="1028442" y="1239892"/>
                    <a:pt x="1014745" y="1253589"/>
                  </a:cubicBezTo>
                  <a:cubicBezTo>
                    <a:pt x="1001048" y="1267286"/>
                    <a:pt x="982472" y="1274980"/>
                    <a:pt x="963102" y="1274980"/>
                  </a:cubicBezTo>
                  <a:lnTo>
                    <a:pt x="73034" y="1274980"/>
                  </a:lnTo>
                  <a:cubicBezTo>
                    <a:pt x="53665" y="1274980"/>
                    <a:pt x="35088" y="1267286"/>
                    <a:pt x="21391" y="1253589"/>
                  </a:cubicBezTo>
                  <a:cubicBezTo>
                    <a:pt x="7695" y="1239892"/>
                    <a:pt x="0" y="1221316"/>
                    <a:pt x="0" y="1201946"/>
                  </a:cubicBezTo>
                  <a:lnTo>
                    <a:pt x="0" y="73034"/>
                  </a:lnTo>
                  <a:cubicBezTo>
                    <a:pt x="0" y="53665"/>
                    <a:pt x="7695" y="35088"/>
                    <a:pt x="21391" y="21391"/>
                  </a:cubicBezTo>
                  <a:cubicBezTo>
                    <a:pt x="35088" y="7695"/>
                    <a:pt x="53665" y="0"/>
                    <a:pt x="73034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-741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302181" y="7777637"/>
            <a:ext cx="3204990" cy="1811708"/>
            <a:chOff x="0" y="0"/>
            <a:chExt cx="4273320" cy="241561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4273320" cy="762790"/>
              <a:chOff x="0" y="0"/>
              <a:chExt cx="995013" cy="17761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95013" cy="177610"/>
              </a:xfrm>
              <a:custGeom>
                <a:avLst/>
                <a:gdLst/>
                <a:ahLst/>
                <a:cxnLst/>
                <a:rect r="r" b="b" t="t" l="l"/>
                <a:pathLst>
                  <a:path h="177610" w="995013">
                    <a:moveTo>
                      <a:pt x="0" y="0"/>
                    </a:moveTo>
                    <a:lnTo>
                      <a:pt x="995013" y="0"/>
                    </a:lnTo>
                    <a:lnTo>
                      <a:pt x="995013" y="177610"/>
                    </a:lnTo>
                    <a:lnTo>
                      <a:pt x="0" y="177610"/>
                    </a:lnTo>
                    <a:close/>
                  </a:path>
                </a:pathLst>
              </a:custGeom>
              <a:solidFill>
                <a:srgbClr val="B87E82"/>
              </a:solidFill>
              <a:ln w="38100" cap="sq">
                <a:solidFill>
                  <a:srgbClr val="000000"/>
                </a:solidFill>
                <a:prstDash val="sysDot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995013" cy="2252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762790"/>
              <a:ext cx="4273320" cy="1652822"/>
              <a:chOff x="0" y="0"/>
              <a:chExt cx="995013" cy="38484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95013" cy="384848"/>
              </a:xfrm>
              <a:custGeom>
                <a:avLst/>
                <a:gdLst/>
                <a:ahLst/>
                <a:cxnLst/>
                <a:rect r="r" b="b" t="t" l="l"/>
                <a:pathLst>
                  <a:path h="384848" w="995013">
                    <a:moveTo>
                      <a:pt x="0" y="0"/>
                    </a:moveTo>
                    <a:lnTo>
                      <a:pt x="995013" y="0"/>
                    </a:lnTo>
                    <a:lnTo>
                      <a:pt x="995013" y="384848"/>
                    </a:lnTo>
                    <a:lnTo>
                      <a:pt x="0" y="384848"/>
                    </a:lnTo>
                    <a:close/>
                  </a:path>
                </a:pathLst>
              </a:custGeom>
              <a:solidFill>
                <a:srgbClr val="F2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995013" cy="422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0" y="75220"/>
              <a:ext cx="4273320" cy="564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3"/>
                </a:lnSpc>
                <a:spcBef>
                  <a:spcPct val="0"/>
                </a:spcBef>
              </a:pPr>
              <a:r>
                <a:rPr lang="en-US" sz="2545">
                  <a:solidFill>
                    <a:srgbClr val="000000"/>
                  </a:solidFill>
                  <a:latin typeface="Garuda"/>
                  <a:ea typeface="Garuda"/>
                  <a:cs typeface="Garuda"/>
                  <a:sym typeface="Garuda"/>
                </a:rPr>
                <a:t>result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0" y="783333"/>
              <a:ext cx="4273320" cy="1632278"/>
            </a:xfrm>
            <a:custGeom>
              <a:avLst/>
              <a:gdLst/>
              <a:ahLst/>
              <a:cxnLst/>
              <a:rect r="r" b="b" t="t" l="l"/>
              <a:pathLst>
                <a:path h="1632278" w="4273320">
                  <a:moveTo>
                    <a:pt x="0" y="0"/>
                  </a:moveTo>
                  <a:lnTo>
                    <a:pt x="4273320" y="0"/>
                  </a:lnTo>
                  <a:lnTo>
                    <a:pt x="4273320" y="1632278"/>
                  </a:lnTo>
                  <a:lnTo>
                    <a:pt x="0" y="1632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098" r="-44776" b="-21023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786374"/>
              <a:ext cx="4116800" cy="1570235"/>
            </a:xfrm>
            <a:custGeom>
              <a:avLst/>
              <a:gdLst/>
              <a:ahLst/>
              <a:cxnLst/>
              <a:rect r="r" b="b" t="t" l="l"/>
              <a:pathLst>
                <a:path h="1570235" w="4116800">
                  <a:moveTo>
                    <a:pt x="0" y="0"/>
                  </a:moveTo>
                  <a:lnTo>
                    <a:pt x="4116800" y="0"/>
                  </a:lnTo>
                  <a:lnTo>
                    <a:pt x="4116800" y="1570235"/>
                  </a:lnTo>
                  <a:lnTo>
                    <a:pt x="0" y="1570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9287" r="-44080" b="-31957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655534" y="1694611"/>
            <a:ext cx="6532174" cy="248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5"/>
              </a:lnSpc>
            </a:pPr>
            <a:r>
              <a:rPr lang="en-US" sz="9468">
                <a:solidFill>
                  <a:srgbClr val="481F21"/>
                </a:solidFill>
                <a:latin typeface="Bungee"/>
                <a:ea typeface="Bungee"/>
                <a:cs typeface="Bungee"/>
                <a:sym typeface="Bungee"/>
              </a:rPr>
              <a:t>DYNAMIC DISPATCH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48723" y="4877301"/>
            <a:ext cx="9406874" cy="3806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378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Dynamic Dispatch</a:t>
            </a: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คือ </a:t>
            </a: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compiler ไม่ต้องรู้ concrete type ตอน compile time และเลือก implementation ที่เหมาะสมตอน runtime ผ่าน dyn Trait</a:t>
            </a:r>
          </a:p>
          <a:p>
            <a:pPr algn="l" marL="647702" indent="-323851" lvl="1">
              <a:lnSpc>
                <a:spcPts val="378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เหตุผลที่ Rust ออกแบบแนวคิดนี้ เพื่อให้สามารถเก็บและจัดการ หลาย type ที่ implement trait เดียวกัน ผ่าน interface เดียวกันได้ แ</a:t>
            </a: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ม้ compiler จะไม่รู้ type ที่แน่นอนล่วงหน้า</a:t>
            </a:r>
          </a:p>
          <a:p>
            <a:pPr algn="l">
              <a:lnSpc>
                <a:spcPts val="3780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91228" y="0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5" id="5"/>
          <p:cNvSpPr/>
          <p:nvPr/>
        </p:nvSpPr>
        <p:spPr>
          <a:xfrm>
            <a:off x="1028700" y="1068888"/>
            <a:ext cx="16230600" cy="0"/>
          </a:xfrm>
          <a:prstGeom prst="line">
            <a:avLst/>
          </a:prstGeom>
          <a:ln cap="flat" w="38100">
            <a:solidFill>
              <a:srgbClr val="664A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067730" y="9239250"/>
            <a:ext cx="16230600" cy="0"/>
          </a:xfrm>
          <a:prstGeom prst="line">
            <a:avLst/>
          </a:prstGeom>
          <a:ln cap="flat" w="38100">
            <a:solidFill>
              <a:srgbClr val="664A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5961735" y="6965298"/>
            <a:ext cx="6364530" cy="655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9"/>
              </a:lnSpc>
            </a:pPr>
            <a:r>
              <a:rPr lang="en-US" sz="4416">
                <a:solidFill>
                  <a:srgbClr val="664A3E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PART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99646" y="9572625"/>
            <a:ext cx="94532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>
                <a:solidFill>
                  <a:srgbClr val="664A3E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517321 PRINCIPLES OF PROGRAMMING LANGUAGES​</a:t>
            </a:r>
          </a:p>
          <a:p>
            <a:pPr algn="r">
              <a:lnSpc>
                <a:spcPts val="28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98418" y="675418"/>
            <a:ext cx="6493962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64A3E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RUST TUTORIAL PRESENTATION​</a:t>
            </a:r>
          </a:p>
          <a:p>
            <a:pPr algn="l">
              <a:lnSpc>
                <a:spcPts val="28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035349" y="3858900"/>
            <a:ext cx="14217302" cy="2792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50"/>
              </a:lnSpc>
            </a:pPr>
            <a:r>
              <a:rPr lang="en-US" sz="10591">
                <a:solidFill>
                  <a:srgbClr val="8E0E17"/>
                </a:solidFill>
                <a:latin typeface="Bungee"/>
                <a:ea typeface="Bungee"/>
                <a:cs typeface="Bungee"/>
                <a:sym typeface="Bungee"/>
              </a:rPr>
              <a:t>RUS</a:t>
            </a:r>
            <a:r>
              <a:rPr lang="en-US" sz="10591">
                <a:solidFill>
                  <a:srgbClr val="8E0E17"/>
                </a:solidFill>
                <a:latin typeface="Bungee"/>
                <a:ea typeface="Bungee"/>
                <a:cs typeface="Bungee"/>
                <a:sym typeface="Bungee"/>
              </a:rPr>
              <a:t>T VS </a:t>
            </a:r>
          </a:p>
          <a:p>
            <a:pPr algn="ctr">
              <a:lnSpc>
                <a:spcPts val="9850"/>
              </a:lnSpc>
            </a:pPr>
            <a:r>
              <a:rPr lang="en-US" sz="10591">
                <a:solidFill>
                  <a:srgbClr val="8E0E17"/>
                </a:solidFill>
                <a:latin typeface="Bungee"/>
                <a:ea typeface="Bungee"/>
                <a:cs typeface="Bungee"/>
                <a:sym typeface="Bungee"/>
              </a:rPr>
              <a:t>OTHER LANGUAGE</a:t>
            </a:r>
          </a:p>
        </p:txBody>
      </p:sp>
      <p:grpSp>
        <p:nvGrpSpPr>
          <p:cNvPr name="Group 11" id="11"/>
          <p:cNvGrpSpPr/>
          <p:nvPr/>
        </p:nvGrpSpPr>
        <p:grpSpPr>
          <a:xfrm rot="5400000">
            <a:off x="-8629650" y="6695084"/>
            <a:ext cx="18288000" cy="1028700"/>
            <a:chOff x="0" y="0"/>
            <a:chExt cx="4816593" cy="270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C101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816593" cy="318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5400000">
            <a:off x="8715968" y="6524193"/>
            <a:ext cx="18288000" cy="1028700"/>
            <a:chOff x="0" y="0"/>
            <a:chExt cx="4816593" cy="2709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C101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816593" cy="318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2"/>
                </a:lnSpc>
              </a:pPr>
            </a:p>
          </p:txBody>
        </p:sp>
      </p:grp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57250" y="228600"/>
            <a:ext cx="3810000" cy="3810000"/>
          </a:xfrm>
          <a:custGeom>
            <a:avLst/>
            <a:gdLst/>
            <a:ahLst/>
            <a:cxnLst/>
            <a:rect r="r" b="b" t="t" l="l"/>
            <a:pathLst>
              <a:path h="3810000" w="3810000">
                <a:moveTo>
                  <a:pt x="0" y="0"/>
                </a:moveTo>
                <a:lnTo>
                  <a:pt x="3810000" y="0"/>
                </a:lnTo>
                <a:lnTo>
                  <a:pt x="3810000" y="3810000"/>
                </a:lnTo>
                <a:lnTo>
                  <a:pt x="0" y="381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04210" y="-239917"/>
            <a:ext cx="20696420" cy="10766835"/>
            <a:chOff x="0" y="0"/>
            <a:chExt cx="27595227" cy="143557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689675" y="391482"/>
          <a:ext cx="14908650" cy="9504035"/>
        </p:xfrm>
        <a:graphic>
          <a:graphicData uri="http://schemas.openxmlformats.org/drawingml/2006/table">
            <a:tbl>
              <a:tblPr/>
              <a:tblGrid>
                <a:gridCol w="1933172"/>
                <a:gridCol w="3177318"/>
                <a:gridCol w="3410914"/>
                <a:gridCol w="3193623"/>
                <a:gridCol w="3193623"/>
              </a:tblGrid>
              <a:tr h="149145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Bungee"/>
                          <a:ea typeface="Bungee"/>
                          <a:cs typeface="Bungee"/>
                          <a:sym typeface="Bungee"/>
                        </a:rPr>
                        <a:t>ASPECT​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481F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Bungee"/>
                          <a:ea typeface="Bungee"/>
                          <a:cs typeface="Bungee"/>
                          <a:sym typeface="Bungee"/>
                        </a:rPr>
                        <a:t>RUST​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Bungee"/>
                          <a:ea typeface="Bungee"/>
                          <a:cs typeface="Bungee"/>
                          <a:sym typeface="Bungee"/>
                        </a:rPr>
                        <a:t>JAVA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Bungee"/>
                          <a:ea typeface="Bungee"/>
                          <a:cs typeface="Bungee"/>
                          <a:sym typeface="Bungee"/>
                        </a:rPr>
                        <a:t>C++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Bungee"/>
                          <a:ea typeface="Bungee"/>
                          <a:cs typeface="Bungee"/>
                          <a:sym typeface="Bungee"/>
                        </a:rPr>
                        <a:t>PYTHON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E7"/>
                    </a:solidFill>
                  </a:tcPr>
                </a:tc>
              </a:tr>
              <a:tr h="267085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99">
                          <a:solidFill>
                            <a:srgbClr val="481F21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Syntax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ใช้ Traits และ struct , impl</a:t>
                      </a: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ใช้ interface , extends ,implements และ class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ใช้ class Function Overloading , Function Overriding , Virtual Functions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ใช้ class โดยการ overriding method หรือ duck Typing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  <a:tr h="399192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99">
                          <a:solidFill>
                            <a:srgbClr val="481F21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Semantic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โดย trait จะกำหนดพฤติกรรมที่มีร่วมกันให้แต่ละ stuct ซึ่งแต่ละ struct สามารถกำหนดการทำงานของพฤติกรรมให้แตกต่างได้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โดย interface จะกำหนดพฤติกรรมที่มีร่วมกันให้แต่ละ class ซึ่งแต่ละ class สามารถ implements หรือ overriding การทำงานให้แตกต่างได้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โดยคลาสหลักสามารถกำหนด method ให้เป็น virtual method และคลาสลูกสามารถ override methods นั้นได้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แต่ละ class สามารถมี method ชื่อเดียวกันได้แต่กำหนดการทำงานแตกต่างกันได้ โดยใช้ duck Typing หรือ overriding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  <a:tr h="134978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99">
                          <a:solidFill>
                            <a:srgbClr val="481F21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Type System​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Static Typing</a:t>
                      </a: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Static Typing</a:t>
                      </a: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Static Typing</a:t>
                      </a: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Dynamic Typing</a:t>
                      </a: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3497264">
            <a:off x="16192500" y="7905750"/>
            <a:ext cx="2381250" cy="2944359"/>
          </a:xfrm>
          <a:custGeom>
            <a:avLst/>
            <a:gdLst/>
            <a:ahLst/>
            <a:cxnLst/>
            <a:rect r="r" b="b" t="t" l="l"/>
            <a:pathLst>
              <a:path h="2944359" w="2381250">
                <a:moveTo>
                  <a:pt x="0" y="0"/>
                </a:moveTo>
                <a:lnTo>
                  <a:pt x="2381250" y="0"/>
                </a:lnTo>
                <a:lnTo>
                  <a:pt x="2381250" y="2944359"/>
                </a:lnTo>
                <a:lnTo>
                  <a:pt x="0" y="29443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04210" y="-239917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287750" y="7848600"/>
            <a:ext cx="2857500" cy="2857500"/>
          </a:xfrm>
          <a:custGeom>
            <a:avLst/>
            <a:gdLst/>
            <a:ahLst/>
            <a:cxnLst/>
            <a:rect r="r" b="b" t="t" l="l"/>
            <a:pathLst>
              <a:path h="2857500" w="2857500">
                <a:moveTo>
                  <a:pt x="0" y="0"/>
                </a:moveTo>
                <a:lnTo>
                  <a:pt x="2857500" y="0"/>
                </a:lnTo>
                <a:lnTo>
                  <a:pt x="285750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586151" y="621896"/>
          <a:ext cx="15301093" cy="7699134"/>
        </p:xfrm>
        <a:graphic>
          <a:graphicData uri="http://schemas.openxmlformats.org/drawingml/2006/table">
            <a:tbl>
              <a:tblPr/>
              <a:tblGrid>
                <a:gridCol w="2132734"/>
                <a:gridCol w="4004325"/>
                <a:gridCol w="2608656"/>
                <a:gridCol w="3277689"/>
                <a:gridCol w="3277689"/>
              </a:tblGrid>
              <a:tr h="140821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Bungee"/>
                          <a:ea typeface="Bungee"/>
                          <a:cs typeface="Bungee"/>
                          <a:sym typeface="Bungee"/>
                        </a:rPr>
                        <a:t>ASPECT​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481F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Bungee"/>
                          <a:ea typeface="Bungee"/>
                          <a:cs typeface="Bungee"/>
                          <a:sym typeface="Bungee"/>
                        </a:rPr>
                        <a:t>RUST​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Bungee"/>
                          <a:ea typeface="Bungee"/>
                          <a:cs typeface="Bungee"/>
                          <a:sym typeface="Bungee"/>
                        </a:rPr>
                        <a:t>JAVA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Bungee"/>
                          <a:ea typeface="Bungee"/>
                          <a:cs typeface="Bungee"/>
                          <a:sym typeface="Bungee"/>
                        </a:rPr>
                        <a:t>PYTHON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Bungee"/>
                          <a:ea typeface="Bungee"/>
                          <a:cs typeface="Bungee"/>
                          <a:sym typeface="Bungee"/>
                        </a:rPr>
                        <a:t>C++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E7"/>
                    </a:solidFill>
                  </a:tcPr>
                </a:tc>
              </a:tr>
              <a:tr h="335334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99">
                          <a:solidFill>
                            <a:srgbClr val="481F21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Memory / Resource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ใช้ Ownership + Borrowing</a:t>
                      </a: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ใช้ Garbage Collector</a:t>
                      </a: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ใช้ Reference Counting และ Garbage Collection โปรแกรมเมอร์ไม่จำเป็นต้องจัดการเอง</a:t>
                      </a: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ใช้แบบ Dynamic Memory Allocation ในขณะ runtime โดยใช้ new และ deleteเพื่อคืนหน่วยความจำ(deallocate)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  <a:tr h="293756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99">
                          <a:solidFill>
                            <a:srgbClr val="481F21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Safety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ปลอดภัยสูง เพราะ ใช้ ownership + borrowing ในการตรวจสอบ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มี safety สูงเพราะมีการตรวจตอบโดย JVM หรือ Garbage Collector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มีความยืดหยุ่นและใช้งานง่ายจาก dynamic typing</a:t>
                      </a: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>
                          <a:solidFill>
                            <a:srgbClr val="481F2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โปรแกรมเมอร์สามารถจัดการ Memory โดยตรงได้ ซึ่งอาจทำให้เกิดปัญหาเกี่ยวกับ memory ได้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51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true" flipV="false" rot="2822301">
            <a:off x="-666079" y="-1087549"/>
            <a:ext cx="2857500" cy="3533230"/>
          </a:xfrm>
          <a:custGeom>
            <a:avLst/>
            <a:gdLst/>
            <a:ahLst/>
            <a:cxnLst/>
            <a:rect r="r" b="b" t="t" l="l"/>
            <a:pathLst>
              <a:path h="3533230" w="2857500">
                <a:moveTo>
                  <a:pt x="2857500" y="0"/>
                </a:moveTo>
                <a:lnTo>
                  <a:pt x="0" y="0"/>
                </a:lnTo>
                <a:lnTo>
                  <a:pt x="0" y="3533230"/>
                </a:lnTo>
                <a:lnTo>
                  <a:pt x="2857500" y="3533230"/>
                </a:lnTo>
                <a:lnTo>
                  <a:pt x="28575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8490047"/>
            <a:ext cx="16592859" cy="1574607"/>
            <a:chOff x="0" y="0"/>
            <a:chExt cx="4370136" cy="4147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70136" cy="414711"/>
            </a:xfrm>
            <a:custGeom>
              <a:avLst/>
              <a:gdLst/>
              <a:ahLst/>
              <a:cxnLst/>
              <a:rect r="r" b="b" t="t" l="l"/>
              <a:pathLst>
                <a:path h="414711" w="4370136">
                  <a:moveTo>
                    <a:pt x="0" y="0"/>
                  </a:moveTo>
                  <a:lnTo>
                    <a:pt x="4370136" y="0"/>
                  </a:lnTo>
                  <a:lnTo>
                    <a:pt x="4370136" y="414711"/>
                  </a:lnTo>
                  <a:lnTo>
                    <a:pt x="0" y="414711"/>
                  </a:lnTo>
                  <a:close/>
                </a:path>
              </a:pathLst>
            </a:custGeom>
            <a:solidFill>
              <a:srgbClr val="F7E9E7"/>
            </a:solidFill>
            <a:ln w="38100" cap="sq">
              <a:solidFill>
                <a:srgbClr val="5C373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370136" cy="452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09830" y="8625650"/>
            <a:ext cx="16230600" cy="128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2700" b="true">
                <a:solidFill>
                  <a:srgbClr val="481F21"/>
                </a:solidFill>
                <a:latin typeface="DM Sans Bold"/>
                <a:ea typeface="DM Sans Bold"/>
                <a:cs typeface="DM Sans Bold"/>
                <a:sym typeface="DM Sans Bold"/>
              </a:rPr>
              <a:t>Rust</a:t>
            </a:r>
            <a:r>
              <a:rPr lang="en-US" sz="2700" b="true">
                <a:solidFill>
                  <a:srgbClr val="481F21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700">
                <a:solidFill>
                  <a:srgbClr val="481F21"/>
                </a:solidFill>
                <a:latin typeface="DM Sans"/>
                <a:ea typeface="DM Sans"/>
                <a:cs typeface="DM Sans"/>
                <a:sym typeface="DM Sans"/>
              </a:rPr>
              <a:t> จะไม่มี class และ Inheritance แต่ใช้ trait เป็นตัวกำหนดพฤติกรรมที่สามารถนำไปใช้ได้แต่สามารถกำหนดการทำงานของพฤติกรรมให้แตกต่างกันได้ โดย trait สามารถมีหลาย method ได้และใช้ impl ในการ implement funtiocn ใน trait </a:t>
            </a:r>
          </a:p>
        </p:txBody>
      </p:sp>
    </p:spTree>
  </p:cSld>
  <p:clrMapOvr>
    <a:masterClrMapping/>
  </p:clrMapOvr>
  <p:transition spd="fast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04210" y="-239917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2853267" y="-4153630"/>
            <a:ext cx="24368361" cy="19039653"/>
            <a:chOff x="0" y="0"/>
            <a:chExt cx="32491148" cy="253862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04283" cy="9304283"/>
            </a:xfrm>
            <a:custGeom>
              <a:avLst/>
              <a:gdLst/>
              <a:ahLst/>
              <a:cxnLst/>
              <a:rect r="r" b="b" t="t" l="l"/>
              <a:pathLst>
                <a:path h="9304283" w="9304283">
                  <a:moveTo>
                    <a:pt x="0" y="0"/>
                  </a:moveTo>
                  <a:lnTo>
                    <a:pt x="9304283" y="0"/>
                  </a:lnTo>
                  <a:lnTo>
                    <a:pt x="9304283" y="9304283"/>
                  </a:lnTo>
                  <a:lnTo>
                    <a:pt x="0" y="9304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8454619" y="7360550"/>
              <a:ext cx="16638580" cy="19437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183"/>
                </a:lnSpc>
              </a:pPr>
              <a:r>
                <a:rPr lang="en-US" sz="9874">
                  <a:solidFill>
                    <a:srgbClr val="990F19"/>
                  </a:solidFill>
                  <a:latin typeface="Bungee"/>
                  <a:ea typeface="Bungee"/>
                  <a:cs typeface="Bungee"/>
                  <a:sym typeface="Bungee"/>
                </a:rPr>
                <a:t>PPL PER</a:t>
              </a:r>
              <a:r>
                <a:rPr lang="en-US" sz="9874">
                  <a:solidFill>
                    <a:srgbClr val="990F19"/>
                  </a:solidFill>
                  <a:latin typeface="Bungee"/>
                  <a:ea typeface="Bungee"/>
                  <a:cs typeface="Bungee"/>
                  <a:sym typeface="Bungee"/>
                </a:rPr>
                <a:t>SPECTIVE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6939381" y="7682328"/>
              <a:ext cx="1243026" cy="1243026"/>
            </a:xfrm>
            <a:custGeom>
              <a:avLst/>
              <a:gdLst/>
              <a:ahLst/>
              <a:cxnLst/>
              <a:rect r="r" b="b" t="t" l="l"/>
              <a:pathLst>
                <a:path h="1243026" w="1243026">
                  <a:moveTo>
                    <a:pt x="0" y="0"/>
                  </a:moveTo>
                  <a:lnTo>
                    <a:pt x="1243027" y="0"/>
                  </a:lnTo>
                  <a:lnTo>
                    <a:pt x="1243027" y="1243027"/>
                  </a:lnTo>
                  <a:lnTo>
                    <a:pt x="0" y="124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5400000">
              <a:off x="1545511" y="13080091"/>
              <a:ext cx="13818218" cy="6917125"/>
              <a:chOff x="0" y="0"/>
              <a:chExt cx="2729525" cy="136634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29524" cy="1366346"/>
              </a:xfrm>
              <a:custGeom>
                <a:avLst/>
                <a:gdLst/>
                <a:ahLst/>
                <a:cxnLst/>
                <a:rect r="r" b="b" t="t" l="l"/>
                <a:pathLst>
                  <a:path h="1366346" w="2729524">
                    <a:moveTo>
                      <a:pt x="0" y="0"/>
                    </a:moveTo>
                    <a:lnTo>
                      <a:pt x="2729524" y="0"/>
                    </a:lnTo>
                    <a:lnTo>
                      <a:pt x="2729524" y="1366346"/>
                    </a:lnTo>
                    <a:lnTo>
                      <a:pt x="0" y="1366346"/>
                    </a:lnTo>
                    <a:close/>
                  </a:path>
                </a:pathLst>
              </a:custGeom>
              <a:solidFill>
                <a:srgbClr val="73111C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729525" cy="1413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5400000">
              <a:off x="9433866" y="12858418"/>
              <a:ext cx="13374872" cy="6917125"/>
              <a:chOff x="0" y="0"/>
              <a:chExt cx="2641950" cy="136634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641950" cy="1366346"/>
              </a:xfrm>
              <a:custGeom>
                <a:avLst/>
                <a:gdLst/>
                <a:ahLst/>
                <a:cxnLst/>
                <a:rect r="r" b="b" t="t" l="l"/>
                <a:pathLst>
                  <a:path h="1366346" w="2641950">
                    <a:moveTo>
                      <a:pt x="0" y="0"/>
                    </a:moveTo>
                    <a:lnTo>
                      <a:pt x="2641950" y="0"/>
                    </a:lnTo>
                    <a:lnTo>
                      <a:pt x="2641950" y="1366346"/>
                    </a:lnTo>
                    <a:lnTo>
                      <a:pt x="0" y="1366346"/>
                    </a:lnTo>
                    <a:close/>
                  </a:path>
                </a:pathLst>
              </a:custGeom>
              <a:solidFill>
                <a:srgbClr val="A3213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2641950" cy="1413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5400000">
              <a:off x="16296728" y="13661982"/>
              <a:ext cx="14982000" cy="6917125"/>
              <a:chOff x="0" y="0"/>
              <a:chExt cx="2959407" cy="136634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959407" cy="1366346"/>
              </a:xfrm>
              <a:custGeom>
                <a:avLst/>
                <a:gdLst/>
                <a:ahLst/>
                <a:cxnLst/>
                <a:rect r="r" b="b" t="t" l="l"/>
                <a:pathLst>
                  <a:path h="1366346" w="2959407">
                    <a:moveTo>
                      <a:pt x="0" y="0"/>
                    </a:moveTo>
                    <a:lnTo>
                      <a:pt x="2959407" y="0"/>
                    </a:lnTo>
                    <a:lnTo>
                      <a:pt x="2959407" y="1366346"/>
                    </a:lnTo>
                    <a:lnTo>
                      <a:pt x="0" y="1366346"/>
                    </a:lnTo>
                    <a:close/>
                  </a:path>
                </a:pathLst>
              </a:custGeom>
              <a:solidFill>
                <a:srgbClr val="C0353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2959407" cy="1413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5817250" y="10539426"/>
              <a:ext cx="5213846" cy="18495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208"/>
                </a:lnSpc>
              </a:pPr>
              <a:r>
                <a:rPr lang="en-US" b="true" sz="8895">
                  <a:solidFill>
                    <a:srgbClr val="E5CCA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Syntax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2709734" y="10542887"/>
              <a:ext cx="6865017" cy="17457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677"/>
                </a:lnSpc>
              </a:pPr>
              <a:r>
                <a:rPr lang="en-US" b="true" sz="8474">
                  <a:solidFill>
                    <a:srgbClr val="E5CCA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Semantic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0777274" y="10280967"/>
              <a:ext cx="5994689" cy="2740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219"/>
                </a:lnSpc>
              </a:pPr>
              <a:r>
                <a:rPr lang="en-US" b="true" sz="6523">
                  <a:solidFill>
                    <a:srgbClr val="E5CCA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Type System​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23186866" y="16081921"/>
              <a:ext cx="9304283" cy="9304283"/>
            </a:xfrm>
            <a:custGeom>
              <a:avLst/>
              <a:gdLst/>
              <a:ahLst/>
              <a:cxnLst/>
              <a:rect r="r" b="b" t="t" l="l"/>
              <a:pathLst>
                <a:path h="9304283" w="9304283">
                  <a:moveTo>
                    <a:pt x="0" y="0"/>
                  </a:moveTo>
                  <a:lnTo>
                    <a:pt x="9304282" y="0"/>
                  </a:lnTo>
                  <a:lnTo>
                    <a:pt x="9304282" y="9304283"/>
                  </a:lnTo>
                  <a:lnTo>
                    <a:pt x="0" y="9304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5641445" y="13261844"/>
              <a:ext cx="5565458" cy="709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21"/>
                </a:lnSpc>
                <a:spcBef>
                  <a:spcPct val="0"/>
                </a:spcBef>
              </a:pPr>
              <a:r>
                <a:rPr lang="en-US" sz="322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ใช้ trait และ struct ,impl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2802068" y="12558456"/>
              <a:ext cx="6638470" cy="57267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95"/>
                </a:lnSpc>
                <a:spcBef>
                  <a:spcPct val="0"/>
                </a:spcBef>
              </a:pPr>
              <a:r>
                <a:rPr lang="en-US" sz="3496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โดย</a:t>
              </a:r>
              <a:r>
                <a:rPr lang="en-US" sz="3496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trait จะกำหนดพฤติกรรมที่มีร่วมกันให้แต่ละ stuct ซึ่งแต่ละ struct สามารถกำหนดการทำงานของพฤติกรรมให้แตกต่างได้ และใช้ impl ในการ implement trait ออกมา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1061144" y="13588149"/>
              <a:ext cx="5426949" cy="709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21"/>
                </a:lnSpc>
                <a:spcBef>
                  <a:spcPct val="0"/>
                </a:spcBef>
              </a:pPr>
              <a:r>
                <a:rPr lang="en-US" sz="322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</a:t>
              </a:r>
              <a:r>
                <a:rPr lang="en-US" sz="322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tatic type system 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04210" y="-239917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848127" y="-8444869"/>
            <a:ext cx="33852673" cy="26450000"/>
            <a:chOff x="0" y="0"/>
            <a:chExt cx="45136898" cy="352666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25565" cy="12925565"/>
            </a:xfrm>
            <a:custGeom>
              <a:avLst/>
              <a:gdLst/>
              <a:ahLst/>
              <a:cxnLst/>
              <a:rect r="r" b="b" t="t" l="l"/>
              <a:pathLst>
                <a:path h="12925565" w="12925565">
                  <a:moveTo>
                    <a:pt x="0" y="0"/>
                  </a:moveTo>
                  <a:lnTo>
                    <a:pt x="12925565" y="0"/>
                  </a:lnTo>
                  <a:lnTo>
                    <a:pt x="12925565" y="12925565"/>
                  </a:lnTo>
                  <a:lnTo>
                    <a:pt x="0" y="12925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1745208" y="10231652"/>
              <a:ext cx="23114415" cy="26939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758"/>
                </a:lnSpc>
              </a:pPr>
              <a:r>
                <a:rPr lang="en-US" sz="13718">
                  <a:solidFill>
                    <a:srgbClr val="990F19"/>
                  </a:solidFill>
                  <a:latin typeface="Bungee"/>
                  <a:ea typeface="Bungee"/>
                  <a:cs typeface="Bungee"/>
                  <a:sym typeface="Bungee"/>
                </a:rPr>
                <a:t>PPL PER</a:t>
              </a:r>
              <a:r>
                <a:rPr lang="en-US" sz="13718">
                  <a:solidFill>
                    <a:srgbClr val="990F19"/>
                  </a:solidFill>
                  <a:latin typeface="Bungee"/>
                  <a:ea typeface="Bungee"/>
                  <a:cs typeface="Bungee"/>
                  <a:sym typeface="Bungee"/>
                </a:rPr>
                <a:t>SPECTIVE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9640230" y="10672336"/>
              <a:ext cx="1726820" cy="1726820"/>
            </a:xfrm>
            <a:custGeom>
              <a:avLst/>
              <a:gdLst/>
              <a:ahLst/>
              <a:cxnLst/>
              <a:rect r="r" b="b" t="t" l="l"/>
              <a:pathLst>
                <a:path h="1726820" w="1726820">
                  <a:moveTo>
                    <a:pt x="0" y="0"/>
                  </a:moveTo>
                  <a:lnTo>
                    <a:pt x="1726820" y="0"/>
                  </a:lnTo>
                  <a:lnTo>
                    <a:pt x="1726820" y="1726820"/>
                  </a:lnTo>
                  <a:lnTo>
                    <a:pt x="0" y="1726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5400000">
              <a:off x="2147033" y="18170941"/>
              <a:ext cx="19196351" cy="9609312"/>
              <a:chOff x="0" y="0"/>
              <a:chExt cx="2729525" cy="136634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29524" cy="1366346"/>
              </a:xfrm>
              <a:custGeom>
                <a:avLst/>
                <a:gdLst/>
                <a:ahLst/>
                <a:cxnLst/>
                <a:rect r="r" b="b" t="t" l="l"/>
                <a:pathLst>
                  <a:path h="1366346" w="2729524">
                    <a:moveTo>
                      <a:pt x="0" y="0"/>
                    </a:moveTo>
                    <a:lnTo>
                      <a:pt x="2729524" y="0"/>
                    </a:lnTo>
                    <a:lnTo>
                      <a:pt x="2729524" y="1366346"/>
                    </a:lnTo>
                    <a:lnTo>
                      <a:pt x="0" y="1366346"/>
                    </a:lnTo>
                    <a:close/>
                  </a:path>
                </a:pathLst>
              </a:custGeom>
              <a:solidFill>
                <a:srgbClr val="73111C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729525" cy="1413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5400000">
              <a:off x="13105584" y="17862992"/>
              <a:ext cx="18580453" cy="9609312"/>
              <a:chOff x="0" y="0"/>
              <a:chExt cx="2641950" cy="136634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641950" cy="1366346"/>
              </a:xfrm>
              <a:custGeom>
                <a:avLst/>
                <a:gdLst/>
                <a:ahLst/>
                <a:cxnLst/>
                <a:rect r="r" b="b" t="t" l="l"/>
                <a:pathLst>
                  <a:path h="1366346" w="2641950">
                    <a:moveTo>
                      <a:pt x="0" y="0"/>
                    </a:moveTo>
                    <a:lnTo>
                      <a:pt x="2641950" y="0"/>
                    </a:lnTo>
                    <a:lnTo>
                      <a:pt x="2641950" y="1366346"/>
                    </a:lnTo>
                    <a:lnTo>
                      <a:pt x="0" y="1366346"/>
                    </a:lnTo>
                    <a:close/>
                  </a:path>
                </a:pathLst>
              </a:custGeom>
              <a:solidFill>
                <a:srgbClr val="A3213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2641950" cy="1413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5400000">
              <a:off x="22639512" y="18979307"/>
              <a:ext cx="20813084" cy="9609312"/>
              <a:chOff x="0" y="0"/>
              <a:chExt cx="2959407" cy="136634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959407" cy="1366346"/>
              </a:xfrm>
              <a:custGeom>
                <a:avLst/>
                <a:gdLst/>
                <a:ahLst/>
                <a:cxnLst/>
                <a:rect r="r" b="b" t="t" l="l"/>
                <a:pathLst>
                  <a:path h="1366346" w="2959407">
                    <a:moveTo>
                      <a:pt x="0" y="0"/>
                    </a:moveTo>
                    <a:lnTo>
                      <a:pt x="2959407" y="0"/>
                    </a:lnTo>
                    <a:lnTo>
                      <a:pt x="2959407" y="1366346"/>
                    </a:lnTo>
                    <a:lnTo>
                      <a:pt x="0" y="1366346"/>
                    </a:lnTo>
                    <a:close/>
                  </a:path>
                </a:pathLst>
              </a:custGeom>
              <a:solidFill>
                <a:srgbClr val="C0353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2959407" cy="1413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8081359" y="14654152"/>
              <a:ext cx="7243106" cy="25567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570"/>
                </a:lnSpc>
              </a:pPr>
              <a:r>
                <a:rPr lang="en-US" b="true" sz="12357">
                  <a:solidFill>
                    <a:srgbClr val="E5CCA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Syntax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7656438" y="14632496"/>
              <a:ext cx="9536923" cy="2438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833"/>
                </a:lnSpc>
              </a:pPr>
              <a:r>
                <a:rPr lang="en-US" b="true" sz="11772">
                  <a:solidFill>
                    <a:srgbClr val="E5CCA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Semantic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8863914" y="14278159"/>
              <a:ext cx="8327858" cy="38112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418"/>
                </a:lnSpc>
              </a:pPr>
              <a:r>
                <a:rPr lang="en-US" b="true" sz="9062">
                  <a:solidFill>
                    <a:srgbClr val="E5CCA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Type System​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32211333" y="22341101"/>
              <a:ext cx="12925565" cy="12925565"/>
            </a:xfrm>
            <a:custGeom>
              <a:avLst/>
              <a:gdLst/>
              <a:ahLst/>
              <a:cxnLst/>
              <a:rect r="r" b="b" t="t" l="l"/>
              <a:pathLst>
                <a:path h="12925565" w="12925565">
                  <a:moveTo>
                    <a:pt x="0" y="0"/>
                  </a:moveTo>
                  <a:lnTo>
                    <a:pt x="12925565" y="0"/>
                  </a:lnTo>
                  <a:lnTo>
                    <a:pt x="12925565" y="12925565"/>
                  </a:lnTo>
                  <a:lnTo>
                    <a:pt x="0" y="12925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7837129" y="18417101"/>
              <a:ext cx="7731567" cy="9923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81"/>
                </a:lnSpc>
                <a:spcBef>
                  <a:spcPct val="0"/>
                </a:spcBef>
              </a:pPr>
              <a:r>
                <a:rPr lang="en-US" sz="448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ใช้ trait และ struct ,impl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7784709" y="17453182"/>
              <a:ext cx="9222202" cy="79487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00"/>
                </a:lnSpc>
                <a:spcBef>
                  <a:spcPct val="0"/>
                </a:spcBef>
              </a:pPr>
              <a:r>
                <a:rPr lang="en-US" sz="485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โดย</a:t>
              </a:r>
              <a:r>
                <a:rPr lang="en-US" sz="485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trait จะกำหนดพฤติกรรมที่มีร่วมกันให้แต่ละ stuct ซึ่งแต่ละ struct สามารถกำหนดการทำงานของพฤติกรรมให้แตกต่างได้ และใช้ impl ในการ implement trait ออกมา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9258267" y="18870406"/>
              <a:ext cx="7539151" cy="9923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81"/>
                </a:lnSpc>
                <a:spcBef>
                  <a:spcPct val="0"/>
                </a:spcBef>
              </a:pPr>
              <a:r>
                <a:rPr lang="en-US" sz="448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</a:t>
              </a:r>
              <a:r>
                <a:rPr lang="en-US" sz="448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tatic type system 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04210" y="-239917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782337" y="-9113249"/>
            <a:ext cx="33852673" cy="26450000"/>
            <a:chOff x="0" y="0"/>
            <a:chExt cx="45136898" cy="352666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25565" cy="12925565"/>
            </a:xfrm>
            <a:custGeom>
              <a:avLst/>
              <a:gdLst/>
              <a:ahLst/>
              <a:cxnLst/>
              <a:rect r="r" b="b" t="t" l="l"/>
              <a:pathLst>
                <a:path h="12925565" w="12925565">
                  <a:moveTo>
                    <a:pt x="0" y="0"/>
                  </a:moveTo>
                  <a:lnTo>
                    <a:pt x="12925565" y="0"/>
                  </a:lnTo>
                  <a:lnTo>
                    <a:pt x="12925565" y="12925565"/>
                  </a:lnTo>
                  <a:lnTo>
                    <a:pt x="0" y="12925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1745208" y="10231652"/>
              <a:ext cx="23114415" cy="26939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758"/>
                </a:lnSpc>
              </a:pPr>
              <a:r>
                <a:rPr lang="en-US" sz="13718">
                  <a:solidFill>
                    <a:srgbClr val="990F19"/>
                  </a:solidFill>
                  <a:latin typeface="Bungee"/>
                  <a:ea typeface="Bungee"/>
                  <a:cs typeface="Bungee"/>
                  <a:sym typeface="Bungee"/>
                </a:rPr>
                <a:t>PPL PER</a:t>
              </a:r>
              <a:r>
                <a:rPr lang="en-US" sz="13718">
                  <a:solidFill>
                    <a:srgbClr val="990F19"/>
                  </a:solidFill>
                  <a:latin typeface="Bungee"/>
                  <a:ea typeface="Bungee"/>
                  <a:cs typeface="Bungee"/>
                  <a:sym typeface="Bungee"/>
                </a:rPr>
                <a:t>SPECTIVE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9640230" y="10672336"/>
              <a:ext cx="1726820" cy="1726820"/>
            </a:xfrm>
            <a:custGeom>
              <a:avLst/>
              <a:gdLst/>
              <a:ahLst/>
              <a:cxnLst/>
              <a:rect r="r" b="b" t="t" l="l"/>
              <a:pathLst>
                <a:path h="1726820" w="1726820">
                  <a:moveTo>
                    <a:pt x="0" y="0"/>
                  </a:moveTo>
                  <a:lnTo>
                    <a:pt x="1726820" y="0"/>
                  </a:lnTo>
                  <a:lnTo>
                    <a:pt x="1726820" y="1726820"/>
                  </a:lnTo>
                  <a:lnTo>
                    <a:pt x="0" y="1726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5400000">
              <a:off x="2147033" y="18170941"/>
              <a:ext cx="19196351" cy="9609312"/>
              <a:chOff x="0" y="0"/>
              <a:chExt cx="2729525" cy="136634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29524" cy="1366346"/>
              </a:xfrm>
              <a:custGeom>
                <a:avLst/>
                <a:gdLst/>
                <a:ahLst/>
                <a:cxnLst/>
                <a:rect r="r" b="b" t="t" l="l"/>
                <a:pathLst>
                  <a:path h="1366346" w="2729524">
                    <a:moveTo>
                      <a:pt x="0" y="0"/>
                    </a:moveTo>
                    <a:lnTo>
                      <a:pt x="2729524" y="0"/>
                    </a:lnTo>
                    <a:lnTo>
                      <a:pt x="2729524" y="1366346"/>
                    </a:lnTo>
                    <a:lnTo>
                      <a:pt x="0" y="1366346"/>
                    </a:lnTo>
                    <a:close/>
                  </a:path>
                </a:pathLst>
              </a:custGeom>
              <a:solidFill>
                <a:srgbClr val="73111C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729525" cy="1413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5400000">
              <a:off x="13105584" y="17862992"/>
              <a:ext cx="18580453" cy="9609312"/>
              <a:chOff x="0" y="0"/>
              <a:chExt cx="2641950" cy="136634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641950" cy="1366346"/>
              </a:xfrm>
              <a:custGeom>
                <a:avLst/>
                <a:gdLst/>
                <a:ahLst/>
                <a:cxnLst/>
                <a:rect r="r" b="b" t="t" l="l"/>
                <a:pathLst>
                  <a:path h="1366346" w="2641950">
                    <a:moveTo>
                      <a:pt x="0" y="0"/>
                    </a:moveTo>
                    <a:lnTo>
                      <a:pt x="2641950" y="0"/>
                    </a:lnTo>
                    <a:lnTo>
                      <a:pt x="2641950" y="1366346"/>
                    </a:lnTo>
                    <a:lnTo>
                      <a:pt x="0" y="1366346"/>
                    </a:lnTo>
                    <a:close/>
                  </a:path>
                </a:pathLst>
              </a:custGeom>
              <a:solidFill>
                <a:srgbClr val="A3213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2641950" cy="1413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5400000">
              <a:off x="22639512" y="18979307"/>
              <a:ext cx="20813084" cy="9609312"/>
              <a:chOff x="0" y="0"/>
              <a:chExt cx="2959407" cy="136634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959407" cy="1366346"/>
              </a:xfrm>
              <a:custGeom>
                <a:avLst/>
                <a:gdLst/>
                <a:ahLst/>
                <a:cxnLst/>
                <a:rect r="r" b="b" t="t" l="l"/>
                <a:pathLst>
                  <a:path h="1366346" w="2959407">
                    <a:moveTo>
                      <a:pt x="0" y="0"/>
                    </a:moveTo>
                    <a:lnTo>
                      <a:pt x="2959407" y="0"/>
                    </a:lnTo>
                    <a:lnTo>
                      <a:pt x="2959407" y="1366346"/>
                    </a:lnTo>
                    <a:lnTo>
                      <a:pt x="0" y="1366346"/>
                    </a:lnTo>
                    <a:close/>
                  </a:path>
                </a:pathLst>
              </a:custGeom>
              <a:solidFill>
                <a:srgbClr val="C0353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2959407" cy="1413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8081359" y="14654152"/>
              <a:ext cx="7243106" cy="25567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570"/>
                </a:lnSpc>
              </a:pPr>
              <a:r>
                <a:rPr lang="en-US" b="true" sz="12357">
                  <a:solidFill>
                    <a:srgbClr val="E5CCA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Syntax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7656438" y="14632496"/>
              <a:ext cx="9536923" cy="2438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833"/>
                </a:lnSpc>
              </a:pPr>
              <a:r>
                <a:rPr lang="en-US" b="true" sz="11772">
                  <a:solidFill>
                    <a:srgbClr val="E5CCA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Semantic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8863914" y="14278159"/>
              <a:ext cx="8327858" cy="38112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418"/>
                </a:lnSpc>
              </a:pPr>
              <a:r>
                <a:rPr lang="en-US" b="true" sz="9062">
                  <a:solidFill>
                    <a:srgbClr val="E5CCA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Type System​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32211333" y="22341101"/>
              <a:ext cx="12925565" cy="12925565"/>
            </a:xfrm>
            <a:custGeom>
              <a:avLst/>
              <a:gdLst/>
              <a:ahLst/>
              <a:cxnLst/>
              <a:rect r="r" b="b" t="t" l="l"/>
              <a:pathLst>
                <a:path h="12925565" w="12925565">
                  <a:moveTo>
                    <a:pt x="0" y="0"/>
                  </a:moveTo>
                  <a:lnTo>
                    <a:pt x="12925565" y="0"/>
                  </a:lnTo>
                  <a:lnTo>
                    <a:pt x="12925565" y="12925565"/>
                  </a:lnTo>
                  <a:lnTo>
                    <a:pt x="0" y="12925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7837129" y="18417101"/>
              <a:ext cx="7731567" cy="9923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81"/>
                </a:lnSpc>
                <a:spcBef>
                  <a:spcPct val="0"/>
                </a:spcBef>
              </a:pPr>
              <a:r>
                <a:rPr lang="en-US" sz="448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ใช้ trait และ struct ,impl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7784709" y="17453182"/>
              <a:ext cx="9222202" cy="79487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00"/>
                </a:lnSpc>
                <a:spcBef>
                  <a:spcPct val="0"/>
                </a:spcBef>
              </a:pPr>
              <a:r>
                <a:rPr lang="en-US" sz="485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โดย</a:t>
              </a:r>
              <a:r>
                <a:rPr lang="en-US" sz="485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trait จะกำหนดพฤติกรรมที่มีร่วมกันให้แต่ละ stuct ซึ่งแต่ละ struct สามารถกำหนดการทำงานของพฤติกรรมให้แตกต่างได้ และใช้ impl ในการ implement trait ออกมา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9258267" y="18870406"/>
              <a:ext cx="7539151" cy="9923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81"/>
                </a:lnSpc>
                <a:spcBef>
                  <a:spcPct val="0"/>
                </a:spcBef>
              </a:pPr>
              <a:r>
                <a:rPr lang="en-US" sz="448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</a:t>
              </a:r>
              <a:r>
                <a:rPr lang="en-US" sz="448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tatic type system 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04210" y="-239917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4360463" y="-9246925"/>
            <a:ext cx="33852673" cy="26450000"/>
            <a:chOff x="0" y="0"/>
            <a:chExt cx="45136898" cy="352666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25565" cy="12925565"/>
            </a:xfrm>
            <a:custGeom>
              <a:avLst/>
              <a:gdLst/>
              <a:ahLst/>
              <a:cxnLst/>
              <a:rect r="r" b="b" t="t" l="l"/>
              <a:pathLst>
                <a:path h="12925565" w="12925565">
                  <a:moveTo>
                    <a:pt x="0" y="0"/>
                  </a:moveTo>
                  <a:lnTo>
                    <a:pt x="12925565" y="0"/>
                  </a:lnTo>
                  <a:lnTo>
                    <a:pt x="12925565" y="12925565"/>
                  </a:lnTo>
                  <a:lnTo>
                    <a:pt x="0" y="12925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1745208" y="10231652"/>
              <a:ext cx="23114415" cy="26939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758"/>
                </a:lnSpc>
              </a:pPr>
              <a:r>
                <a:rPr lang="en-US" sz="13718">
                  <a:solidFill>
                    <a:srgbClr val="990F19"/>
                  </a:solidFill>
                  <a:latin typeface="Bungee"/>
                  <a:ea typeface="Bungee"/>
                  <a:cs typeface="Bungee"/>
                  <a:sym typeface="Bungee"/>
                </a:rPr>
                <a:t>PPL PER</a:t>
              </a:r>
              <a:r>
                <a:rPr lang="en-US" sz="13718">
                  <a:solidFill>
                    <a:srgbClr val="990F19"/>
                  </a:solidFill>
                  <a:latin typeface="Bungee"/>
                  <a:ea typeface="Bungee"/>
                  <a:cs typeface="Bungee"/>
                  <a:sym typeface="Bungee"/>
                </a:rPr>
                <a:t>SPECTIVE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9640230" y="10672336"/>
              <a:ext cx="1726820" cy="1726820"/>
            </a:xfrm>
            <a:custGeom>
              <a:avLst/>
              <a:gdLst/>
              <a:ahLst/>
              <a:cxnLst/>
              <a:rect r="r" b="b" t="t" l="l"/>
              <a:pathLst>
                <a:path h="1726820" w="1726820">
                  <a:moveTo>
                    <a:pt x="0" y="0"/>
                  </a:moveTo>
                  <a:lnTo>
                    <a:pt x="1726820" y="0"/>
                  </a:lnTo>
                  <a:lnTo>
                    <a:pt x="1726820" y="1726820"/>
                  </a:lnTo>
                  <a:lnTo>
                    <a:pt x="0" y="1726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5400000">
              <a:off x="2147033" y="18170941"/>
              <a:ext cx="19196351" cy="9609312"/>
              <a:chOff x="0" y="0"/>
              <a:chExt cx="2729525" cy="136634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29524" cy="1366346"/>
              </a:xfrm>
              <a:custGeom>
                <a:avLst/>
                <a:gdLst/>
                <a:ahLst/>
                <a:cxnLst/>
                <a:rect r="r" b="b" t="t" l="l"/>
                <a:pathLst>
                  <a:path h="1366346" w="2729524">
                    <a:moveTo>
                      <a:pt x="0" y="0"/>
                    </a:moveTo>
                    <a:lnTo>
                      <a:pt x="2729524" y="0"/>
                    </a:lnTo>
                    <a:lnTo>
                      <a:pt x="2729524" y="1366346"/>
                    </a:lnTo>
                    <a:lnTo>
                      <a:pt x="0" y="1366346"/>
                    </a:lnTo>
                    <a:close/>
                  </a:path>
                </a:pathLst>
              </a:custGeom>
              <a:solidFill>
                <a:srgbClr val="73111C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729525" cy="1413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5400000">
              <a:off x="13105584" y="17862992"/>
              <a:ext cx="18580453" cy="9609312"/>
              <a:chOff x="0" y="0"/>
              <a:chExt cx="2641950" cy="136634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641950" cy="1366346"/>
              </a:xfrm>
              <a:custGeom>
                <a:avLst/>
                <a:gdLst/>
                <a:ahLst/>
                <a:cxnLst/>
                <a:rect r="r" b="b" t="t" l="l"/>
                <a:pathLst>
                  <a:path h="1366346" w="2641950">
                    <a:moveTo>
                      <a:pt x="0" y="0"/>
                    </a:moveTo>
                    <a:lnTo>
                      <a:pt x="2641950" y="0"/>
                    </a:lnTo>
                    <a:lnTo>
                      <a:pt x="2641950" y="1366346"/>
                    </a:lnTo>
                    <a:lnTo>
                      <a:pt x="0" y="1366346"/>
                    </a:lnTo>
                    <a:close/>
                  </a:path>
                </a:pathLst>
              </a:custGeom>
              <a:solidFill>
                <a:srgbClr val="A3213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2641950" cy="1413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5400000">
              <a:off x="22639512" y="18979307"/>
              <a:ext cx="20813084" cy="9609312"/>
              <a:chOff x="0" y="0"/>
              <a:chExt cx="2959407" cy="136634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959407" cy="1366346"/>
              </a:xfrm>
              <a:custGeom>
                <a:avLst/>
                <a:gdLst/>
                <a:ahLst/>
                <a:cxnLst/>
                <a:rect r="r" b="b" t="t" l="l"/>
                <a:pathLst>
                  <a:path h="1366346" w="2959407">
                    <a:moveTo>
                      <a:pt x="0" y="0"/>
                    </a:moveTo>
                    <a:lnTo>
                      <a:pt x="2959407" y="0"/>
                    </a:lnTo>
                    <a:lnTo>
                      <a:pt x="2959407" y="1366346"/>
                    </a:lnTo>
                    <a:lnTo>
                      <a:pt x="0" y="1366346"/>
                    </a:lnTo>
                    <a:close/>
                  </a:path>
                </a:pathLst>
              </a:custGeom>
              <a:solidFill>
                <a:srgbClr val="C0353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2959407" cy="1413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8081359" y="14654152"/>
              <a:ext cx="7243106" cy="25567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570"/>
                </a:lnSpc>
              </a:pPr>
              <a:r>
                <a:rPr lang="en-US" b="true" sz="12357">
                  <a:solidFill>
                    <a:srgbClr val="E5CCA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Syntax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7656438" y="14632496"/>
              <a:ext cx="9536923" cy="2438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833"/>
                </a:lnSpc>
              </a:pPr>
              <a:r>
                <a:rPr lang="en-US" b="true" sz="11772">
                  <a:solidFill>
                    <a:srgbClr val="E5CCA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Semantic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8863914" y="14278159"/>
              <a:ext cx="8327858" cy="38112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418"/>
                </a:lnSpc>
              </a:pPr>
              <a:r>
                <a:rPr lang="en-US" b="true" sz="9062">
                  <a:solidFill>
                    <a:srgbClr val="E5CCA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Type System​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32211333" y="22341101"/>
              <a:ext cx="12925565" cy="12925565"/>
            </a:xfrm>
            <a:custGeom>
              <a:avLst/>
              <a:gdLst/>
              <a:ahLst/>
              <a:cxnLst/>
              <a:rect r="r" b="b" t="t" l="l"/>
              <a:pathLst>
                <a:path h="12925565" w="12925565">
                  <a:moveTo>
                    <a:pt x="0" y="0"/>
                  </a:moveTo>
                  <a:lnTo>
                    <a:pt x="12925565" y="0"/>
                  </a:lnTo>
                  <a:lnTo>
                    <a:pt x="12925565" y="12925565"/>
                  </a:lnTo>
                  <a:lnTo>
                    <a:pt x="0" y="12925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7837129" y="18417101"/>
              <a:ext cx="7731567" cy="9923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81"/>
                </a:lnSpc>
                <a:spcBef>
                  <a:spcPct val="0"/>
                </a:spcBef>
              </a:pPr>
              <a:r>
                <a:rPr lang="en-US" sz="448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ใช้ trait และ struct ,impl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7784709" y="17453182"/>
              <a:ext cx="9222202" cy="79487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00"/>
                </a:lnSpc>
                <a:spcBef>
                  <a:spcPct val="0"/>
                </a:spcBef>
              </a:pPr>
              <a:r>
                <a:rPr lang="en-US" sz="485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โดย</a:t>
              </a:r>
              <a:r>
                <a:rPr lang="en-US" sz="485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trait จะกำหนดพฤติกรรมที่มีร่วมกันให้แต่ละ stuct ซึ่งแต่ละ struct สามารถกำหนดการทำงานของพฤติกรรมให้แตกต่างได้ และใช้ impl ในการ implement trait ออกมา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9258267" y="18870406"/>
              <a:ext cx="7539151" cy="9923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81"/>
                </a:lnSpc>
                <a:spcBef>
                  <a:spcPct val="0"/>
                </a:spcBef>
              </a:pPr>
              <a:r>
                <a:rPr lang="en-US" sz="448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</a:t>
              </a:r>
              <a:r>
                <a:rPr lang="en-US" sz="448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tatic type system 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04210" y="-239917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2853267" y="-4153630"/>
            <a:ext cx="26088592" cy="19039653"/>
            <a:chOff x="0" y="0"/>
            <a:chExt cx="34784789" cy="253862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04283" cy="9304283"/>
            </a:xfrm>
            <a:custGeom>
              <a:avLst/>
              <a:gdLst/>
              <a:ahLst/>
              <a:cxnLst/>
              <a:rect r="r" b="b" t="t" l="l"/>
              <a:pathLst>
                <a:path h="9304283" w="9304283">
                  <a:moveTo>
                    <a:pt x="0" y="0"/>
                  </a:moveTo>
                  <a:lnTo>
                    <a:pt x="9304283" y="0"/>
                  </a:lnTo>
                  <a:lnTo>
                    <a:pt x="9304283" y="9304283"/>
                  </a:lnTo>
                  <a:lnTo>
                    <a:pt x="0" y="9304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5175957" y="7580000"/>
              <a:ext cx="29608832" cy="17242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176"/>
                </a:lnSpc>
              </a:pPr>
              <a:r>
                <a:rPr lang="en-US" sz="8791">
                  <a:solidFill>
                    <a:srgbClr val="990F19"/>
                  </a:solidFill>
                  <a:latin typeface="Bungee"/>
                  <a:ea typeface="Bungee"/>
                  <a:cs typeface="Bungee"/>
                  <a:sym typeface="Bungee"/>
                </a:rPr>
                <a:t>PPL PER</a:t>
              </a:r>
              <a:r>
                <a:rPr lang="en-US" sz="8791">
                  <a:solidFill>
                    <a:srgbClr val="990F19"/>
                  </a:solidFill>
                  <a:latin typeface="Bungee"/>
                  <a:ea typeface="Bungee"/>
                  <a:cs typeface="Bungee"/>
                  <a:sym typeface="Bungee"/>
                </a:rPr>
                <a:t>SPECTIVE  (CONST.)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-5400000">
              <a:off x="16878490" y="13080091"/>
              <a:ext cx="13818218" cy="6917125"/>
              <a:chOff x="0" y="0"/>
              <a:chExt cx="2729525" cy="136634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729524" cy="1366346"/>
              </a:xfrm>
              <a:custGeom>
                <a:avLst/>
                <a:gdLst/>
                <a:ahLst/>
                <a:cxnLst/>
                <a:rect r="r" b="b" t="t" l="l"/>
                <a:pathLst>
                  <a:path h="1366346" w="2729524">
                    <a:moveTo>
                      <a:pt x="0" y="0"/>
                    </a:moveTo>
                    <a:lnTo>
                      <a:pt x="2729524" y="0"/>
                    </a:lnTo>
                    <a:lnTo>
                      <a:pt x="2729524" y="1366346"/>
                    </a:lnTo>
                    <a:lnTo>
                      <a:pt x="0" y="1366346"/>
                    </a:lnTo>
                    <a:close/>
                  </a:path>
                </a:pathLst>
              </a:custGeom>
              <a:solidFill>
                <a:srgbClr val="73111C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2729525" cy="1413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-5400000">
              <a:off x="9433737" y="12858418"/>
              <a:ext cx="13374872" cy="6917125"/>
              <a:chOff x="0" y="0"/>
              <a:chExt cx="2641950" cy="136634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641950" cy="1366346"/>
              </a:xfrm>
              <a:custGeom>
                <a:avLst/>
                <a:gdLst/>
                <a:ahLst/>
                <a:cxnLst/>
                <a:rect r="r" b="b" t="t" l="l"/>
                <a:pathLst>
                  <a:path h="1366346" w="2641950">
                    <a:moveTo>
                      <a:pt x="0" y="0"/>
                    </a:moveTo>
                    <a:lnTo>
                      <a:pt x="2641950" y="0"/>
                    </a:lnTo>
                    <a:lnTo>
                      <a:pt x="2641950" y="1366346"/>
                    </a:lnTo>
                    <a:lnTo>
                      <a:pt x="0" y="1366346"/>
                    </a:lnTo>
                    <a:close/>
                  </a:path>
                </a:pathLst>
              </a:custGeom>
              <a:solidFill>
                <a:srgbClr val="A3213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2641950" cy="1413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-5400000">
              <a:off x="963620" y="13661982"/>
              <a:ext cx="14982000" cy="6917125"/>
              <a:chOff x="0" y="0"/>
              <a:chExt cx="2959407" cy="136634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959407" cy="1366346"/>
              </a:xfrm>
              <a:custGeom>
                <a:avLst/>
                <a:gdLst/>
                <a:ahLst/>
                <a:cxnLst/>
                <a:rect r="r" b="b" t="t" l="l"/>
                <a:pathLst>
                  <a:path h="1366346" w="2959407">
                    <a:moveTo>
                      <a:pt x="0" y="0"/>
                    </a:moveTo>
                    <a:lnTo>
                      <a:pt x="2959407" y="0"/>
                    </a:lnTo>
                    <a:lnTo>
                      <a:pt x="2959407" y="1366346"/>
                    </a:lnTo>
                    <a:lnTo>
                      <a:pt x="0" y="1366346"/>
                    </a:lnTo>
                    <a:close/>
                  </a:path>
                </a:pathLst>
              </a:custGeom>
              <a:solidFill>
                <a:srgbClr val="C0353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2959407" cy="1413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5745393" y="10598853"/>
              <a:ext cx="7638783" cy="2457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407"/>
                </a:lnSpc>
              </a:pPr>
              <a:r>
                <a:rPr lang="en-US" b="true" sz="5879">
                  <a:solidFill>
                    <a:srgbClr val="E5CCA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Memory / Resource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2828599" y="10535106"/>
              <a:ext cx="6659442" cy="1316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995"/>
                </a:lnSpc>
              </a:pPr>
              <a:r>
                <a:rPr lang="en-US" b="true" sz="6345">
                  <a:solidFill>
                    <a:srgbClr val="E5CCA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Abstraction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0633359" y="10686091"/>
              <a:ext cx="9645210" cy="1542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406"/>
                </a:lnSpc>
              </a:pPr>
              <a:r>
                <a:rPr lang="en-US" b="true" sz="7465">
                  <a:solidFill>
                    <a:srgbClr val="E5CCA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Why Rust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23186866" y="16081921"/>
              <a:ext cx="9304283" cy="9304283"/>
            </a:xfrm>
            <a:custGeom>
              <a:avLst/>
              <a:gdLst/>
              <a:ahLst/>
              <a:cxnLst/>
              <a:rect r="r" b="b" t="t" l="l"/>
              <a:pathLst>
                <a:path h="9304283" w="9304283">
                  <a:moveTo>
                    <a:pt x="0" y="0"/>
                  </a:moveTo>
                  <a:lnTo>
                    <a:pt x="9304282" y="0"/>
                  </a:lnTo>
                  <a:lnTo>
                    <a:pt x="9304282" y="9304283"/>
                  </a:lnTo>
                  <a:lnTo>
                    <a:pt x="0" y="9304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5745393" y="13362722"/>
              <a:ext cx="5418454" cy="4519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18"/>
                </a:lnSpc>
                <a:spcBef>
                  <a:spcPct val="0"/>
                </a:spcBef>
              </a:pPr>
              <a:r>
                <a:rPr lang="en-US" sz="322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ใช้ ownership และ borrowing ในการจัดการ Memory โดยตรวจสอบใน complile time โดยไม่จำเป็นต้องใช้ garbage collector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3037279" y="12339023"/>
              <a:ext cx="6167789" cy="6805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18"/>
                </a:lnSpc>
                <a:spcBef>
                  <a:spcPct val="0"/>
                </a:spcBef>
              </a:pPr>
              <a:r>
                <a:rPr lang="en-US" sz="322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z</a:t>
              </a:r>
              <a:r>
                <a:rPr lang="en-US" sz="322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ero-cost abstraction  สามารถใช้ abstraction ระดับสูงโดยไม่เสียประสิทธิภาพการทำงานลงไปและมี spoce บอก compiler ว่า borrow จะใช้งานได้เมื่อใด ทรัพยากรสามารถคืนได้เมือใด ตัวแปรที่สร้างจะถูกทำลายเมื่อใด 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1142540" y="13362693"/>
              <a:ext cx="5290118" cy="3757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18"/>
                </a:lnSpc>
                <a:spcBef>
                  <a:spcPct val="0"/>
                </a:spcBef>
              </a:pPr>
              <a:r>
                <a:rPr lang="en-US" sz="322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มี own</a:t>
              </a:r>
              <a:r>
                <a:rPr lang="en-US" sz="322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ership และ borrowing ช่วยจัดการ memory และ safety , Zero-cost Abstraction 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04210" y="-239917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04210" y="-9595684"/>
            <a:ext cx="35499198" cy="25907585"/>
            <a:chOff x="0" y="0"/>
            <a:chExt cx="47332264" cy="34543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60499" cy="12660499"/>
            </a:xfrm>
            <a:custGeom>
              <a:avLst/>
              <a:gdLst/>
              <a:ahLst/>
              <a:cxnLst/>
              <a:rect r="r" b="b" t="t" l="l"/>
              <a:pathLst>
                <a:path h="12660499" w="12660499">
                  <a:moveTo>
                    <a:pt x="0" y="0"/>
                  </a:moveTo>
                  <a:lnTo>
                    <a:pt x="12660499" y="0"/>
                  </a:lnTo>
                  <a:lnTo>
                    <a:pt x="12660499" y="12660499"/>
                  </a:lnTo>
                  <a:lnTo>
                    <a:pt x="0" y="12660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7043014" y="10303147"/>
              <a:ext cx="40289251" cy="23573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125"/>
                </a:lnSpc>
              </a:pPr>
              <a:r>
                <a:rPr lang="en-US" sz="11963">
                  <a:solidFill>
                    <a:srgbClr val="990F19"/>
                  </a:solidFill>
                  <a:latin typeface="Bungee"/>
                  <a:ea typeface="Bungee"/>
                  <a:cs typeface="Bungee"/>
                  <a:sym typeface="Bungee"/>
                </a:rPr>
                <a:t>PPL PER</a:t>
              </a:r>
              <a:r>
                <a:rPr lang="en-US" sz="11963">
                  <a:solidFill>
                    <a:srgbClr val="990F19"/>
                  </a:solidFill>
                  <a:latin typeface="Bungee"/>
                  <a:ea typeface="Bungee"/>
                  <a:cs typeface="Bungee"/>
                  <a:sym typeface="Bungee"/>
                </a:rPr>
                <a:t>SPECTIVE  (CONST.)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-5400000">
              <a:off x="22966853" y="17798306"/>
              <a:ext cx="18802688" cy="9412252"/>
              <a:chOff x="0" y="0"/>
              <a:chExt cx="2729525" cy="136634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729524" cy="1366346"/>
              </a:xfrm>
              <a:custGeom>
                <a:avLst/>
                <a:gdLst/>
                <a:ahLst/>
                <a:cxnLst/>
                <a:rect r="r" b="b" t="t" l="l"/>
                <a:pathLst>
                  <a:path h="1366346" w="2729524">
                    <a:moveTo>
                      <a:pt x="0" y="0"/>
                    </a:moveTo>
                    <a:lnTo>
                      <a:pt x="2729524" y="0"/>
                    </a:lnTo>
                    <a:lnTo>
                      <a:pt x="2729524" y="1366346"/>
                    </a:lnTo>
                    <a:lnTo>
                      <a:pt x="0" y="1366346"/>
                    </a:lnTo>
                    <a:close/>
                  </a:path>
                </a:pathLst>
              </a:custGeom>
              <a:solidFill>
                <a:srgbClr val="73111C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2729525" cy="1413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-5400000">
              <a:off x="12836650" y="17496672"/>
              <a:ext cx="18199420" cy="9412252"/>
              <a:chOff x="0" y="0"/>
              <a:chExt cx="2641950" cy="136634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641950" cy="1366346"/>
              </a:xfrm>
              <a:custGeom>
                <a:avLst/>
                <a:gdLst/>
                <a:ahLst/>
                <a:cxnLst/>
                <a:rect r="r" b="b" t="t" l="l"/>
                <a:pathLst>
                  <a:path h="1366346" w="2641950">
                    <a:moveTo>
                      <a:pt x="0" y="0"/>
                    </a:moveTo>
                    <a:lnTo>
                      <a:pt x="2641950" y="0"/>
                    </a:lnTo>
                    <a:lnTo>
                      <a:pt x="2641950" y="1366346"/>
                    </a:lnTo>
                    <a:lnTo>
                      <a:pt x="0" y="1366346"/>
                    </a:lnTo>
                    <a:close/>
                  </a:path>
                </a:pathLst>
              </a:custGeom>
              <a:solidFill>
                <a:srgbClr val="A3213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2641950" cy="1413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-5400000">
              <a:off x="1311214" y="18590095"/>
              <a:ext cx="20386266" cy="9412252"/>
              <a:chOff x="0" y="0"/>
              <a:chExt cx="2959407" cy="136634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959407" cy="1366346"/>
              </a:xfrm>
              <a:custGeom>
                <a:avLst/>
                <a:gdLst/>
                <a:ahLst/>
                <a:cxnLst/>
                <a:rect r="r" b="b" t="t" l="l"/>
                <a:pathLst>
                  <a:path h="1366346" w="2959407">
                    <a:moveTo>
                      <a:pt x="0" y="0"/>
                    </a:moveTo>
                    <a:lnTo>
                      <a:pt x="2959407" y="0"/>
                    </a:lnTo>
                    <a:lnTo>
                      <a:pt x="2959407" y="1366346"/>
                    </a:lnTo>
                    <a:lnTo>
                      <a:pt x="0" y="1366346"/>
                    </a:lnTo>
                    <a:close/>
                  </a:path>
                </a:pathLst>
              </a:custGeom>
              <a:solidFill>
                <a:srgbClr val="C0353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2959407" cy="1413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7817855" y="14413300"/>
              <a:ext cx="10394224" cy="3353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080"/>
                </a:lnSpc>
              </a:pPr>
              <a:r>
                <a:rPr lang="en-US" b="true" sz="8000">
                  <a:solidFill>
                    <a:srgbClr val="E5CCA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Memory / Resource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7456096" y="14339520"/>
              <a:ext cx="9061618" cy="1787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879"/>
                </a:lnSpc>
              </a:pPr>
              <a:r>
                <a:rPr lang="en-US" b="true" sz="8634">
                  <a:solidFill>
                    <a:srgbClr val="E5CCA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Abstraction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8076169" y="14535443"/>
              <a:ext cx="13124404" cy="2104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799"/>
                </a:lnSpc>
              </a:pPr>
              <a:r>
                <a:rPr lang="en-US" b="true" sz="10158">
                  <a:solidFill>
                    <a:srgbClr val="E5CCA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Why Rust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31550769" y="21882948"/>
              <a:ext cx="12660499" cy="12660499"/>
            </a:xfrm>
            <a:custGeom>
              <a:avLst/>
              <a:gdLst/>
              <a:ahLst/>
              <a:cxnLst/>
              <a:rect r="r" b="b" t="t" l="l"/>
              <a:pathLst>
                <a:path h="12660499" w="12660499">
                  <a:moveTo>
                    <a:pt x="0" y="0"/>
                  </a:moveTo>
                  <a:lnTo>
                    <a:pt x="12660499" y="0"/>
                  </a:lnTo>
                  <a:lnTo>
                    <a:pt x="12660499" y="12660499"/>
                  </a:lnTo>
                  <a:lnTo>
                    <a:pt x="0" y="12660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7817855" y="18174927"/>
              <a:ext cx="7372984" cy="61581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48"/>
                </a:lnSpc>
                <a:spcBef>
                  <a:spcPct val="0"/>
                </a:spcBef>
              </a:pPr>
              <a:r>
                <a:rPr lang="en-US" sz="4391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ใช้ ownership และ borrowing ในการจัดการ Memory โดยตรวจสอบใน complile time โดยไม่จำเป็นต้องใช้ garbage collector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7740051" y="16781962"/>
              <a:ext cx="8392618" cy="9268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48"/>
                </a:lnSpc>
                <a:spcBef>
                  <a:spcPct val="0"/>
                </a:spcBef>
              </a:pPr>
              <a:r>
                <a:rPr lang="en-US" sz="4391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z</a:t>
              </a:r>
              <a:r>
                <a:rPr lang="en-US" sz="4391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ero-cost abstraction  สามารถใช้ abstraction ระดับสูงโดยไม่เสียประสิทธิภาพการทำงานลงไปและมี spoce บอก compiler ว่า borrow จะใช้งานได้เมื่อใด ทรัพยากรสามารถคืนได้เมือใด ตัวแปรที่สร้างจะถูกทำลายเมื่อใด 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8769019" y="18174888"/>
              <a:ext cx="7198355" cy="5121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48"/>
                </a:lnSpc>
                <a:spcBef>
                  <a:spcPct val="0"/>
                </a:spcBef>
              </a:pPr>
              <a:r>
                <a:rPr lang="en-US" sz="4391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มี own</a:t>
              </a:r>
              <a:r>
                <a:rPr lang="en-US" sz="4391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ership และ borrowing ช่วยจัดการ memory และ safety , Zero-cost Abstraction 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04210" y="-239917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6684929" y="-9729360"/>
            <a:ext cx="35499198" cy="25907585"/>
            <a:chOff x="0" y="0"/>
            <a:chExt cx="47332264" cy="34543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60499" cy="12660499"/>
            </a:xfrm>
            <a:custGeom>
              <a:avLst/>
              <a:gdLst/>
              <a:ahLst/>
              <a:cxnLst/>
              <a:rect r="r" b="b" t="t" l="l"/>
              <a:pathLst>
                <a:path h="12660499" w="12660499">
                  <a:moveTo>
                    <a:pt x="0" y="0"/>
                  </a:moveTo>
                  <a:lnTo>
                    <a:pt x="12660499" y="0"/>
                  </a:lnTo>
                  <a:lnTo>
                    <a:pt x="12660499" y="12660499"/>
                  </a:lnTo>
                  <a:lnTo>
                    <a:pt x="0" y="12660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7043014" y="10303147"/>
              <a:ext cx="40289251" cy="23573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125"/>
                </a:lnSpc>
              </a:pPr>
              <a:r>
                <a:rPr lang="en-US" sz="11963">
                  <a:solidFill>
                    <a:srgbClr val="990F19"/>
                  </a:solidFill>
                  <a:latin typeface="Bungee"/>
                  <a:ea typeface="Bungee"/>
                  <a:cs typeface="Bungee"/>
                  <a:sym typeface="Bungee"/>
                </a:rPr>
                <a:t>PPL PER</a:t>
              </a:r>
              <a:r>
                <a:rPr lang="en-US" sz="11963">
                  <a:solidFill>
                    <a:srgbClr val="990F19"/>
                  </a:solidFill>
                  <a:latin typeface="Bungee"/>
                  <a:ea typeface="Bungee"/>
                  <a:cs typeface="Bungee"/>
                  <a:sym typeface="Bungee"/>
                </a:rPr>
                <a:t>SPECTIVE  (CONST.)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-5400000">
              <a:off x="22966853" y="17798306"/>
              <a:ext cx="18802688" cy="9412252"/>
              <a:chOff x="0" y="0"/>
              <a:chExt cx="2729525" cy="136634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729524" cy="1366346"/>
              </a:xfrm>
              <a:custGeom>
                <a:avLst/>
                <a:gdLst/>
                <a:ahLst/>
                <a:cxnLst/>
                <a:rect r="r" b="b" t="t" l="l"/>
                <a:pathLst>
                  <a:path h="1366346" w="2729524">
                    <a:moveTo>
                      <a:pt x="0" y="0"/>
                    </a:moveTo>
                    <a:lnTo>
                      <a:pt x="2729524" y="0"/>
                    </a:lnTo>
                    <a:lnTo>
                      <a:pt x="2729524" y="1366346"/>
                    </a:lnTo>
                    <a:lnTo>
                      <a:pt x="0" y="1366346"/>
                    </a:lnTo>
                    <a:close/>
                  </a:path>
                </a:pathLst>
              </a:custGeom>
              <a:solidFill>
                <a:srgbClr val="73111C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2729525" cy="1413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-5400000">
              <a:off x="12836650" y="17496672"/>
              <a:ext cx="18199420" cy="9412252"/>
              <a:chOff x="0" y="0"/>
              <a:chExt cx="2641950" cy="136634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641950" cy="1366346"/>
              </a:xfrm>
              <a:custGeom>
                <a:avLst/>
                <a:gdLst/>
                <a:ahLst/>
                <a:cxnLst/>
                <a:rect r="r" b="b" t="t" l="l"/>
                <a:pathLst>
                  <a:path h="1366346" w="2641950">
                    <a:moveTo>
                      <a:pt x="0" y="0"/>
                    </a:moveTo>
                    <a:lnTo>
                      <a:pt x="2641950" y="0"/>
                    </a:lnTo>
                    <a:lnTo>
                      <a:pt x="2641950" y="1366346"/>
                    </a:lnTo>
                    <a:lnTo>
                      <a:pt x="0" y="1366346"/>
                    </a:lnTo>
                    <a:close/>
                  </a:path>
                </a:pathLst>
              </a:custGeom>
              <a:solidFill>
                <a:srgbClr val="A3213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2641950" cy="1413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-5400000">
              <a:off x="1311214" y="18590095"/>
              <a:ext cx="20386266" cy="9412252"/>
              <a:chOff x="0" y="0"/>
              <a:chExt cx="2959407" cy="136634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959407" cy="1366346"/>
              </a:xfrm>
              <a:custGeom>
                <a:avLst/>
                <a:gdLst/>
                <a:ahLst/>
                <a:cxnLst/>
                <a:rect r="r" b="b" t="t" l="l"/>
                <a:pathLst>
                  <a:path h="1366346" w="2959407">
                    <a:moveTo>
                      <a:pt x="0" y="0"/>
                    </a:moveTo>
                    <a:lnTo>
                      <a:pt x="2959407" y="0"/>
                    </a:lnTo>
                    <a:lnTo>
                      <a:pt x="2959407" y="1366346"/>
                    </a:lnTo>
                    <a:lnTo>
                      <a:pt x="0" y="1366346"/>
                    </a:lnTo>
                    <a:close/>
                  </a:path>
                </a:pathLst>
              </a:custGeom>
              <a:solidFill>
                <a:srgbClr val="C0353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2959407" cy="1413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7817855" y="14413300"/>
              <a:ext cx="10394224" cy="3353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080"/>
                </a:lnSpc>
              </a:pPr>
              <a:r>
                <a:rPr lang="en-US" b="true" sz="8000">
                  <a:solidFill>
                    <a:srgbClr val="E5CCA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Memory / Resource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7456096" y="14339520"/>
              <a:ext cx="9061618" cy="1787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879"/>
                </a:lnSpc>
              </a:pPr>
              <a:r>
                <a:rPr lang="en-US" b="true" sz="8634">
                  <a:solidFill>
                    <a:srgbClr val="E5CCA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Abstraction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8076169" y="14535443"/>
              <a:ext cx="13124404" cy="2104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799"/>
                </a:lnSpc>
              </a:pPr>
              <a:r>
                <a:rPr lang="en-US" b="true" sz="10158">
                  <a:solidFill>
                    <a:srgbClr val="E5CCA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Why Rust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31550769" y="21882948"/>
              <a:ext cx="12660499" cy="12660499"/>
            </a:xfrm>
            <a:custGeom>
              <a:avLst/>
              <a:gdLst/>
              <a:ahLst/>
              <a:cxnLst/>
              <a:rect r="r" b="b" t="t" l="l"/>
              <a:pathLst>
                <a:path h="12660499" w="12660499">
                  <a:moveTo>
                    <a:pt x="0" y="0"/>
                  </a:moveTo>
                  <a:lnTo>
                    <a:pt x="12660499" y="0"/>
                  </a:lnTo>
                  <a:lnTo>
                    <a:pt x="12660499" y="12660499"/>
                  </a:lnTo>
                  <a:lnTo>
                    <a:pt x="0" y="12660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7817855" y="18174927"/>
              <a:ext cx="7372984" cy="61581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48"/>
                </a:lnSpc>
                <a:spcBef>
                  <a:spcPct val="0"/>
                </a:spcBef>
              </a:pPr>
              <a:r>
                <a:rPr lang="en-US" sz="4391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ใช้ ownership และ borrowing ในการจัดการ Memory โดยตรวจสอบใน complile time โดยไม่จำเป็นต้องใช้ garbage collector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7740051" y="16781962"/>
              <a:ext cx="8392618" cy="9268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48"/>
                </a:lnSpc>
                <a:spcBef>
                  <a:spcPct val="0"/>
                </a:spcBef>
              </a:pPr>
              <a:r>
                <a:rPr lang="en-US" sz="4391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z</a:t>
              </a:r>
              <a:r>
                <a:rPr lang="en-US" sz="4391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ero-cost abstraction  สามารถใช้ abstraction ระดับสูงโดยไม่เสียประสิทธิภาพการทำงานลงไปและมี spoce บอก compiler ว่า borrow จะใช้งานได้เมื่อใด ทรัพยากรสามารถคืนได้เมือใด ตัวแปรที่สร้างจะถูกทำลายเมื่อใด 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8769019" y="18174888"/>
              <a:ext cx="7198355" cy="5121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48"/>
                </a:lnSpc>
                <a:spcBef>
                  <a:spcPct val="0"/>
                </a:spcBef>
              </a:pPr>
              <a:r>
                <a:rPr lang="en-US" sz="4391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มี own</a:t>
              </a:r>
              <a:r>
                <a:rPr lang="en-US" sz="4391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ership และ borrowing ช่วยจัดการ memory และ safety , Zero-cost Abstraction 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04210" y="-239917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4349023" y="-9283773"/>
            <a:ext cx="35499198" cy="25907585"/>
            <a:chOff x="0" y="0"/>
            <a:chExt cx="47332264" cy="34543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60499" cy="12660499"/>
            </a:xfrm>
            <a:custGeom>
              <a:avLst/>
              <a:gdLst/>
              <a:ahLst/>
              <a:cxnLst/>
              <a:rect r="r" b="b" t="t" l="l"/>
              <a:pathLst>
                <a:path h="12660499" w="12660499">
                  <a:moveTo>
                    <a:pt x="0" y="0"/>
                  </a:moveTo>
                  <a:lnTo>
                    <a:pt x="12660499" y="0"/>
                  </a:lnTo>
                  <a:lnTo>
                    <a:pt x="12660499" y="12660499"/>
                  </a:lnTo>
                  <a:lnTo>
                    <a:pt x="0" y="12660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7043014" y="10303147"/>
              <a:ext cx="40289251" cy="23573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125"/>
                </a:lnSpc>
              </a:pPr>
              <a:r>
                <a:rPr lang="en-US" sz="11963">
                  <a:solidFill>
                    <a:srgbClr val="990F19"/>
                  </a:solidFill>
                  <a:latin typeface="Bungee"/>
                  <a:ea typeface="Bungee"/>
                  <a:cs typeface="Bungee"/>
                  <a:sym typeface="Bungee"/>
                </a:rPr>
                <a:t>PPL PER</a:t>
              </a:r>
              <a:r>
                <a:rPr lang="en-US" sz="11963">
                  <a:solidFill>
                    <a:srgbClr val="990F19"/>
                  </a:solidFill>
                  <a:latin typeface="Bungee"/>
                  <a:ea typeface="Bungee"/>
                  <a:cs typeface="Bungee"/>
                  <a:sym typeface="Bungee"/>
                </a:rPr>
                <a:t>SPECTIVE  (CONST.)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-5400000">
              <a:off x="22966853" y="17798306"/>
              <a:ext cx="18802688" cy="9412252"/>
              <a:chOff x="0" y="0"/>
              <a:chExt cx="2729525" cy="136634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729524" cy="1366346"/>
              </a:xfrm>
              <a:custGeom>
                <a:avLst/>
                <a:gdLst/>
                <a:ahLst/>
                <a:cxnLst/>
                <a:rect r="r" b="b" t="t" l="l"/>
                <a:pathLst>
                  <a:path h="1366346" w="2729524">
                    <a:moveTo>
                      <a:pt x="0" y="0"/>
                    </a:moveTo>
                    <a:lnTo>
                      <a:pt x="2729524" y="0"/>
                    </a:lnTo>
                    <a:lnTo>
                      <a:pt x="2729524" y="1366346"/>
                    </a:lnTo>
                    <a:lnTo>
                      <a:pt x="0" y="1366346"/>
                    </a:lnTo>
                    <a:close/>
                  </a:path>
                </a:pathLst>
              </a:custGeom>
              <a:solidFill>
                <a:srgbClr val="73111C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2729525" cy="1413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-5400000">
              <a:off x="12836650" y="17496672"/>
              <a:ext cx="18199420" cy="9412252"/>
              <a:chOff x="0" y="0"/>
              <a:chExt cx="2641950" cy="136634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641950" cy="1366346"/>
              </a:xfrm>
              <a:custGeom>
                <a:avLst/>
                <a:gdLst/>
                <a:ahLst/>
                <a:cxnLst/>
                <a:rect r="r" b="b" t="t" l="l"/>
                <a:pathLst>
                  <a:path h="1366346" w="2641950">
                    <a:moveTo>
                      <a:pt x="0" y="0"/>
                    </a:moveTo>
                    <a:lnTo>
                      <a:pt x="2641950" y="0"/>
                    </a:lnTo>
                    <a:lnTo>
                      <a:pt x="2641950" y="1366346"/>
                    </a:lnTo>
                    <a:lnTo>
                      <a:pt x="0" y="1366346"/>
                    </a:lnTo>
                    <a:close/>
                  </a:path>
                </a:pathLst>
              </a:custGeom>
              <a:solidFill>
                <a:srgbClr val="A3213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2641950" cy="1413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-5400000">
              <a:off x="1311214" y="18590095"/>
              <a:ext cx="20386266" cy="9412252"/>
              <a:chOff x="0" y="0"/>
              <a:chExt cx="2959407" cy="136634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959407" cy="1366346"/>
              </a:xfrm>
              <a:custGeom>
                <a:avLst/>
                <a:gdLst/>
                <a:ahLst/>
                <a:cxnLst/>
                <a:rect r="r" b="b" t="t" l="l"/>
                <a:pathLst>
                  <a:path h="1366346" w="2959407">
                    <a:moveTo>
                      <a:pt x="0" y="0"/>
                    </a:moveTo>
                    <a:lnTo>
                      <a:pt x="2959407" y="0"/>
                    </a:lnTo>
                    <a:lnTo>
                      <a:pt x="2959407" y="1366346"/>
                    </a:lnTo>
                    <a:lnTo>
                      <a:pt x="0" y="1366346"/>
                    </a:lnTo>
                    <a:close/>
                  </a:path>
                </a:pathLst>
              </a:custGeom>
              <a:solidFill>
                <a:srgbClr val="C0353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2959407" cy="1413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42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7817855" y="14413300"/>
              <a:ext cx="10394224" cy="3353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080"/>
                </a:lnSpc>
              </a:pPr>
              <a:r>
                <a:rPr lang="en-US" b="true" sz="8000">
                  <a:solidFill>
                    <a:srgbClr val="E5CCA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Memory / Resource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7456096" y="14339520"/>
              <a:ext cx="9061618" cy="1787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879"/>
                </a:lnSpc>
              </a:pPr>
              <a:r>
                <a:rPr lang="en-US" b="true" sz="8634">
                  <a:solidFill>
                    <a:srgbClr val="E5CCA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Abstraction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8076169" y="14535443"/>
              <a:ext cx="13124404" cy="2104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799"/>
                </a:lnSpc>
              </a:pPr>
              <a:r>
                <a:rPr lang="en-US" b="true" sz="10158">
                  <a:solidFill>
                    <a:srgbClr val="E5CCA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Why Rust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31550769" y="21882948"/>
              <a:ext cx="12660499" cy="12660499"/>
            </a:xfrm>
            <a:custGeom>
              <a:avLst/>
              <a:gdLst/>
              <a:ahLst/>
              <a:cxnLst/>
              <a:rect r="r" b="b" t="t" l="l"/>
              <a:pathLst>
                <a:path h="12660499" w="12660499">
                  <a:moveTo>
                    <a:pt x="0" y="0"/>
                  </a:moveTo>
                  <a:lnTo>
                    <a:pt x="12660499" y="0"/>
                  </a:lnTo>
                  <a:lnTo>
                    <a:pt x="12660499" y="12660499"/>
                  </a:lnTo>
                  <a:lnTo>
                    <a:pt x="0" y="12660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7817855" y="18174927"/>
              <a:ext cx="7372984" cy="61581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48"/>
                </a:lnSpc>
                <a:spcBef>
                  <a:spcPct val="0"/>
                </a:spcBef>
              </a:pPr>
              <a:r>
                <a:rPr lang="en-US" sz="4391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ใช้ ownership และ borrowing ในการจัดการ Memory โดยตรวจสอบใน complile time โดยไม่จำเป็นต้องใช้ garbage collector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7740051" y="16781962"/>
              <a:ext cx="8392618" cy="9268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48"/>
                </a:lnSpc>
                <a:spcBef>
                  <a:spcPct val="0"/>
                </a:spcBef>
              </a:pPr>
              <a:r>
                <a:rPr lang="en-US" sz="4391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z</a:t>
              </a:r>
              <a:r>
                <a:rPr lang="en-US" sz="4391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ero-cost abstraction  สามารถใช้ abstraction ระดับสูงโดยไม่เสียประสิทธิภาพการทำงานลงไปและมี spoce บอก compiler ว่า borrow จะใช้งานได้เมื่อใด ทรัพยากรสามารถคืนได้เมือใด ตัวแปรที่สร้างจะถูกทำลายเมื่อใด 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8769019" y="18174888"/>
              <a:ext cx="7198355" cy="5121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48"/>
                </a:lnSpc>
                <a:spcBef>
                  <a:spcPct val="0"/>
                </a:spcBef>
              </a:pPr>
              <a:r>
                <a:rPr lang="en-US" sz="4391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มี own</a:t>
              </a:r>
              <a:r>
                <a:rPr lang="en-US" sz="4391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ership และ borrowing ช่วยจัดการ memory และ safety , Zero-cost Abstraction 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91228" y="0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5" id="5"/>
          <p:cNvSpPr/>
          <p:nvPr/>
        </p:nvSpPr>
        <p:spPr>
          <a:xfrm>
            <a:off x="1028700" y="1068888"/>
            <a:ext cx="16230600" cy="0"/>
          </a:xfrm>
          <a:prstGeom prst="line">
            <a:avLst/>
          </a:prstGeom>
          <a:ln cap="flat" w="38100">
            <a:solidFill>
              <a:srgbClr val="664A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067730" y="9239250"/>
            <a:ext cx="16230600" cy="0"/>
          </a:xfrm>
          <a:prstGeom prst="line">
            <a:avLst/>
          </a:prstGeom>
          <a:ln cap="flat" w="38100">
            <a:solidFill>
              <a:srgbClr val="664A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5961735" y="6965298"/>
            <a:ext cx="6364530" cy="655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9"/>
              </a:lnSpc>
            </a:pPr>
            <a:r>
              <a:rPr lang="en-US" sz="4416">
                <a:solidFill>
                  <a:srgbClr val="664A3E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PART 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99646" y="9572625"/>
            <a:ext cx="94532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>
                <a:solidFill>
                  <a:srgbClr val="664A3E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517321 PRINCIPLES OF PROGRAMMING LANGUAGES​</a:t>
            </a:r>
          </a:p>
          <a:p>
            <a:pPr algn="r">
              <a:lnSpc>
                <a:spcPts val="28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98418" y="675418"/>
            <a:ext cx="6493962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64A3E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RUST TUTORIAL PRESENTATION​</a:t>
            </a:r>
          </a:p>
          <a:p>
            <a:pPr algn="l">
              <a:lnSpc>
                <a:spcPts val="28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343382" y="4163700"/>
            <a:ext cx="14217302" cy="2792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50"/>
              </a:lnSpc>
            </a:pPr>
            <a:r>
              <a:rPr lang="en-US" sz="10591">
                <a:solidFill>
                  <a:srgbClr val="8E0E17"/>
                </a:solidFill>
                <a:latin typeface="Bungee"/>
                <a:ea typeface="Bungee"/>
                <a:cs typeface="Bungee"/>
                <a:sym typeface="Bungee"/>
              </a:rPr>
              <a:t>COMMON</a:t>
            </a:r>
            <a:r>
              <a:rPr lang="en-US" sz="10591">
                <a:solidFill>
                  <a:srgbClr val="8E0E17"/>
                </a:solidFill>
                <a:latin typeface="Bungee"/>
                <a:ea typeface="Bungee"/>
                <a:cs typeface="Bungee"/>
                <a:sym typeface="Bungee"/>
              </a:rPr>
              <a:t> MISTAKES &amp; CHALLENGE</a:t>
            </a:r>
          </a:p>
        </p:txBody>
      </p:sp>
      <p:grpSp>
        <p:nvGrpSpPr>
          <p:cNvPr name="Group 11" id="11"/>
          <p:cNvGrpSpPr/>
          <p:nvPr/>
        </p:nvGrpSpPr>
        <p:grpSpPr>
          <a:xfrm rot="5400000">
            <a:off x="-8629650" y="6695084"/>
            <a:ext cx="18288000" cy="1028700"/>
            <a:chOff x="0" y="0"/>
            <a:chExt cx="4816593" cy="270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C101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816593" cy="318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5400000">
            <a:off x="8715968" y="6524193"/>
            <a:ext cx="18288000" cy="1028700"/>
            <a:chOff x="0" y="0"/>
            <a:chExt cx="4816593" cy="2709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C101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816593" cy="318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2"/>
                </a:lnSpc>
              </a:pPr>
            </a:p>
          </p:txBody>
        </p:sp>
      </p:grpSp>
    </p:spTree>
  </p:cSld>
  <p:clrMapOvr>
    <a:masterClrMapping/>
  </p:clrMapOvr>
  <p:transition spd="fast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53267" y="-4153630"/>
            <a:ext cx="6978212" cy="6978212"/>
          </a:xfrm>
          <a:custGeom>
            <a:avLst/>
            <a:gdLst/>
            <a:ahLst/>
            <a:cxnLst/>
            <a:rect r="r" b="b" t="t" l="l"/>
            <a:pathLst>
              <a:path h="6978212" w="6978212">
                <a:moveTo>
                  <a:pt x="0" y="0"/>
                </a:moveTo>
                <a:lnTo>
                  <a:pt x="6978212" y="0"/>
                </a:lnTo>
                <a:lnTo>
                  <a:pt x="6978212" y="6978212"/>
                </a:lnTo>
                <a:lnTo>
                  <a:pt x="0" y="697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53968" y="6168469"/>
            <a:ext cx="6978212" cy="6978212"/>
          </a:xfrm>
          <a:custGeom>
            <a:avLst/>
            <a:gdLst/>
            <a:ahLst/>
            <a:cxnLst/>
            <a:rect r="r" b="b" t="t" l="l"/>
            <a:pathLst>
              <a:path h="6978212" w="6978212">
                <a:moveTo>
                  <a:pt x="0" y="0"/>
                </a:moveTo>
                <a:lnTo>
                  <a:pt x="6978212" y="0"/>
                </a:lnTo>
                <a:lnTo>
                  <a:pt x="6978212" y="6978212"/>
                </a:lnTo>
                <a:lnTo>
                  <a:pt x="0" y="69782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204210" y="-239917"/>
            <a:ext cx="20696420" cy="10766835"/>
            <a:chOff x="0" y="0"/>
            <a:chExt cx="27595227" cy="143557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543746" y="8482766"/>
            <a:ext cx="21835227" cy="5187844"/>
            <a:chOff x="0" y="0"/>
            <a:chExt cx="5750842" cy="13663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50842" cy="1366346"/>
            </a:xfrm>
            <a:custGeom>
              <a:avLst/>
              <a:gdLst/>
              <a:ahLst/>
              <a:cxnLst/>
              <a:rect r="r" b="b" t="t" l="l"/>
              <a:pathLst>
                <a:path h="1366346" w="5750842">
                  <a:moveTo>
                    <a:pt x="0" y="0"/>
                  </a:moveTo>
                  <a:lnTo>
                    <a:pt x="5750842" y="0"/>
                  </a:lnTo>
                  <a:lnTo>
                    <a:pt x="5750842" y="1366346"/>
                  </a:lnTo>
                  <a:lnTo>
                    <a:pt x="0" y="1366346"/>
                  </a:lnTo>
                  <a:close/>
                </a:path>
              </a:pathLst>
            </a:custGeom>
            <a:solidFill>
              <a:srgbClr val="73111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750842" cy="1413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2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48025" y="1751831"/>
            <a:ext cx="4754590" cy="5850590"/>
            <a:chOff x="0" y="0"/>
            <a:chExt cx="1036136" cy="12749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6136" cy="1274980"/>
            </a:xfrm>
            <a:custGeom>
              <a:avLst/>
              <a:gdLst/>
              <a:ahLst/>
              <a:cxnLst/>
              <a:rect r="r" b="b" t="t" l="l"/>
              <a:pathLst>
                <a:path h="1274980" w="1036136">
                  <a:moveTo>
                    <a:pt x="89557" y="0"/>
                  </a:moveTo>
                  <a:lnTo>
                    <a:pt x="946580" y="0"/>
                  </a:lnTo>
                  <a:cubicBezTo>
                    <a:pt x="996040" y="0"/>
                    <a:pt x="1036136" y="40096"/>
                    <a:pt x="1036136" y="89557"/>
                  </a:cubicBezTo>
                  <a:lnTo>
                    <a:pt x="1036136" y="1185424"/>
                  </a:lnTo>
                  <a:cubicBezTo>
                    <a:pt x="1036136" y="1209176"/>
                    <a:pt x="1026701" y="1231955"/>
                    <a:pt x="1009906" y="1248750"/>
                  </a:cubicBezTo>
                  <a:cubicBezTo>
                    <a:pt x="993111" y="1265545"/>
                    <a:pt x="970331" y="1274980"/>
                    <a:pt x="946580" y="1274980"/>
                  </a:cubicBezTo>
                  <a:lnTo>
                    <a:pt x="89557" y="1274980"/>
                  </a:lnTo>
                  <a:cubicBezTo>
                    <a:pt x="40096" y="1274980"/>
                    <a:pt x="0" y="1234885"/>
                    <a:pt x="0" y="1185424"/>
                  </a:cubicBezTo>
                  <a:lnTo>
                    <a:pt x="0" y="89557"/>
                  </a:lnTo>
                  <a:cubicBezTo>
                    <a:pt x="0" y="40096"/>
                    <a:pt x="40096" y="0"/>
                    <a:pt x="89557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-4347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917153" y="6886923"/>
            <a:ext cx="3416335" cy="377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7"/>
              </a:lnSpc>
            </a:pPr>
            <a:r>
              <a:rPr lang="en-US" sz="2545">
                <a:solidFill>
                  <a:srgbClr val="990F19"/>
                </a:solidFill>
                <a:latin typeface="Bungee"/>
                <a:ea typeface="Bungee"/>
                <a:cs typeface="Bungee"/>
                <a:sym typeface="Bungee"/>
              </a:rPr>
              <a:t>INCORRECT CODE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5385" y="1751831"/>
            <a:ext cx="4754590" cy="5850590"/>
            <a:chOff x="0" y="0"/>
            <a:chExt cx="6339453" cy="7800787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339453" cy="7800787"/>
              <a:chOff x="0" y="0"/>
              <a:chExt cx="1036136" cy="127498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36136" cy="1274980"/>
              </a:xfrm>
              <a:custGeom>
                <a:avLst/>
                <a:gdLst/>
                <a:ahLst/>
                <a:cxnLst/>
                <a:rect r="r" b="b" t="t" l="l"/>
                <a:pathLst>
                  <a:path h="1274980" w="1036136">
                    <a:moveTo>
                      <a:pt x="73683" y="0"/>
                    </a:moveTo>
                    <a:lnTo>
                      <a:pt x="962453" y="0"/>
                    </a:lnTo>
                    <a:cubicBezTo>
                      <a:pt x="1003147" y="0"/>
                      <a:pt x="1036136" y="32989"/>
                      <a:pt x="1036136" y="73683"/>
                    </a:cubicBezTo>
                    <a:lnTo>
                      <a:pt x="1036136" y="1201297"/>
                    </a:lnTo>
                    <a:cubicBezTo>
                      <a:pt x="1036136" y="1241991"/>
                      <a:pt x="1003147" y="1274980"/>
                      <a:pt x="962453" y="1274980"/>
                    </a:cubicBezTo>
                    <a:lnTo>
                      <a:pt x="73683" y="1274980"/>
                    </a:lnTo>
                    <a:cubicBezTo>
                      <a:pt x="32989" y="1274980"/>
                      <a:pt x="0" y="1241991"/>
                      <a:pt x="0" y="1201297"/>
                    </a:cubicBezTo>
                    <a:lnTo>
                      <a:pt x="0" y="73683"/>
                    </a:lnTo>
                    <a:cubicBezTo>
                      <a:pt x="0" y="32989"/>
                      <a:pt x="32989" y="0"/>
                      <a:pt x="73683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0" t="0" r="0" b="-1804"/>
                </a:stretch>
              </a:blip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773063" y="6842547"/>
              <a:ext cx="4793326" cy="5192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90"/>
                </a:lnSpc>
              </a:pPr>
              <a:r>
                <a:rPr lang="en-US" sz="2678">
                  <a:solidFill>
                    <a:srgbClr val="2E8D43"/>
                  </a:solidFill>
                  <a:latin typeface="Bungee"/>
                  <a:ea typeface="Bungee"/>
                  <a:cs typeface="Bungee"/>
                  <a:sym typeface="Bungee"/>
                </a:rPr>
                <a:t>CORRECT CODE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261794" y="8689644"/>
            <a:ext cx="13997506" cy="1779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5"/>
              </a:lnSpc>
            </a:pPr>
            <a:r>
              <a:rPr lang="en-US" sz="2568" spc="179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T สามารถเป็น Type อะไรก็ได้ ดังนั้น Rust ไม่สามารถรับประกันได้ว่า T จะมี make_sound() เลยจะต้องเพิ่ม T: Animal เพื่อให้ Rust รู้ว่า T ต้องเป็น Type ที่ implement Animal เมื่อมี Trait Bound แล้ว Rust จึงมั่นใจว่า animal สามารถเรียก make_sound() ได้ </a:t>
            </a:r>
          </a:p>
          <a:p>
            <a:pPr algn="just">
              <a:lnSpc>
                <a:spcPts val="3545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10061" y="8737269"/>
            <a:ext cx="166243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2"/>
              </a:lnSpc>
            </a:pPr>
            <a:r>
              <a:rPr lang="en-US" b="true" sz="2568" spc="179">
                <a:solidFill>
                  <a:srgbClr val="FFFFFF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Explain :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440563" y="562326"/>
            <a:ext cx="9406874" cy="978801"/>
            <a:chOff x="0" y="0"/>
            <a:chExt cx="12542498" cy="1305069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2542498" cy="1305069"/>
              <a:chOff x="0" y="0"/>
              <a:chExt cx="2477531" cy="25779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477531" cy="257791"/>
              </a:xfrm>
              <a:custGeom>
                <a:avLst/>
                <a:gdLst/>
                <a:ahLst/>
                <a:cxnLst/>
                <a:rect r="r" b="b" t="t" l="l"/>
                <a:pathLst>
                  <a:path h="257791" w="2477531">
                    <a:moveTo>
                      <a:pt x="0" y="0"/>
                    </a:moveTo>
                    <a:lnTo>
                      <a:pt x="2477531" y="0"/>
                    </a:lnTo>
                    <a:lnTo>
                      <a:pt x="2477531" y="257791"/>
                    </a:lnTo>
                    <a:lnTo>
                      <a:pt x="0" y="257791"/>
                    </a:lnTo>
                    <a:close/>
                  </a:path>
                </a:pathLst>
              </a:custGeom>
              <a:solidFill>
                <a:srgbClr val="F2EAEA"/>
              </a:solidFill>
              <a:ln w="38100" cap="sq">
                <a:solidFill>
                  <a:srgbClr val="5C373A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2477531" cy="2958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1301206" y="394209"/>
              <a:ext cx="9940087" cy="611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75"/>
                </a:lnSpc>
              </a:pPr>
              <a:r>
                <a:rPr lang="en-US" b="true" sz="3522">
                  <a:solidFill>
                    <a:srgbClr val="481F21"/>
                  </a:solidFill>
                  <a:latin typeface="IBM Plex Sans Thai Bold"/>
                  <a:ea typeface="IBM Plex Sans Thai Bold"/>
                  <a:cs typeface="IBM Plex Sans Thai Bold"/>
                  <a:sym typeface="IBM Plex Sans Thai Bold"/>
                </a:rPr>
                <a:t>ลืม TRAIT BOUND ใน GENERIC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4440563" y="7666650"/>
            <a:ext cx="9471923" cy="751885"/>
          </a:xfrm>
          <a:custGeom>
            <a:avLst/>
            <a:gdLst/>
            <a:ahLst/>
            <a:cxnLst/>
            <a:rect r="r" b="b" t="t" l="l"/>
            <a:pathLst>
              <a:path h="751885" w="9471923">
                <a:moveTo>
                  <a:pt x="0" y="0"/>
                </a:moveTo>
                <a:lnTo>
                  <a:pt x="9471923" y="0"/>
                </a:lnTo>
                <a:lnTo>
                  <a:pt x="9471923" y="751886"/>
                </a:lnTo>
                <a:lnTo>
                  <a:pt x="0" y="7518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28575" cap="sq">
            <a:solidFill>
              <a:srgbClr val="73111C"/>
            </a:solidFill>
            <a:prstDash val="dash"/>
            <a:miter/>
          </a:ln>
        </p:spPr>
      </p:sp>
    </p:spTree>
  </p:cSld>
  <p:clrMapOvr>
    <a:masterClrMapping/>
  </p:clrMapOvr>
  <p:transition spd="fast">
    <p:push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04210" y="-239917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3275349" y="5627650"/>
            <a:ext cx="6978212" cy="6978212"/>
          </a:xfrm>
          <a:custGeom>
            <a:avLst/>
            <a:gdLst/>
            <a:ahLst/>
            <a:cxnLst/>
            <a:rect r="r" b="b" t="t" l="l"/>
            <a:pathLst>
              <a:path h="6978212" w="6978212">
                <a:moveTo>
                  <a:pt x="0" y="0"/>
                </a:moveTo>
                <a:lnTo>
                  <a:pt x="6978212" y="0"/>
                </a:lnTo>
                <a:lnTo>
                  <a:pt x="6978212" y="6978212"/>
                </a:lnTo>
                <a:lnTo>
                  <a:pt x="0" y="69782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25508" y="-3729023"/>
            <a:ext cx="6978212" cy="6978212"/>
          </a:xfrm>
          <a:custGeom>
            <a:avLst/>
            <a:gdLst/>
            <a:ahLst/>
            <a:cxnLst/>
            <a:rect r="r" b="b" t="t" l="l"/>
            <a:pathLst>
              <a:path h="6978212" w="6978212">
                <a:moveTo>
                  <a:pt x="0" y="0"/>
                </a:moveTo>
                <a:lnTo>
                  <a:pt x="6978212" y="0"/>
                </a:lnTo>
                <a:lnTo>
                  <a:pt x="6978212" y="6978212"/>
                </a:lnTo>
                <a:lnTo>
                  <a:pt x="0" y="69782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0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0800000">
            <a:off x="-543746" y="8482766"/>
            <a:ext cx="21835227" cy="5187844"/>
            <a:chOff x="0" y="0"/>
            <a:chExt cx="5750842" cy="13663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50842" cy="1366346"/>
            </a:xfrm>
            <a:custGeom>
              <a:avLst/>
              <a:gdLst/>
              <a:ahLst/>
              <a:cxnLst/>
              <a:rect r="r" b="b" t="t" l="l"/>
              <a:pathLst>
                <a:path h="1366346" w="5750842">
                  <a:moveTo>
                    <a:pt x="0" y="0"/>
                  </a:moveTo>
                  <a:lnTo>
                    <a:pt x="5750842" y="0"/>
                  </a:lnTo>
                  <a:lnTo>
                    <a:pt x="5750842" y="1366346"/>
                  </a:lnTo>
                  <a:lnTo>
                    <a:pt x="0" y="1366346"/>
                  </a:lnTo>
                  <a:close/>
                </a:path>
              </a:pathLst>
            </a:custGeom>
            <a:solidFill>
              <a:srgbClr val="73111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750842" cy="1413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2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440563" y="562326"/>
            <a:ext cx="9406874" cy="978801"/>
            <a:chOff x="0" y="0"/>
            <a:chExt cx="12542498" cy="1305069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2542498" cy="1305069"/>
              <a:chOff x="0" y="0"/>
              <a:chExt cx="2477531" cy="25779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477531" cy="257791"/>
              </a:xfrm>
              <a:custGeom>
                <a:avLst/>
                <a:gdLst/>
                <a:ahLst/>
                <a:cxnLst/>
                <a:rect r="r" b="b" t="t" l="l"/>
                <a:pathLst>
                  <a:path h="257791" w="2477531">
                    <a:moveTo>
                      <a:pt x="0" y="0"/>
                    </a:moveTo>
                    <a:lnTo>
                      <a:pt x="2477531" y="0"/>
                    </a:lnTo>
                    <a:lnTo>
                      <a:pt x="2477531" y="257791"/>
                    </a:lnTo>
                    <a:lnTo>
                      <a:pt x="0" y="257791"/>
                    </a:lnTo>
                    <a:close/>
                  </a:path>
                </a:pathLst>
              </a:custGeom>
              <a:solidFill>
                <a:srgbClr val="F2EAEA"/>
              </a:solidFill>
              <a:ln w="38100" cap="sq">
                <a:solidFill>
                  <a:srgbClr val="5C373A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477531" cy="2958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301206" y="394209"/>
              <a:ext cx="9940087" cy="611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75"/>
                </a:lnSpc>
              </a:pPr>
              <a:r>
                <a:rPr lang="en-US" b="true" sz="3522">
                  <a:solidFill>
                    <a:srgbClr val="481F21"/>
                  </a:solidFill>
                  <a:latin typeface="IBM Plex Sans Thai Bold"/>
                  <a:ea typeface="IBM Plex Sans Thai Bold"/>
                  <a:cs typeface="IBM Plex Sans Thai Bold"/>
                  <a:sym typeface="IBM Plex Sans Thai Bold"/>
                </a:rPr>
                <a:t>ลืม IMPLEMENT TRAIT ให้กับ TYPE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248025" y="1751831"/>
            <a:ext cx="4754590" cy="5850590"/>
            <a:chOff x="0" y="0"/>
            <a:chExt cx="1036136" cy="12749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6136" cy="1274980"/>
            </a:xfrm>
            <a:custGeom>
              <a:avLst/>
              <a:gdLst/>
              <a:ahLst/>
              <a:cxnLst/>
              <a:rect r="r" b="b" t="t" l="l"/>
              <a:pathLst>
                <a:path h="1274980" w="1036136">
                  <a:moveTo>
                    <a:pt x="89557" y="0"/>
                  </a:moveTo>
                  <a:lnTo>
                    <a:pt x="946580" y="0"/>
                  </a:lnTo>
                  <a:cubicBezTo>
                    <a:pt x="996040" y="0"/>
                    <a:pt x="1036136" y="40096"/>
                    <a:pt x="1036136" y="89557"/>
                  </a:cubicBezTo>
                  <a:lnTo>
                    <a:pt x="1036136" y="1185424"/>
                  </a:lnTo>
                  <a:cubicBezTo>
                    <a:pt x="1036136" y="1209176"/>
                    <a:pt x="1026701" y="1231955"/>
                    <a:pt x="1009906" y="1248750"/>
                  </a:cubicBezTo>
                  <a:cubicBezTo>
                    <a:pt x="993111" y="1265545"/>
                    <a:pt x="970331" y="1274980"/>
                    <a:pt x="946580" y="1274980"/>
                  </a:cubicBezTo>
                  <a:lnTo>
                    <a:pt x="89557" y="1274980"/>
                  </a:lnTo>
                  <a:cubicBezTo>
                    <a:pt x="40096" y="1274980"/>
                    <a:pt x="0" y="1234885"/>
                    <a:pt x="0" y="1185424"/>
                  </a:cubicBezTo>
                  <a:lnTo>
                    <a:pt x="0" y="89557"/>
                  </a:lnTo>
                  <a:cubicBezTo>
                    <a:pt x="0" y="40096"/>
                    <a:pt x="40096" y="0"/>
                    <a:pt x="89557" y="0"/>
                  </a:cubicBezTo>
                  <a:close/>
                </a:path>
              </a:pathLst>
            </a:custGeom>
            <a:blipFill>
              <a:blip r:embed="rId6"/>
              <a:stretch>
                <a:fillRect l="-3087" t="0" r="-2024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285385" y="1751831"/>
            <a:ext cx="4754590" cy="5850590"/>
            <a:chOff x="0" y="0"/>
            <a:chExt cx="1036136" cy="12749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6136" cy="1274980"/>
            </a:xfrm>
            <a:custGeom>
              <a:avLst/>
              <a:gdLst/>
              <a:ahLst/>
              <a:cxnLst/>
              <a:rect r="r" b="b" t="t" l="l"/>
              <a:pathLst>
                <a:path h="1274980" w="1036136">
                  <a:moveTo>
                    <a:pt x="89557" y="0"/>
                  </a:moveTo>
                  <a:lnTo>
                    <a:pt x="946580" y="0"/>
                  </a:lnTo>
                  <a:cubicBezTo>
                    <a:pt x="996040" y="0"/>
                    <a:pt x="1036136" y="40096"/>
                    <a:pt x="1036136" y="89557"/>
                  </a:cubicBezTo>
                  <a:lnTo>
                    <a:pt x="1036136" y="1185424"/>
                  </a:lnTo>
                  <a:cubicBezTo>
                    <a:pt x="1036136" y="1209176"/>
                    <a:pt x="1026701" y="1231955"/>
                    <a:pt x="1009906" y="1248750"/>
                  </a:cubicBezTo>
                  <a:cubicBezTo>
                    <a:pt x="993111" y="1265545"/>
                    <a:pt x="970331" y="1274980"/>
                    <a:pt x="946580" y="1274980"/>
                  </a:cubicBezTo>
                  <a:lnTo>
                    <a:pt x="89557" y="1274980"/>
                  </a:lnTo>
                  <a:cubicBezTo>
                    <a:pt x="40096" y="1274980"/>
                    <a:pt x="0" y="1234885"/>
                    <a:pt x="0" y="1185424"/>
                  </a:cubicBezTo>
                  <a:lnTo>
                    <a:pt x="0" y="89557"/>
                  </a:lnTo>
                  <a:cubicBezTo>
                    <a:pt x="0" y="40096"/>
                    <a:pt x="40096" y="0"/>
                    <a:pt x="89557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-9112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3248025" y="7349443"/>
            <a:ext cx="11803569" cy="995774"/>
          </a:xfrm>
          <a:custGeom>
            <a:avLst/>
            <a:gdLst/>
            <a:ahLst/>
            <a:cxnLst/>
            <a:rect r="r" b="b" t="t" l="l"/>
            <a:pathLst>
              <a:path h="995774" w="11803569">
                <a:moveTo>
                  <a:pt x="0" y="0"/>
                </a:moveTo>
                <a:lnTo>
                  <a:pt x="11803569" y="0"/>
                </a:lnTo>
                <a:lnTo>
                  <a:pt x="11803569" y="995775"/>
                </a:lnTo>
                <a:lnTo>
                  <a:pt x="0" y="995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38100" cap="sq">
            <a:solidFill>
              <a:srgbClr val="73111C"/>
            </a:solidFill>
            <a:prstDash val="dash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4124945" y="6834313"/>
            <a:ext cx="3416335" cy="377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7"/>
              </a:lnSpc>
            </a:pPr>
            <a:r>
              <a:rPr lang="en-US" sz="2545">
                <a:solidFill>
                  <a:srgbClr val="990F19"/>
                </a:solidFill>
                <a:latin typeface="Bungee"/>
                <a:ea typeface="Bungee"/>
                <a:cs typeface="Bungee"/>
                <a:sym typeface="Bungee"/>
              </a:rPr>
              <a:t>INCORRECT CODE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019497" y="6827243"/>
            <a:ext cx="3594995" cy="384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2678">
                <a:solidFill>
                  <a:srgbClr val="2E8D43"/>
                </a:solidFill>
                <a:latin typeface="Bungee"/>
                <a:ea typeface="Bungee"/>
                <a:cs typeface="Bungee"/>
                <a:sym typeface="Bungee"/>
              </a:rPr>
              <a:t>CORRECT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79937" y="8782234"/>
            <a:ext cx="14869036" cy="1279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464" spc="172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ก</a:t>
            </a:r>
            <a:r>
              <a:rPr lang="en-US" sz="2464" spc="172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ารประกาศ trait Animal เป็นการกำหนดว่า Animal นั้นต้องมี make_sound() แต่ไม่ได้หมายความว่า Dog จะมีความสามารถของ Animal ซึ่ง Dog ยังไม่ได้เป็น Animal จนกว่าเราจะเขียน Trait Implementation ที่กำหนดให้ Dog มีความสามารถตาม Animal และบอกวิธีทำงานของความสามารถนั้น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50647" y="8829859"/>
            <a:ext cx="166243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2"/>
              </a:lnSpc>
            </a:pPr>
            <a:r>
              <a:rPr lang="en-US" b="true" sz="2568" spc="179">
                <a:solidFill>
                  <a:srgbClr val="FFFFFF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Explain :</a:t>
            </a:r>
          </a:p>
        </p:txBody>
      </p:sp>
    </p:spTree>
  </p:cSld>
  <p:clrMapOvr>
    <a:masterClrMapping/>
  </p:clrMapOvr>
  <p:transition spd="med">
    <p:push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04210" y="-81518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4232197" y="-2957799"/>
            <a:ext cx="6978212" cy="6978212"/>
          </a:xfrm>
          <a:custGeom>
            <a:avLst/>
            <a:gdLst/>
            <a:ahLst/>
            <a:cxnLst/>
            <a:rect r="r" b="b" t="t" l="l"/>
            <a:pathLst>
              <a:path h="6978212" w="6978212">
                <a:moveTo>
                  <a:pt x="0" y="0"/>
                </a:moveTo>
                <a:lnTo>
                  <a:pt x="6978212" y="0"/>
                </a:lnTo>
                <a:lnTo>
                  <a:pt x="6978212" y="6978212"/>
                </a:lnTo>
                <a:lnTo>
                  <a:pt x="0" y="69782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747765" y="7196210"/>
            <a:ext cx="6978212" cy="6978212"/>
          </a:xfrm>
          <a:custGeom>
            <a:avLst/>
            <a:gdLst/>
            <a:ahLst/>
            <a:cxnLst/>
            <a:rect r="r" b="b" t="t" l="l"/>
            <a:pathLst>
              <a:path h="6978212" w="6978212">
                <a:moveTo>
                  <a:pt x="0" y="0"/>
                </a:moveTo>
                <a:lnTo>
                  <a:pt x="6978213" y="0"/>
                </a:lnTo>
                <a:lnTo>
                  <a:pt x="6978213" y="6978213"/>
                </a:lnTo>
                <a:lnTo>
                  <a:pt x="0" y="69782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2945434" y="853383"/>
            <a:ext cx="16230600" cy="0"/>
          </a:xfrm>
          <a:prstGeom prst="line">
            <a:avLst/>
          </a:prstGeom>
          <a:ln cap="flat" w="38100">
            <a:solidFill>
              <a:srgbClr val="664A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-2555386" y="9627255"/>
            <a:ext cx="21731420" cy="0"/>
          </a:xfrm>
          <a:prstGeom prst="line">
            <a:avLst/>
          </a:prstGeom>
          <a:ln cap="flat" w="38100">
            <a:solidFill>
              <a:srgbClr val="664A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-10800000">
            <a:off x="-152264" y="531307"/>
            <a:ext cx="10363663" cy="2582429"/>
            <a:chOff x="0" y="0"/>
            <a:chExt cx="2729525" cy="6801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29524" cy="680146"/>
            </a:xfrm>
            <a:custGeom>
              <a:avLst/>
              <a:gdLst/>
              <a:ahLst/>
              <a:cxnLst/>
              <a:rect r="r" b="b" t="t" l="l"/>
              <a:pathLst>
                <a:path h="680146" w="2729524">
                  <a:moveTo>
                    <a:pt x="0" y="0"/>
                  </a:moveTo>
                  <a:lnTo>
                    <a:pt x="2729524" y="0"/>
                  </a:lnTo>
                  <a:lnTo>
                    <a:pt x="2729524" y="680146"/>
                  </a:lnTo>
                  <a:lnTo>
                    <a:pt x="0" y="680146"/>
                  </a:lnTo>
                  <a:close/>
                </a:path>
              </a:pathLst>
            </a:custGeom>
            <a:solidFill>
              <a:srgbClr val="73111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729525" cy="727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2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4260" y="1177233"/>
            <a:ext cx="9485089" cy="134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0"/>
              </a:lnSpc>
            </a:pPr>
            <a:r>
              <a:rPr lang="en-US" sz="9236">
                <a:solidFill>
                  <a:srgbClr val="E5CCA7"/>
                </a:solidFill>
                <a:latin typeface="Bungee"/>
                <a:ea typeface="Bungee"/>
                <a:cs typeface="Bungee"/>
                <a:sym typeface="Bungee"/>
              </a:rPr>
              <a:t>EXCERCISE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574104" y="7196210"/>
            <a:ext cx="5972554" cy="750426"/>
            <a:chOff x="0" y="0"/>
            <a:chExt cx="1573018" cy="1976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73018" cy="197643"/>
            </a:xfrm>
            <a:custGeom>
              <a:avLst/>
              <a:gdLst/>
              <a:ahLst/>
              <a:cxnLst/>
              <a:rect r="r" b="b" t="t" l="l"/>
              <a:pathLst>
                <a:path h="197643" w="1573018">
                  <a:moveTo>
                    <a:pt x="0" y="0"/>
                  </a:moveTo>
                  <a:lnTo>
                    <a:pt x="1573018" y="0"/>
                  </a:lnTo>
                  <a:lnTo>
                    <a:pt x="1573018" y="197643"/>
                  </a:lnTo>
                  <a:lnTo>
                    <a:pt x="0" y="197643"/>
                  </a:lnTo>
                  <a:close/>
                </a:path>
              </a:pathLst>
            </a:custGeom>
            <a:solidFill>
              <a:srgbClr val="8E0E17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573018" cy="235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995265" y="7325679"/>
            <a:ext cx="4792535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000">
                <a:solidFill>
                  <a:srgbClr val="F6F3F4"/>
                </a:solidFill>
                <a:latin typeface="DM Sans"/>
                <a:ea typeface="DM Sans"/>
                <a:cs typeface="DM Sans"/>
                <a:sym typeface="DM Sans"/>
              </a:rPr>
              <a:t>hint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733917" y="7946637"/>
            <a:ext cx="8812742" cy="1407865"/>
            <a:chOff x="0" y="0"/>
            <a:chExt cx="2321051" cy="3707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21051" cy="370796"/>
            </a:xfrm>
            <a:custGeom>
              <a:avLst/>
              <a:gdLst/>
              <a:ahLst/>
              <a:cxnLst/>
              <a:rect r="r" b="b" t="t" l="l"/>
              <a:pathLst>
                <a:path h="370796" w="2321051">
                  <a:moveTo>
                    <a:pt x="0" y="0"/>
                  </a:moveTo>
                  <a:lnTo>
                    <a:pt x="2321051" y="0"/>
                  </a:lnTo>
                  <a:lnTo>
                    <a:pt x="2321051" y="370796"/>
                  </a:lnTo>
                  <a:lnTo>
                    <a:pt x="0" y="370796"/>
                  </a:lnTo>
                  <a:close/>
                </a:path>
              </a:pathLst>
            </a:custGeom>
            <a:solidFill>
              <a:srgbClr val="E8D9D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321051" cy="408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41342" y="3466707"/>
            <a:ext cx="16805317" cy="3377079"/>
            <a:chOff x="0" y="0"/>
            <a:chExt cx="22407089" cy="4502771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7963406" cy="1000569"/>
              <a:chOff x="0" y="0"/>
              <a:chExt cx="1573018" cy="19764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573018" cy="197643"/>
              </a:xfrm>
              <a:custGeom>
                <a:avLst/>
                <a:gdLst/>
                <a:ahLst/>
                <a:cxnLst/>
                <a:rect r="r" b="b" t="t" l="l"/>
                <a:pathLst>
                  <a:path h="197643" w="1573018">
                    <a:moveTo>
                      <a:pt x="0" y="0"/>
                    </a:moveTo>
                    <a:lnTo>
                      <a:pt x="1573018" y="0"/>
                    </a:lnTo>
                    <a:lnTo>
                      <a:pt x="1573018" y="197643"/>
                    </a:lnTo>
                    <a:lnTo>
                      <a:pt x="0" y="197643"/>
                    </a:lnTo>
                    <a:close/>
                  </a:path>
                </a:pathLst>
              </a:custGeom>
              <a:solidFill>
                <a:srgbClr val="8E0E1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573018" cy="2357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561548" y="178974"/>
              <a:ext cx="6390046" cy="623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0"/>
                </a:lnSpc>
              </a:pPr>
              <a:r>
                <a:rPr lang="en-US" sz="3000">
                  <a:solidFill>
                    <a:srgbClr val="F6F3F4"/>
                  </a:solidFill>
                  <a:latin typeface="DM Sans"/>
                  <a:ea typeface="DM Sans"/>
                  <a:cs typeface="DM Sans"/>
                  <a:sym typeface="DM Sans"/>
                </a:rPr>
                <a:t>problem</a:t>
              </a:r>
            </a:p>
          </p:txBody>
        </p:sp>
        <p:grpSp>
          <p:nvGrpSpPr>
            <p:cNvPr name="Group 25" id="25"/>
            <p:cNvGrpSpPr/>
            <p:nvPr/>
          </p:nvGrpSpPr>
          <p:grpSpPr>
            <a:xfrm rot="0">
              <a:off x="0" y="1000569"/>
              <a:ext cx="22407089" cy="3502203"/>
              <a:chOff x="0" y="0"/>
              <a:chExt cx="4426092" cy="69179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426092" cy="691793"/>
              </a:xfrm>
              <a:custGeom>
                <a:avLst/>
                <a:gdLst/>
                <a:ahLst/>
                <a:cxnLst/>
                <a:rect r="r" b="b" t="t" l="l"/>
                <a:pathLst>
                  <a:path h="691793" w="4426092">
                    <a:moveTo>
                      <a:pt x="0" y="0"/>
                    </a:moveTo>
                    <a:lnTo>
                      <a:pt x="4426092" y="0"/>
                    </a:lnTo>
                    <a:lnTo>
                      <a:pt x="4426092" y="691793"/>
                    </a:lnTo>
                    <a:lnTo>
                      <a:pt x="0" y="691793"/>
                    </a:lnTo>
                    <a:close/>
                  </a:path>
                </a:pathLst>
              </a:custGeom>
              <a:solidFill>
                <a:srgbClr val="E8D9D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4426092" cy="7298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8" id="28"/>
          <p:cNvSpPr txBox="true"/>
          <p:nvPr/>
        </p:nvSpPr>
        <p:spPr>
          <a:xfrm rot="0">
            <a:off x="820771" y="4612326"/>
            <a:ext cx="16646458" cy="1836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915" indent="-315958" lvl="1">
              <a:lnSpc>
                <a:spcPts val="3687"/>
              </a:lnSpc>
              <a:buFont typeface="Arial"/>
              <a:buChar char="•"/>
            </a:pPr>
            <a:r>
              <a:rPr lang="en-US" sz="2926">
                <a:solidFill>
                  <a:srgbClr val="73111C"/>
                </a:solidFill>
                <a:latin typeface="DM Sans"/>
                <a:ea typeface="DM Sans"/>
                <a:cs typeface="DM Sans"/>
                <a:sym typeface="DM Sans"/>
              </a:rPr>
              <a:t>ให้สร้าง trait Payment มี Method pay()สำหรับกำหนดพฤติกรรมการจ่ายเงิน โดยมี Struct 3 ประเภท คือ</a:t>
            </a:r>
          </a:p>
          <a:p>
            <a:pPr algn="l">
              <a:lnSpc>
                <a:spcPts val="3687"/>
              </a:lnSpc>
            </a:pPr>
            <a:r>
              <a:rPr lang="en-US" sz="2926">
                <a:solidFill>
                  <a:srgbClr val="73111C"/>
                </a:solidFill>
                <a:latin typeface="DM Sans"/>
                <a:ea typeface="DM Sans"/>
                <a:cs typeface="DM Sans"/>
                <a:sym typeface="DM Sans"/>
              </a:rPr>
              <a:t>       1.Cash โดยให้แสดงข้อความ "Pay with Cash"</a:t>
            </a:r>
          </a:p>
          <a:p>
            <a:pPr algn="l">
              <a:lnSpc>
                <a:spcPts val="3687"/>
              </a:lnSpc>
            </a:pPr>
            <a:r>
              <a:rPr lang="en-US" sz="2926">
                <a:solidFill>
                  <a:srgbClr val="73111C"/>
                </a:solidFill>
                <a:latin typeface="DM Sans"/>
                <a:ea typeface="DM Sans"/>
                <a:cs typeface="DM Sans"/>
                <a:sym typeface="DM Sans"/>
              </a:rPr>
              <a:t>       2.QRCode แสดงข้อความ "Pay with QR Code"</a:t>
            </a:r>
          </a:p>
          <a:p>
            <a:pPr algn="l">
              <a:lnSpc>
                <a:spcPts val="3687"/>
              </a:lnSpc>
            </a:pPr>
            <a:r>
              <a:rPr lang="en-US" sz="2926">
                <a:solidFill>
                  <a:srgbClr val="73111C"/>
                </a:solidFill>
                <a:latin typeface="DM Sans"/>
                <a:ea typeface="DM Sans"/>
                <a:cs typeface="DM Sans"/>
                <a:sym typeface="DM Sans"/>
              </a:rPr>
              <a:t>       3.CreditCard แสดงข้อความ "Pay with Credit Card"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0" y="8197078"/>
            <a:ext cx="8237036" cy="906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926">
                <a:solidFill>
                  <a:srgbClr val="73111C"/>
                </a:solidFill>
                <a:latin typeface="DM Sans"/>
                <a:ea typeface="DM Sans"/>
                <a:cs typeface="DM Sans"/>
                <a:sym typeface="DM Sans"/>
              </a:rPr>
              <a:t>ใช้ trait Payment เพื่อกำหนด Method pay() และ</a:t>
            </a:r>
            <a:r>
              <a:rPr lang="en-US" sz="2926">
                <a:solidFill>
                  <a:srgbClr val="73111C"/>
                </a:solidFill>
                <a:latin typeface="DM Sans"/>
                <a:ea typeface="DM Sans"/>
                <a:cs typeface="DM Sans"/>
                <a:sym typeface="DM Sans"/>
              </a:rPr>
              <a:t>ใช้ impl กำหนด Payment สำหรับแต่ละประเภท</a:t>
            </a:r>
          </a:p>
        </p:txBody>
      </p:sp>
    </p:spTree>
  </p:cSld>
  <p:clrMapOvr>
    <a:masterClrMapping/>
  </p:clrMapOvr>
  <p:transition spd="fast">
    <p:push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91228" y="0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2220819" y="6834559"/>
            <a:ext cx="6978212" cy="6978212"/>
          </a:xfrm>
          <a:custGeom>
            <a:avLst/>
            <a:gdLst/>
            <a:ahLst/>
            <a:cxnLst/>
            <a:rect r="r" b="b" t="t" l="l"/>
            <a:pathLst>
              <a:path h="6978212" w="6978212">
                <a:moveTo>
                  <a:pt x="0" y="0"/>
                </a:moveTo>
                <a:lnTo>
                  <a:pt x="6978212" y="0"/>
                </a:lnTo>
                <a:lnTo>
                  <a:pt x="6978212" y="6978212"/>
                </a:lnTo>
                <a:lnTo>
                  <a:pt x="0" y="69782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39730" y="1028700"/>
            <a:ext cx="6534381" cy="8658393"/>
          </a:xfrm>
          <a:custGeom>
            <a:avLst/>
            <a:gdLst/>
            <a:ahLst/>
            <a:cxnLst/>
            <a:rect r="r" b="b" t="t" l="l"/>
            <a:pathLst>
              <a:path h="8658393" w="6534381">
                <a:moveTo>
                  <a:pt x="0" y="0"/>
                </a:moveTo>
                <a:lnTo>
                  <a:pt x="6534381" y="0"/>
                </a:lnTo>
                <a:lnTo>
                  <a:pt x="6534381" y="8658393"/>
                </a:lnTo>
                <a:lnTo>
                  <a:pt x="0" y="86583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63600" y="6583758"/>
            <a:ext cx="5942217" cy="2351250"/>
          </a:xfrm>
          <a:custGeom>
            <a:avLst/>
            <a:gdLst/>
            <a:ahLst/>
            <a:cxnLst/>
            <a:rect r="r" b="b" t="t" l="l"/>
            <a:pathLst>
              <a:path h="2351250" w="5942217">
                <a:moveTo>
                  <a:pt x="0" y="0"/>
                </a:moveTo>
                <a:lnTo>
                  <a:pt x="5942217" y="0"/>
                </a:lnTo>
                <a:lnTo>
                  <a:pt x="5942217" y="2351251"/>
                </a:lnTo>
                <a:lnTo>
                  <a:pt x="0" y="23512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6766" r="-11794" b="-6520"/>
            </a:stretch>
          </a:blipFill>
          <a:ln w="85725" cap="sq">
            <a:solidFill>
              <a:srgbClr val="990F19"/>
            </a:solidFill>
            <a:prstDash val="dash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8192164" y="2707631"/>
            <a:ext cx="9485089" cy="2435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0"/>
              </a:lnSpc>
            </a:pPr>
            <a:r>
              <a:rPr lang="en-US" sz="9236">
                <a:solidFill>
                  <a:srgbClr val="8E0E17"/>
                </a:solidFill>
                <a:latin typeface="Bungee"/>
                <a:ea typeface="Bungee"/>
                <a:cs typeface="Bungee"/>
                <a:sym typeface="Bungee"/>
              </a:rPr>
              <a:t>SOLUTION </a:t>
            </a:r>
          </a:p>
          <a:p>
            <a:pPr algn="ctr">
              <a:lnSpc>
                <a:spcPts val="8590"/>
              </a:lnSpc>
            </a:pPr>
            <a:r>
              <a:rPr lang="en-US" sz="9236">
                <a:solidFill>
                  <a:srgbClr val="8E0E17"/>
                </a:solidFill>
                <a:latin typeface="Bungee"/>
                <a:ea typeface="Bungee"/>
                <a:cs typeface="Bungee"/>
                <a:sym typeface="Bungee"/>
              </a:rPr>
              <a:t>&amp; RESULT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232197" y="-2957799"/>
            <a:ext cx="6978212" cy="6978212"/>
          </a:xfrm>
          <a:custGeom>
            <a:avLst/>
            <a:gdLst/>
            <a:ahLst/>
            <a:cxnLst/>
            <a:rect r="r" b="b" t="t" l="l"/>
            <a:pathLst>
              <a:path h="6978212" w="6978212">
                <a:moveTo>
                  <a:pt x="0" y="0"/>
                </a:moveTo>
                <a:lnTo>
                  <a:pt x="6978212" y="0"/>
                </a:lnTo>
                <a:lnTo>
                  <a:pt x="6978212" y="6978212"/>
                </a:lnTo>
                <a:lnTo>
                  <a:pt x="0" y="69782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5400000">
            <a:off x="-11688135" y="6664378"/>
            <a:ext cx="21835227" cy="5187844"/>
            <a:chOff x="0" y="0"/>
            <a:chExt cx="5750842" cy="13663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50842" cy="1366346"/>
            </a:xfrm>
            <a:custGeom>
              <a:avLst/>
              <a:gdLst/>
              <a:ahLst/>
              <a:cxnLst/>
              <a:rect r="r" b="b" t="t" l="l"/>
              <a:pathLst>
                <a:path h="1366346" w="5750842">
                  <a:moveTo>
                    <a:pt x="0" y="0"/>
                  </a:moveTo>
                  <a:lnTo>
                    <a:pt x="5750842" y="0"/>
                  </a:lnTo>
                  <a:lnTo>
                    <a:pt x="5750842" y="1366346"/>
                  </a:lnTo>
                  <a:lnTo>
                    <a:pt x="0" y="1366346"/>
                  </a:lnTo>
                  <a:close/>
                </a:path>
              </a:pathLst>
            </a:custGeom>
            <a:solidFill>
              <a:srgbClr val="73111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5750842" cy="1413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2"/>
                </a:lnSpc>
              </a:pPr>
            </a:p>
          </p:txBody>
        </p:sp>
      </p:grpSp>
    </p:spTree>
  </p:cSld>
  <p:clrMapOvr>
    <a:masterClrMapping/>
  </p:clrMapOvr>
  <p:transition spd="fast">
    <p:push dir="l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04210" y="-239917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5" id="5"/>
          <p:cNvSpPr/>
          <p:nvPr/>
        </p:nvSpPr>
        <p:spPr>
          <a:xfrm>
            <a:off x="2705377" y="1712088"/>
            <a:ext cx="16230600" cy="0"/>
          </a:xfrm>
          <a:prstGeom prst="line">
            <a:avLst/>
          </a:prstGeom>
          <a:ln cap="flat" w="38100">
            <a:solidFill>
              <a:srgbClr val="664A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-2795443" y="9627255"/>
            <a:ext cx="21731420" cy="0"/>
          </a:xfrm>
          <a:prstGeom prst="line">
            <a:avLst/>
          </a:prstGeom>
          <a:ln cap="flat" w="38100">
            <a:solidFill>
              <a:srgbClr val="664A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-10800000">
            <a:off x="-152264" y="531307"/>
            <a:ext cx="10363663" cy="2582429"/>
            <a:chOff x="0" y="0"/>
            <a:chExt cx="2729525" cy="6801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29524" cy="680146"/>
            </a:xfrm>
            <a:custGeom>
              <a:avLst/>
              <a:gdLst/>
              <a:ahLst/>
              <a:cxnLst/>
              <a:rect r="r" b="b" t="t" l="l"/>
              <a:pathLst>
                <a:path h="680146" w="2729524">
                  <a:moveTo>
                    <a:pt x="0" y="0"/>
                  </a:moveTo>
                  <a:lnTo>
                    <a:pt x="2729524" y="0"/>
                  </a:lnTo>
                  <a:lnTo>
                    <a:pt x="2729524" y="680146"/>
                  </a:lnTo>
                  <a:lnTo>
                    <a:pt x="0" y="680146"/>
                  </a:lnTo>
                  <a:close/>
                </a:path>
              </a:pathLst>
            </a:custGeom>
            <a:solidFill>
              <a:srgbClr val="73111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729525" cy="727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2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4260" y="1177233"/>
            <a:ext cx="9485089" cy="134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0"/>
              </a:lnSpc>
            </a:pPr>
            <a:r>
              <a:rPr lang="en-US" sz="9236">
                <a:solidFill>
                  <a:srgbClr val="E5CCA7"/>
                </a:solidFill>
                <a:latin typeface="Bungee"/>
                <a:ea typeface="Bungee"/>
                <a:cs typeface="Bungee"/>
                <a:sym typeface="Bungee"/>
              </a:rPr>
              <a:t>EXC</a:t>
            </a:r>
            <a:r>
              <a:rPr lang="en-US" sz="9236">
                <a:solidFill>
                  <a:srgbClr val="E5CCA7"/>
                </a:solidFill>
                <a:latin typeface="Bungee"/>
                <a:ea typeface="Bungee"/>
                <a:cs typeface="Bungee"/>
                <a:sym typeface="Bungee"/>
              </a:rPr>
              <a:t>ERCISE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574104" y="7196210"/>
            <a:ext cx="5972554" cy="750426"/>
            <a:chOff x="0" y="0"/>
            <a:chExt cx="1573018" cy="1976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73018" cy="197643"/>
            </a:xfrm>
            <a:custGeom>
              <a:avLst/>
              <a:gdLst/>
              <a:ahLst/>
              <a:cxnLst/>
              <a:rect r="r" b="b" t="t" l="l"/>
              <a:pathLst>
                <a:path h="197643" w="1573018">
                  <a:moveTo>
                    <a:pt x="0" y="0"/>
                  </a:moveTo>
                  <a:lnTo>
                    <a:pt x="1573018" y="0"/>
                  </a:lnTo>
                  <a:lnTo>
                    <a:pt x="1573018" y="197643"/>
                  </a:lnTo>
                  <a:lnTo>
                    <a:pt x="0" y="197643"/>
                  </a:lnTo>
                  <a:close/>
                </a:path>
              </a:pathLst>
            </a:custGeom>
            <a:solidFill>
              <a:srgbClr val="8E0E17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73018" cy="235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995265" y="7325679"/>
            <a:ext cx="4792535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000">
                <a:solidFill>
                  <a:srgbClr val="F6F3F4"/>
                </a:solidFill>
                <a:latin typeface="DM Sans"/>
                <a:ea typeface="DM Sans"/>
                <a:cs typeface="DM Sans"/>
                <a:sym typeface="DM Sans"/>
              </a:rPr>
              <a:t>hint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619349" y="7946637"/>
            <a:ext cx="7927310" cy="1407865"/>
            <a:chOff x="0" y="0"/>
            <a:chExt cx="2087851" cy="3707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87851" cy="370796"/>
            </a:xfrm>
            <a:custGeom>
              <a:avLst/>
              <a:gdLst/>
              <a:ahLst/>
              <a:cxnLst/>
              <a:rect r="r" b="b" t="t" l="l"/>
              <a:pathLst>
                <a:path h="370796" w="2087851">
                  <a:moveTo>
                    <a:pt x="0" y="0"/>
                  </a:moveTo>
                  <a:lnTo>
                    <a:pt x="2087851" y="0"/>
                  </a:lnTo>
                  <a:lnTo>
                    <a:pt x="2087851" y="370796"/>
                  </a:lnTo>
                  <a:lnTo>
                    <a:pt x="0" y="370796"/>
                  </a:lnTo>
                  <a:close/>
                </a:path>
              </a:pathLst>
            </a:custGeom>
            <a:solidFill>
              <a:srgbClr val="E8D9DA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87851" cy="408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41342" y="3466707"/>
            <a:ext cx="16805317" cy="3377079"/>
            <a:chOff x="0" y="0"/>
            <a:chExt cx="22407089" cy="4502771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7963406" cy="1000569"/>
              <a:chOff x="0" y="0"/>
              <a:chExt cx="1573018" cy="19764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573018" cy="197643"/>
              </a:xfrm>
              <a:custGeom>
                <a:avLst/>
                <a:gdLst/>
                <a:ahLst/>
                <a:cxnLst/>
                <a:rect r="r" b="b" t="t" l="l"/>
                <a:pathLst>
                  <a:path h="197643" w="1573018">
                    <a:moveTo>
                      <a:pt x="0" y="0"/>
                    </a:moveTo>
                    <a:lnTo>
                      <a:pt x="1573018" y="0"/>
                    </a:lnTo>
                    <a:lnTo>
                      <a:pt x="1573018" y="197643"/>
                    </a:lnTo>
                    <a:lnTo>
                      <a:pt x="0" y="197643"/>
                    </a:lnTo>
                    <a:close/>
                  </a:path>
                </a:pathLst>
              </a:custGeom>
              <a:solidFill>
                <a:srgbClr val="8E0E1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573018" cy="2357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61548" y="178974"/>
              <a:ext cx="6390046" cy="623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0"/>
                </a:lnSpc>
              </a:pPr>
              <a:r>
                <a:rPr lang="en-US" sz="3000">
                  <a:solidFill>
                    <a:srgbClr val="F6F3F4"/>
                  </a:solidFill>
                  <a:latin typeface="DM Sans"/>
                  <a:ea typeface="DM Sans"/>
                  <a:cs typeface="DM Sans"/>
                  <a:sym typeface="DM Sans"/>
                </a:rPr>
                <a:t>problem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0" y="1000569"/>
              <a:ext cx="22407089" cy="3502203"/>
              <a:chOff x="0" y="0"/>
              <a:chExt cx="4426092" cy="691793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426092" cy="691793"/>
              </a:xfrm>
              <a:custGeom>
                <a:avLst/>
                <a:gdLst/>
                <a:ahLst/>
                <a:cxnLst/>
                <a:rect r="r" b="b" t="t" l="l"/>
                <a:pathLst>
                  <a:path h="691793" w="4426092">
                    <a:moveTo>
                      <a:pt x="0" y="0"/>
                    </a:moveTo>
                    <a:lnTo>
                      <a:pt x="4426092" y="0"/>
                    </a:lnTo>
                    <a:lnTo>
                      <a:pt x="4426092" y="691793"/>
                    </a:lnTo>
                    <a:lnTo>
                      <a:pt x="0" y="691793"/>
                    </a:lnTo>
                    <a:close/>
                  </a:path>
                </a:pathLst>
              </a:custGeom>
              <a:solidFill>
                <a:srgbClr val="E8D9D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4426092" cy="7298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6" id="26"/>
          <p:cNvSpPr txBox="true"/>
          <p:nvPr/>
        </p:nvSpPr>
        <p:spPr>
          <a:xfrm rot="0">
            <a:off x="581109" y="4501399"/>
            <a:ext cx="17213052" cy="269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3575" indent="-306788" lvl="1">
              <a:lnSpc>
                <a:spcPts val="3580"/>
              </a:lnSpc>
              <a:buFont typeface="Arial"/>
              <a:buChar char="•"/>
            </a:pPr>
            <a:r>
              <a:rPr lang="en-US" sz="2841">
                <a:solidFill>
                  <a:srgbClr val="73111C"/>
                </a:solidFill>
                <a:latin typeface="DM Sans"/>
                <a:ea typeface="DM Sans"/>
                <a:cs typeface="DM Sans"/>
                <a:sym typeface="DM Sans"/>
              </a:rPr>
              <a:t>ให้สร้าง trait Booking ที่มี Method book() สำหรับกำหนดพฤติกรรมการจองสนาม จากนั้นสร้าง Struct 4 ประเภท </a:t>
            </a:r>
          </a:p>
          <a:p>
            <a:pPr algn="l">
              <a:lnSpc>
                <a:spcPts val="3580"/>
              </a:lnSpc>
            </a:pPr>
            <a:r>
              <a:rPr lang="en-US" sz="2841">
                <a:solidFill>
                  <a:srgbClr val="73111C"/>
                </a:solidFill>
                <a:latin typeface="DM Sans"/>
                <a:ea typeface="DM Sans"/>
                <a:cs typeface="DM Sans"/>
                <a:sym typeface="DM Sans"/>
              </a:rPr>
              <a:t>      </a:t>
            </a:r>
            <a:r>
              <a:rPr lang="en-US" sz="2841">
                <a:solidFill>
                  <a:srgbClr val="73111C"/>
                </a:solidFill>
                <a:latin typeface="DM Sans"/>
                <a:ea typeface="DM Sans"/>
                <a:cs typeface="DM Sans"/>
                <a:sym typeface="DM Sans"/>
              </a:rPr>
              <a:t>1.Student สำหรับนักศึกษาจองคอร์ท แสดงข้อความ "Student booked a badminton court"</a:t>
            </a:r>
          </a:p>
          <a:p>
            <a:pPr algn="l">
              <a:lnSpc>
                <a:spcPts val="3580"/>
              </a:lnSpc>
            </a:pPr>
            <a:r>
              <a:rPr lang="en-US" sz="2841">
                <a:solidFill>
                  <a:srgbClr val="73111C"/>
                </a:solidFill>
                <a:latin typeface="DM Sans"/>
                <a:ea typeface="DM Sans"/>
                <a:cs typeface="DM Sans"/>
                <a:sym typeface="DM Sans"/>
              </a:rPr>
              <a:t>      2.Academic_staffสำหรับบุคลากรจองคอร์ท แสดงข้อความ "Academic staff booked a badminton court"</a:t>
            </a:r>
          </a:p>
          <a:p>
            <a:pPr algn="l">
              <a:lnSpc>
                <a:spcPts val="3580"/>
              </a:lnSpc>
            </a:pPr>
            <a:r>
              <a:rPr lang="en-US" sz="2841">
                <a:solidFill>
                  <a:srgbClr val="73111C"/>
                </a:solidFill>
                <a:latin typeface="DM Sans"/>
                <a:ea typeface="DM Sans"/>
                <a:cs typeface="DM Sans"/>
                <a:sym typeface="DM Sans"/>
              </a:rPr>
              <a:t>      3.Guest สำหรับบุคคลภายนอกจองคอร์ท แสดงข้อความ "Guest booked a badminton court"</a:t>
            </a:r>
          </a:p>
          <a:p>
            <a:pPr algn="l">
              <a:lnSpc>
                <a:spcPts val="3580"/>
              </a:lnSpc>
            </a:pPr>
            <a:r>
              <a:rPr lang="en-US" sz="2841">
                <a:solidFill>
                  <a:srgbClr val="73111C"/>
                </a:solidFill>
                <a:latin typeface="DM Sans"/>
                <a:ea typeface="DM Sans"/>
                <a:cs typeface="DM Sans"/>
                <a:sym typeface="DM Sans"/>
              </a:rPr>
              <a:t>      4.Athlete สำหรับนักกีฬาจองคอร์ท แสดงข้อความ "Athlete booked a badminton court"</a:t>
            </a:r>
          </a:p>
          <a:p>
            <a:pPr algn="l">
              <a:lnSpc>
                <a:spcPts val="358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0054589" y="8200715"/>
            <a:ext cx="7204711" cy="89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0"/>
              </a:lnSpc>
            </a:pPr>
            <a:r>
              <a:rPr lang="en-US" sz="2841">
                <a:solidFill>
                  <a:srgbClr val="73111C"/>
                </a:solidFill>
                <a:latin typeface="DM Sans"/>
                <a:ea typeface="DM Sans"/>
                <a:cs typeface="DM Sans"/>
                <a:sym typeface="DM Sans"/>
              </a:rPr>
              <a:t>ใช้ trait Booking เพื่อกำหนด Method book() </a:t>
            </a:r>
            <a:r>
              <a:rPr lang="en-US" sz="2841">
                <a:solidFill>
                  <a:srgbClr val="73111C"/>
                </a:solidFill>
                <a:latin typeface="DM Sans"/>
                <a:ea typeface="DM Sans"/>
                <a:cs typeface="DM Sans"/>
                <a:sym typeface="DM Sans"/>
              </a:rPr>
              <a:t>และใช้ impl กำหนด Booking สำหรับแต่ละประเภท</a:t>
            </a:r>
          </a:p>
        </p:txBody>
      </p:sp>
    </p:spTree>
  </p:cSld>
  <p:clrMapOvr>
    <a:masterClrMapping/>
  </p:clrMapOvr>
  <p:transition spd="fast">
    <p:push dir="l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91228" y="0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377689" y="769120"/>
            <a:ext cx="6879293" cy="9228594"/>
          </a:xfrm>
          <a:custGeom>
            <a:avLst/>
            <a:gdLst/>
            <a:ahLst/>
            <a:cxnLst/>
            <a:rect r="r" b="b" t="t" l="l"/>
            <a:pathLst>
              <a:path h="9228594" w="6879293">
                <a:moveTo>
                  <a:pt x="0" y="0"/>
                </a:moveTo>
                <a:lnTo>
                  <a:pt x="6879293" y="0"/>
                </a:lnTo>
                <a:lnTo>
                  <a:pt x="6879293" y="9228594"/>
                </a:lnTo>
                <a:lnTo>
                  <a:pt x="0" y="9228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711462" y="6988153"/>
            <a:ext cx="7764691" cy="2270147"/>
          </a:xfrm>
          <a:custGeom>
            <a:avLst/>
            <a:gdLst/>
            <a:ahLst/>
            <a:cxnLst/>
            <a:rect r="r" b="b" t="t" l="l"/>
            <a:pathLst>
              <a:path h="2270147" w="7764691">
                <a:moveTo>
                  <a:pt x="0" y="0"/>
                </a:moveTo>
                <a:lnTo>
                  <a:pt x="7764691" y="0"/>
                </a:lnTo>
                <a:lnTo>
                  <a:pt x="7764691" y="2270147"/>
                </a:lnTo>
                <a:lnTo>
                  <a:pt x="0" y="22701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830" r="0" b="-3236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702694" y="1911986"/>
            <a:ext cx="9485089" cy="2435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0"/>
              </a:lnSpc>
            </a:pPr>
            <a:r>
              <a:rPr lang="en-US" sz="9236">
                <a:solidFill>
                  <a:srgbClr val="8E0E17"/>
                </a:solidFill>
                <a:latin typeface="Bungee"/>
                <a:ea typeface="Bungee"/>
                <a:cs typeface="Bungee"/>
                <a:sym typeface="Bungee"/>
              </a:rPr>
              <a:t>SOLUTION </a:t>
            </a:r>
          </a:p>
          <a:p>
            <a:pPr algn="ctr">
              <a:lnSpc>
                <a:spcPts val="8590"/>
              </a:lnSpc>
            </a:pPr>
            <a:r>
              <a:rPr lang="en-US" sz="9236">
                <a:solidFill>
                  <a:srgbClr val="8E0E17"/>
                </a:solidFill>
                <a:latin typeface="Bungee"/>
                <a:ea typeface="Bungee"/>
                <a:cs typeface="Bungee"/>
                <a:sym typeface="Bungee"/>
              </a:rPr>
              <a:t>&amp; RESULT</a:t>
            </a:r>
          </a:p>
        </p:txBody>
      </p:sp>
      <p:grpSp>
        <p:nvGrpSpPr>
          <p:cNvPr name="Group 8" id="8"/>
          <p:cNvGrpSpPr/>
          <p:nvPr/>
        </p:nvGrpSpPr>
        <p:grpSpPr>
          <a:xfrm rot="-5400000">
            <a:off x="-11688135" y="6664378"/>
            <a:ext cx="21835227" cy="5187844"/>
            <a:chOff x="0" y="0"/>
            <a:chExt cx="5750842" cy="13663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50842" cy="1366346"/>
            </a:xfrm>
            <a:custGeom>
              <a:avLst/>
              <a:gdLst/>
              <a:ahLst/>
              <a:cxnLst/>
              <a:rect r="r" b="b" t="t" l="l"/>
              <a:pathLst>
                <a:path h="1366346" w="5750842">
                  <a:moveTo>
                    <a:pt x="0" y="0"/>
                  </a:moveTo>
                  <a:lnTo>
                    <a:pt x="5750842" y="0"/>
                  </a:lnTo>
                  <a:lnTo>
                    <a:pt x="5750842" y="1366346"/>
                  </a:lnTo>
                  <a:lnTo>
                    <a:pt x="0" y="1366346"/>
                  </a:lnTo>
                  <a:close/>
                </a:path>
              </a:pathLst>
            </a:custGeom>
            <a:solidFill>
              <a:srgbClr val="73111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750842" cy="1413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2"/>
                </a:lnSpc>
              </a:pPr>
            </a:p>
          </p:txBody>
        </p:sp>
      </p:grpSp>
    </p:spTree>
  </p:cSld>
  <p:clrMapOvr>
    <a:masterClrMapping/>
  </p:clrMapOvr>
  <p:transition spd="fast">
    <p:push dir="l"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91228" y="0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5" id="5"/>
          <p:cNvSpPr/>
          <p:nvPr/>
        </p:nvSpPr>
        <p:spPr>
          <a:xfrm>
            <a:off x="1028700" y="1068888"/>
            <a:ext cx="16230600" cy="0"/>
          </a:xfrm>
          <a:prstGeom prst="line">
            <a:avLst/>
          </a:prstGeom>
          <a:ln cap="flat" w="38100">
            <a:solidFill>
              <a:srgbClr val="664A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067730" y="9239250"/>
            <a:ext cx="16230600" cy="0"/>
          </a:xfrm>
          <a:prstGeom prst="line">
            <a:avLst/>
          </a:prstGeom>
          <a:ln cap="flat" w="38100">
            <a:solidFill>
              <a:srgbClr val="664A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000499" y="1869516"/>
            <a:ext cx="3394710" cy="4114800"/>
          </a:xfrm>
          <a:custGeom>
            <a:avLst/>
            <a:gdLst/>
            <a:ahLst/>
            <a:cxnLst/>
            <a:rect r="r" b="b" t="t" l="l"/>
            <a:pathLst>
              <a:path h="4114800" w="3394710">
                <a:moveTo>
                  <a:pt x="0" y="0"/>
                </a:moveTo>
                <a:lnTo>
                  <a:pt x="3394710" y="0"/>
                </a:lnTo>
                <a:lnTo>
                  <a:pt x="3394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1321396" y="4063478"/>
            <a:ext cx="20930792" cy="2276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01"/>
              </a:lnSpc>
            </a:pPr>
            <a:r>
              <a:rPr lang="en-US" sz="15593">
                <a:solidFill>
                  <a:srgbClr val="8E0E17"/>
                </a:solidFill>
                <a:latin typeface="Bungee"/>
                <a:ea typeface="Bungee"/>
                <a:cs typeface="Bungee"/>
                <a:sym typeface="Bungee"/>
              </a:rPr>
              <a:t>CHALLENGE</a:t>
            </a:r>
          </a:p>
        </p:txBody>
      </p:sp>
      <p:sp>
        <p:nvSpPr>
          <p:cNvPr name="Freeform 9" id="9"/>
          <p:cNvSpPr/>
          <p:nvPr/>
        </p:nvSpPr>
        <p:spPr>
          <a:xfrm flipH="true" flipV="true" rot="0">
            <a:off x="614364" y="4705941"/>
            <a:ext cx="3394710" cy="4114800"/>
          </a:xfrm>
          <a:custGeom>
            <a:avLst/>
            <a:gdLst/>
            <a:ahLst/>
            <a:cxnLst/>
            <a:rect r="r" b="b" t="t" l="l"/>
            <a:pathLst>
              <a:path h="4114800" w="3394710">
                <a:moveTo>
                  <a:pt x="339471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394710" y="0"/>
                </a:lnTo>
                <a:lnTo>
                  <a:pt x="339471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91228" y="0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195798" y="-54915"/>
            <a:ext cx="6462086" cy="10341915"/>
          </a:xfrm>
          <a:custGeom>
            <a:avLst/>
            <a:gdLst/>
            <a:ahLst/>
            <a:cxnLst/>
            <a:rect r="r" b="b" t="t" l="l"/>
            <a:pathLst>
              <a:path h="10341915" w="6462086">
                <a:moveTo>
                  <a:pt x="0" y="0"/>
                </a:moveTo>
                <a:lnTo>
                  <a:pt x="6462087" y="0"/>
                </a:lnTo>
                <a:lnTo>
                  <a:pt x="6462087" y="10341915"/>
                </a:lnTo>
                <a:lnTo>
                  <a:pt x="0" y="103419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466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623572" y="4152584"/>
            <a:ext cx="7814688" cy="1230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2"/>
              </a:lnSpc>
            </a:pPr>
            <a:r>
              <a:rPr lang="en-US" sz="3921" b="true">
                <a:solidFill>
                  <a:srgbClr val="84171D"/>
                </a:solidFill>
                <a:latin typeface="Roboto Bold"/>
                <a:ea typeface="Roboto Bold"/>
                <a:cs typeface="Roboto Bold"/>
                <a:sym typeface="Roboto Bold"/>
              </a:rPr>
              <a:t>จากโค้ดที่ห้มาcompile ผ่านหรือไม่? ถ้าไม่ผ่าน ติดตรงไหน?</a:t>
            </a:r>
          </a:p>
        </p:txBody>
      </p:sp>
      <p:grpSp>
        <p:nvGrpSpPr>
          <p:cNvPr name="Group 7" id="7"/>
          <p:cNvGrpSpPr/>
          <p:nvPr/>
        </p:nvGrpSpPr>
        <p:grpSpPr>
          <a:xfrm rot="-5400000">
            <a:off x="-10857955" y="5834198"/>
            <a:ext cx="21835227" cy="6848204"/>
            <a:chOff x="0" y="0"/>
            <a:chExt cx="5750842" cy="18036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50842" cy="1803642"/>
            </a:xfrm>
            <a:custGeom>
              <a:avLst/>
              <a:gdLst/>
              <a:ahLst/>
              <a:cxnLst/>
              <a:rect r="r" b="b" t="t" l="l"/>
              <a:pathLst>
                <a:path h="1803642" w="5750842">
                  <a:moveTo>
                    <a:pt x="0" y="0"/>
                  </a:moveTo>
                  <a:lnTo>
                    <a:pt x="5750842" y="0"/>
                  </a:lnTo>
                  <a:lnTo>
                    <a:pt x="5750842" y="1803642"/>
                  </a:lnTo>
                  <a:lnTo>
                    <a:pt x="0" y="1803642"/>
                  </a:lnTo>
                  <a:close/>
                </a:path>
              </a:pathLst>
            </a:custGeom>
            <a:solidFill>
              <a:srgbClr val="73111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750842" cy="1851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2"/>
                </a:lnSpc>
              </a:pPr>
            </a:p>
          </p:txBody>
        </p:sp>
      </p:grpSp>
    </p:spTree>
  </p:cSld>
  <p:clrMapOvr>
    <a:masterClrMapping/>
  </p:clrMapOvr>
  <p:transition spd="fast">
    <p:push dir="l"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04210" y="-239917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86124" y="472966"/>
            <a:ext cx="5972554" cy="750426"/>
            <a:chOff x="0" y="0"/>
            <a:chExt cx="1573018" cy="1976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73018" cy="197643"/>
            </a:xfrm>
            <a:custGeom>
              <a:avLst/>
              <a:gdLst/>
              <a:ahLst/>
              <a:cxnLst/>
              <a:rect r="r" b="b" t="t" l="l"/>
              <a:pathLst>
                <a:path h="197643" w="1573018">
                  <a:moveTo>
                    <a:pt x="0" y="0"/>
                  </a:moveTo>
                  <a:lnTo>
                    <a:pt x="1573018" y="0"/>
                  </a:lnTo>
                  <a:lnTo>
                    <a:pt x="1573018" y="197643"/>
                  </a:lnTo>
                  <a:lnTo>
                    <a:pt x="0" y="197643"/>
                  </a:lnTo>
                  <a:close/>
                </a:path>
              </a:pathLst>
            </a:custGeom>
            <a:solidFill>
              <a:srgbClr val="8E0E17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73018" cy="235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19393" y="1705281"/>
            <a:ext cx="5939285" cy="8167743"/>
          </a:xfrm>
          <a:custGeom>
            <a:avLst/>
            <a:gdLst/>
            <a:ahLst/>
            <a:cxnLst/>
            <a:rect r="r" b="b" t="t" l="l"/>
            <a:pathLst>
              <a:path h="8167743" w="5939285">
                <a:moveTo>
                  <a:pt x="0" y="0"/>
                </a:moveTo>
                <a:lnTo>
                  <a:pt x="5939285" y="0"/>
                </a:lnTo>
                <a:lnTo>
                  <a:pt x="5939285" y="8167743"/>
                </a:lnTo>
                <a:lnTo>
                  <a:pt x="0" y="81677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990F19"/>
            </a:solidFill>
            <a:prstDash val="lgDash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7829088" y="3187233"/>
            <a:ext cx="9102703" cy="1490994"/>
          </a:xfrm>
          <a:custGeom>
            <a:avLst/>
            <a:gdLst/>
            <a:ahLst/>
            <a:cxnLst/>
            <a:rect r="r" b="b" t="t" l="l"/>
            <a:pathLst>
              <a:path h="1490994" w="9102703">
                <a:moveTo>
                  <a:pt x="0" y="0"/>
                </a:moveTo>
                <a:lnTo>
                  <a:pt x="9102703" y="0"/>
                </a:lnTo>
                <a:lnTo>
                  <a:pt x="9102703" y="1490994"/>
                </a:lnTo>
                <a:lnTo>
                  <a:pt x="0" y="14909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0012" b="0"/>
            </a:stretch>
          </a:blipFill>
          <a:ln w="38100" cap="sq">
            <a:solidFill>
              <a:srgbClr val="990F19"/>
            </a:solidFill>
            <a:prstDash val="lgDash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8439379" y="5018244"/>
            <a:ext cx="7537974" cy="2054304"/>
          </a:xfrm>
          <a:custGeom>
            <a:avLst/>
            <a:gdLst/>
            <a:ahLst/>
            <a:cxnLst/>
            <a:rect r="r" b="b" t="t" l="l"/>
            <a:pathLst>
              <a:path h="2054304" w="7537974">
                <a:moveTo>
                  <a:pt x="0" y="0"/>
                </a:moveTo>
                <a:lnTo>
                  <a:pt x="7537974" y="0"/>
                </a:lnTo>
                <a:lnTo>
                  <a:pt x="7537974" y="2054304"/>
                </a:lnTo>
                <a:lnTo>
                  <a:pt x="0" y="20543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574" t="0" r="0" b="0"/>
            </a:stretch>
          </a:blipFill>
          <a:ln w="38100" cap="sq">
            <a:solidFill>
              <a:srgbClr val="990F19"/>
            </a:solidFill>
            <a:prstDash val="lgDash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7069438" y="1980511"/>
            <a:ext cx="10622003" cy="863822"/>
          </a:xfrm>
          <a:custGeom>
            <a:avLst/>
            <a:gdLst/>
            <a:ahLst/>
            <a:cxnLst/>
            <a:rect r="r" b="b" t="t" l="l"/>
            <a:pathLst>
              <a:path h="863822" w="10622003">
                <a:moveTo>
                  <a:pt x="0" y="0"/>
                </a:moveTo>
                <a:lnTo>
                  <a:pt x="10622003" y="0"/>
                </a:lnTo>
                <a:lnTo>
                  <a:pt x="10622003" y="863822"/>
                </a:lnTo>
                <a:lnTo>
                  <a:pt x="0" y="8638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7793" r="0" b="-46041"/>
            </a:stretch>
          </a:blipFill>
          <a:ln w="38100" cap="sq">
            <a:solidFill>
              <a:srgbClr val="990F19"/>
            </a:solidFill>
            <a:prstDash val="dash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1307284" y="602434"/>
            <a:ext cx="4792535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000">
                <a:solidFill>
                  <a:srgbClr val="F6F3F4"/>
                </a:solidFill>
                <a:latin typeface="DM Sans"/>
                <a:ea typeface="DM Sans"/>
                <a:cs typeface="DM Sans"/>
                <a:sym typeface="DM Sans"/>
              </a:rPr>
              <a:t>solution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512140" y="7415448"/>
            <a:ext cx="9747160" cy="2457576"/>
            <a:chOff x="0" y="0"/>
            <a:chExt cx="2567153" cy="64726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67153" cy="647263"/>
            </a:xfrm>
            <a:custGeom>
              <a:avLst/>
              <a:gdLst/>
              <a:ahLst/>
              <a:cxnLst/>
              <a:rect r="r" b="b" t="t" l="l"/>
              <a:pathLst>
                <a:path h="647263" w="2567153">
                  <a:moveTo>
                    <a:pt x="0" y="0"/>
                  </a:moveTo>
                  <a:lnTo>
                    <a:pt x="2567153" y="0"/>
                  </a:lnTo>
                  <a:lnTo>
                    <a:pt x="2567153" y="647263"/>
                  </a:lnTo>
                  <a:lnTo>
                    <a:pt x="0" y="647263"/>
                  </a:lnTo>
                  <a:close/>
                </a:path>
              </a:pathLst>
            </a:custGeom>
            <a:solidFill>
              <a:srgbClr val="E8D9D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567153" cy="685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920300" y="7579944"/>
            <a:ext cx="8920279" cy="2136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2"/>
              </a:lnSpc>
              <a:spcBef>
                <a:spcPct val="0"/>
              </a:spcBef>
            </a:pPr>
            <a:r>
              <a:rPr lang="en-US" sz="2451">
                <a:solidFill>
                  <a:srgbClr val="8E0E17"/>
                </a:solidFill>
                <a:latin typeface="DM Sans"/>
                <a:ea typeface="DM Sans"/>
                <a:cs typeface="DM Sans"/>
                <a:sym typeface="DM Sans"/>
              </a:rPr>
              <a:t>จาก Code จะเห็นว่า Student, Teacher และ Staff มีการ Implement Order แล้วแต่ Guest ยังไม่ได้ Implement Trait Order ขณะที่ Function กำหนด Trait Bound ว่า T ต้องเป็น Type ที่ Implement Order ดังนั้นเมื่อเรียก make_order(guest)  Rust จะตรวจสอบว่า Guest มี Order หรือไม่ แต่ไม่พบ จึงเกิด Compile Error</a:t>
            </a:r>
          </a:p>
        </p:txBody>
      </p:sp>
    </p:spTree>
  </p:cSld>
  <p:clrMapOvr>
    <a:masterClrMapping/>
  </p:clrMapOvr>
  <p:transition spd="fast">
    <p:push dir="l"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91228" y="0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5400000">
            <a:off x="-10857955" y="5834198"/>
            <a:ext cx="21835227" cy="6848204"/>
            <a:chOff x="0" y="0"/>
            <a:chExt cx="5750842" cy="18036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50842" cy="1803642"/>
            </a:xfrm>
            <a:custGeom>
              <a:avLst/>
              <a:gdLst/>
              <a:ahLst/>
              <a:cxnLst/>
              <a:rect r="r" b="b" t="t" l="l"/>
              <a:pathLst>
                <a:path h="1803642" w="5750842">
                  <a:moveTo>
                    <a:pt x="0" y="0"/>
                  </a:moveTo>
                  <a:lnTo>
                    <a:pt x="5750842" y="0"/>
                  </a:lnTo>
                  <a:lnTo>
                    <a:pt x="5750842" y="1803642"/>
                  </a:lnTo>
                  <a:lnTo>
                    <a:pt x="0" y="1803642"/>
                  </a:lnTo>
                  <a:close/>
                </a:path>
              </a:pathLst>
            </a:custGeom>
            <a:solidFill>
              <a:srgbClr val="73111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750842" cy="1851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100727" y="659117"/>
            <a:ext cx="5855308" cy="8968765"/>
          </a:xfrm>
          <a:custGeom>
            <a:avLst/>
            <a:gdLst/>
            <a:ahLst/>
            <a:cxnLst/>
            <a:rect r="r" b="b" t="t" l="l"/>
            <a:pathLst>
              <a:path h="8968765" w="5855308">
                <a:moveTo>
                  <a:pt x="0" y="0"/>
                </a:moveTo>
                <a:lnTo>
                  <a:pt x="5855308" y="0"/>
                </a:lnTo>
                <a:lnTo>
                  <a:pt x="5855308" y="8968766"/>
                </a:lnTo>
                <a:lnTo>
                  <a:pt x="0" y="89687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8C1019"/>
            </a:solidFill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0935725" y="3656294"/>
            <a:ext cx="6095451" cy="2974413"/>
          </a:xfrm>
          <a:custGeom>
            <a:avLst/>
            <a:gdLst/>
            <a:ahLst/>
            <a:cxnLst/>
            <a:rect r="r" b="b" t="t" l="l"/>
            <a:pathLst>
              <a:path h="2974413" w="6095451">
                <a:moveTo>
                  <a:pt x="0" y="0"/>
                </a:moveTo>
                <a:lnTo>
                  <a:pt x="6095452" y="0"/>
                </a:lnTo>
                <a:lnTo>
                  <a:pt x="6095452" y="2974412"/>
                </a:lnTo>
                <a:lnTo>
                  <a:pt x="0" y="29744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8C1019"/>
            </a:solidFill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10995411" y="1711228"/>
            <a:ext cx="5714951" cy="9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3"/>
              </a:lnSpc>
            </a:pPr>
            <a:r>
              <a:rPr lang="en-US" sz="5850" b="true">
                <a:solidFill>
                  <a:srgbClr val="84171D"/>
                </a:solidFill>
                <a:latin typeface="Roboto Bold"/>
                <a:ea typeface="Roboto Bold"/>
                <a:cs typeface="Roboto Bold"/>
                <a:sym typeface="Roboto Bold"/>
              </a:rPr>
              <a:t>code ที่ถูกต้อง</a:t>
            </a:r>
          </a:p>
        </p:txBody>
      </p:sp>
    </p:spTree>
  </p:cSld>
  <p:clrMapOvr>
    <a:masterClrMapping/>
  </p:clrMapOvr>
  <p:transition spd="fast">
    <p:push dir="l"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04210" y="-239917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-426185" y="-2593922"/>
            <a:ext cx="21835227" cy="5187844"/>
            <a:chOff x="0" y="0"/>
            <a:chExt cx="5750842" cy="13663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50842" cy="1366346"/>
            </a:xfrm>
            <a:custGeom>
              <a:avLst/>
              <a:gdLst/>
              <a:ahLst/>
              <a:cxnLst/>
              <a:rect r="r" b="b" t="t" l="l"/>
              <a:pathLst>
                <a:path h="1366346" w="5750842">
                  <a:moveTo>
                    <a:pt x="0" y="0"/>
                  </a:moveTo>
                  <a:lnTo>
                    <a:pt x="5750842" y="0"/>
                  </a:lnTo>
                  <a:lnTo>
                    <a:pt x="5750842" y="1366346"/>
                  </a:lnTo>
                  <a:lnTo>
                    <a:pt x="0" y="1366346"/>
                  </a:lnTo>
                  <a:close/>
                </a:path>
              </a:pathLst>
            </a:custGeom>
            <a:solidFill>
              <a:srgbClr val="73111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750842" cy="1413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2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-2008903" y="460203"/>
            <a:ext cx="20930792" cy="1893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89"/>
              </a:lnSpc>
            </a:pPr>
            <a:r>
              <a:rPr lang="en-US" sz="12999">
                <a:solidFill>
                  <a:srgbClr val="E5CCA7"/>
                </a:solidFill>
                <a:latin typeface="Bungee"/>
                <a:ea typeface="Bungee"/>
                <a:cs typeface="Bungee"/>
                <a:sym typeface="Bungee"/>
              </a:rPr>
              <a:t>KEY TAKEAWAYS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1696604" y="2593922"/>
            <a:ext cx="0" cy="16230600"/>
          </a:xfrm>
          <a:prstGeom prst="line">
            <a:avLst/>
          </a:prstGeom>
          <a:ln cap="flat" w="38100">
            <a:solidFill>
              <a:srgbClr val="664A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2163099" y="2820173"/>
            <a:ext cx="13961801" cy="670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6720"/>
              </a:lnSpc>
              <a:buFont typeface="Arial"/>
              <a:buChar char="•"/>
            </a:pPr>
            <a:r>
              <a:rPr lang="en-US" sz="3500">
                <a:solidFill>
                  <a:srgbClr val="664A3E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RUST ใช้ </a:t>
            </a:r>
            <a:r>
              <a:rPr lang="en-US" b="true" sz="3500">
                <a:solidFill>
                  <a:srgbClr val="664A3E"/>
                </a:solidFill>
                <a:latin typeface="เอฟซี มินิมอล Bold"/>
                <a:ea typeface="เอฟซี มินิมอล Bold"/>
                <a:cs typeface="เอฟซี มินิมอล Bold"/>
                <a:sym typeface="เอฟซี มินิมอล Bold"/>
              </a:rPr>
              <a:t>TRAIT</a:t>
            </a:r>
            <a:r>
              <a:rPr lang="en-US" sz="3500">
                <a:solidFill>
                  <a:srgbClr val="664A3E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 สำหรับทำ POLYMORPHISM เนื่องจาก RUST ไม่มี CLASS/INHERITANCE</a:t>
            </a:r>
          </a:p>
          <a:p>
            <a:pPr algn="l" marL="755651" indent="-377825" lvl="1">
              <a:lnSpc>
                <a:spcPts val="6720"/>
              </a:lnSpc>
              <a:buFont typeface="Arial"/>
              <a:buChar char="•"/>
            </a:pPr>
            <a:r>
              <a:rPr lang="en-US" sz="3500">
                <a:solidFill>
                  <a:srgbClr val="664A3E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TRAIT  คือ จุดรวมพฤติกรรมของเมธอดเเละ </a:t>
            </a:r>
            <a:r>
              <a:rPr lang="en-US" b="true" sz="3500">
                <a:solidFill>
                  <a:srgbClr val="664A3E"/>
                </a:solidFill>
                <a:latin typeface="เอฟซี มินิมอล Bold"/>
                <a:ea typeface="เอฟซี มินิมอล Bold"/>
                <a:cs typeface="เอฟซี มินิมอล Bold"/>
                <a:sym typeface="เอฟซี มินิมอล Bold"/>
              </a:rPr>
              <a:t>IMPL </a:t>
            </a:r>
            <a:r>
              <a:rPr lang="en-US" sz="3500">
                <a:solidFill>
                  <a:srgbClr val="664A3E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เพื่อกำหนดว่าTYPEนั้นต้องมีพฤติกรรมอะไรบ้าง</a:t>
            </a:r>
          </a:p>
          <a:p>
            <a:pPr algn="l" marL="755651" indent="-377825" lvl="1">
              <a:lnSpc>
                <a:spcPts val="6720"/>
              </a:lnSpc>
              <a:buFont typeface="Arial"/>
              <a:buChar char="•"/>
            </a:pPr>
            <a:r>
              <a:rPr lang="en-US" b="true" sz="3500">
                <a:solidFill>
                  <a:srgbClr val="664A3E"/>
                </a:solidFill>
                <a:latin typeface="เอฟซี มินิมอล Bold"/>
                <a:ea typeface="เอฟซี มินิมอล Bold"/>
                <a:cs typeface="เอฟซี มินิมอล Bold"/>
                <a:sym typeface="เอฟซี มินิมอล Bold"/>
              </a:rPr>
              <a:t>POLYMORPHISM </a:t>
            </a:r>
            <a:r>
              <a:rPr lang="en-US" sz="3500">
                <a:solidFill>
                  <a:srgbClr val="664A3E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ทำให้ CODE สามารถรองรับได้หลาย TYPE ในฟังก์ชันเดียวกัน</a:t>
            </a:r>
          </a:p>
          <a:p>
            <a:pPr algn="l" marL="755651" indent="-377825" lvl="1">
              <a:lnSpc>
                <a:spcPts val="6720"/>
              </a:lnSpc>
              <a:buFont typeface="Arial"/>
              <a:buChar char="•"/>
            </a:pPr>
            <a:r>
              <a:rPr lang="en-US" sz="3500">
                <a:solidFill>
                  <a:srgbClr val="664A3E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มี </a:t>
            </a:r>
            <a:r>
              <a:rPr lang="en-US" b="true" sz="3500">
                <a:solidFill>
                  <a:srgbClr val="664A3E"/>
                </a:solidFill>
                <a:latin typeface="เอฟซี มินิมอล Bold"/>
                <a:ea typeface="เอฟซี มินิมอล Bold"/>
                <a:cs typeface="เอฟซี มินิมอล Bold"/>
                <a:sym typeface="เอฟซี มินิมอล Bold"/>
              </a:rPr>
              <a:t>TRAIT BOUND</a:t>
            </a:r>
            <a:r>
              <a:rPr lang="en-US" sz="3500">
                <a:solidFill>
                  <a:srgbClr val="664A3E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 ช่วยจำกัด TYPE ให้กับฟังก์ชัน</a:t>
            </a:r>
          </a:p>
          <a:p>
            <a:pPr algn="l">
              <a:lnSpc>
                <a:spcPts val="6720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04210" y="-239917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-426185" y="-2593922"/>
            <a:ext cx="21835227" cy="5187844"/>
            <a:chOff x="0" y="0"/>
            <a:chExt cx="5750842" cy="13663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50842" cy="1366346"/>
            </a:xfrm>
            <a:custGeom>
              <a:avLst/>
              <a:gdLst/>
              <a:ahLst/>
              <a:cxnLst/>
              <a:rect r="r" b="b" t="t" l="l"/>
              <a:pathLst>
                <a:path h="1366346" w="5750842">
                  <a:moveTo>
                    <a:pt x="0" y="0"/>
                  </a:moveTo>
                  <a:lnTo>
                    <a:pt x="5750842" y="0"/>
                  </a:lnTo>
                  <a:lnTo>
                    <a:pt x="5750842" y="1366346"/>
                  </a:lnTo>
                  <a:lnTo>
                    <a:pt x="0" y="1366346"/>
                  </a:lnTo>
                  <a:close/>
                </a:path>
              </a:pathLst>
            </a:custGeom>
            <a:solidFill>
              <a:srgbClr val="73111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750842" cy="1413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2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-1204210" y="317488"/>
            <a:ext cx="20930792" cy="2276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01"/>
              </a:lnSpc>
            </a:pPr>
            <a:r>
              <a:rPr lang="en-US" sz="15593">
                <a:solidFill>
                  <a:srgbClr val="E5CCA7"/>
                </a:solidFill>
                <a:latin typeface="Bungee"/>
                <a:ea typeface="Bungee"/>
                <a:cs typeface="Bungee"/>
                <a:sym typeface="Bungee"/>
              </a:rPr>
              <a:t>REFERENCES 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1696604" y="2593922"/>
            <a:ext cx="0" cy="16230600"/>
          </a:xfrm>
          <a:prstGeom prst="line">
            <a:avLst/>
          </a:prstGeom>
          <a:ln cap="flat" w="38100">
            <a:solidFill>
              <a:srgbClr val="664A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696604" y="2766436"/>
            <a:ext cx="13961801" cy="789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5759"/>
              </a:lnSpc>
              <a:buFont typeface="Arial"/>
              <a:buChar char="•"/>
            </a:pPr>
            <a:r>
              <a:rPr lang="en-US" sz="3000">
                <a:solidFill>
                  <a:srgbClr val="664A3E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THE RUST PROGRAMMING LANGUAGE - HTTPS://DOC.RUST-LANG.ORG/BOOK/TITLE-PAGE.HTML</a:t>
            </a:r>
          </a:p>
          <a:p>
            <a:pPr algn="l" marL="647700" indent="-323850" lvl="1">
              <a:lnSpc>
                <a:spcPts val="5759"/>
              </a:lnSpc>
              <a:buFont typeface="Arial"/>
              <a:buChar char="•"/>
            </a:pPr>
            <a:r>
              <a:rPr lang="en-US" sz="3000">
                <a:solidFill>
                  <a:srgbClr val="664A3E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JAVA POLYMORPHISM - HTTPS://WWW.W3SCHOOLS.COM/JAVA/JAVA_POLYMORPHISM.ASP</a:t>
            </a:r>
          </a:p>
          <a:p>
            <a:pPr algn="l" marL="647700" indent="-323850" lvl="1">
              <a:lnSpc>
                <a:spcPts val="5759"/>
              </a:lnSpc>
              <a:buFont typeface="Arial"/>
              <a:buChar char="•"/>
            </a:pPr>
            <a:r>
              <a:rPr lang="en-US" sz="3000">
                <a:solidFill>
                  <a:srgbClr val="664A3E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POLYMORPHISM IN C++ - HTTPS://WWW.UDACITY.COM/BLOG/UNDERSTANDING-POLYMORPHISM-IN-CPP/</a:t>
            </a:r>
          </a:p>
          <a:p>
            <a:pPr algn="l" marL="647700" indent="-323850" lvl="1">
              <a:lnSpc>
                <a:spcPts val="5759"/>
              </a:lnSpc>
              <a:buFont typeface="Arial"/>
              <a:buChar char="•"/>
            </a:pPr>
            <a:r>
              <a:rPr lang="en-US" sz="3000">
                <a:solidFill>
                  <a:srgbClr val="664A3E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POLYMORPHISM IN PYTHON - HTTPS://WWW.CODECADEMY.COM/ARTICLE/UNDERSTANDING-POLYMORPHISM-IN-PYTHON</a:t>
            </a:r>
          </a:p>
          <a:p>
            <a:pPr algn="l" marL="647700" indent="-323850" lvl="1">
              <a:lnSpc>
                <a:spcPts val="5759"/>
              </a:lnSpc>
              <a:buFont typeface="Arial"/>
              <a:buChar char="•"/>
            </a:pPr>
            <a:r>
              <a:rPr lang="en-US" sz="3000">
                <a:solidFill>
                  <a:srgbClr val="664A3E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DYNAMIC VS STATIC DISPATCH - HTTPS://TOUROFRUST.COM/81_TH.HTML</a:t>
            </a:r>
          </a:p>
          <a:p>
            <a:pPr algn="l">
              <a:lnSpc>
                <a:spcPts val="5759"/>
              </a:lnSpc>
            </a:pPr>
          </a:p>
          <a:p>
            <a:pPr algn="l">
              <a:lnSpc>
                <a:spcPts val="5759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91228" y="0"/>
            <a:ext cx="20696420" cy="10766835"/>
            <a:chOff x="0" y="0"/>
            <a:chExt cx="27595227" cy="1435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73347" y="0"/>
              <a:ext cx="14421880" cy="14355780"/>
            </a:xfrm>
            <a:custGeom>
              <a:avLst/>
              <a:gdLst/>
              <a:ahLst/>
              <a:cxnLst/>
              <a:rect r="r" b="b" t="t" l="l"/>
              <a:pathLst>
                <a:path h="14355780" w="14421880">
                  <a:moveTo>
                    <a:pt x="0" y="0"/>
                  </a:moveTo>
                  <a:lnTo>
                    <a:pt x="14421880" y="0"/>
                  </a:lnTo>
                  <a:lnTo>
                    <a:pt x="14421880" y="14355780"/>
                  </a:lnTo>
                  <a:lnTo>
                    <a:pt x="0" y="1435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5" id="5"/>
          <p:cNvSpPr/>
          <p:nvPr/>
        </p:nvSpPr>
        <p:spPr>
          <a:xfrm>
            <a:off x="1028700" y="1068888"/>
            <a:ext cx="16230600" cy="0"/>
          </a:xfrm>
          <a:prstGeom prst="line">
            <a:avLst/>
          </a:prstGeom>
          <a:ln cap="flat" w="38100">
            <a:solidFill>
              <a:srgbClr val="664A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067730" y="9239250"/>
            <a:ext cx="16230600" cy="0"/>
          </a:xfrm>
          <a:prstGeom prst="line">
            <a:avLst/>
          </a:prstGeom>
          <a:ln cap="flat" w="38100">
            <a:solidFill>
              <a:srgbClr val="664A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-1091228" y="3253820"/>
            <a:ext cx="20930792" cy="411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01"/>
              </a:lnSpc>
            </a:pPr>
            <a:r>
              <a:rPr lang="en-US" sz="15593">
                <a:solidFill>
                  <a:srgbClr val="8E0E17"/>
                </a:solidFill>
                <a:latin typeface="Bungee"/>
                <a:ea typeface="Bungee"/>
                <a:cs typeface="Bungee"/>
                <a:sym typeface="Bungee"/>
              </a:rPr>
              <a:t>QUESTIONS &amp; ANSWERS</a:t>
            </a:r>
            <a:r>
              <a:rPr lang="en-US" sz="15593">
                <a:solidFill>
                  <a:srgbClr val="8E0E17"/>
                </a:solidFill>
                <a:latin typeface="Bungee"/>
                <a:ea typeface="Bungee"/>
                <a:cs typeface="Bungee"/>
                <a:sym typeface="Bungee"/>
              </a:rPr>
              <a:t>​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82168" y="7367235"/>
            <a:ext cx="10173659" cy="415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2753">
                <a:solidFill>
                  <a:srgbClr val="664A3E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GROUP 16 : TRAITS &amp; POLYMORPHISM</a:t>
            </a: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DAHWNAdoze4</dc:identifier>
  <dcterms:modified xsi:type="dcterms:W3CDTF">2011-08-01T06:04:30Z</dcterms:modified>
  <cp:revision>1</cp:revision>
  <dc:title>Group 16 traits &amp; polymoephism</dc:title>
</cp:coreProperties>
</file>